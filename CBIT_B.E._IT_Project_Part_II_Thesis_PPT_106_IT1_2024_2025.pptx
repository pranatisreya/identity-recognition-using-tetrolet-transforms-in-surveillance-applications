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x="18288000" cy="10287000"/>
  <p:notesSz cx="6858000" cy="9144000"/>
  <p:embeddedFontLst>
    <p:embeddedFont>
      <p:font typeface="Alatsi" charset="1" panose="00000500000000000000"/>
      <p:regular r:id="rId33"/>
    </p:embeddedFont>
    <p:embeddedFont>
      <p:font typeface="Open Sans Bold" charset="1" panose="020B0806030504020204"/>
      <p:regular r:id="rId34"/>
    </p:embeddedFont>
    <p:embeddedFont>
      <p:font typeface="Arimo Bold" charset="1" panose="020B0704020202020204"/>
      <p:regular r:id="rId35"/>
    </p:embeddedFont>
    <p:embeddedFont>
      <p:font typeface="Abhaya Libre" charset="1" panose="02000503000000000000"/>
      <p:regular r:id="rId36"/>
    </p:embeddedFont>
    <p:embeddedFont>
      <p:font typeface="Arimo" charset="1" panose="020B0604020202020204"/>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https://www.bing.com/ck/a?!&amp;&amp;p=ad443424f213c6ae54b70fd52d1275e4adc7fe919bdcc2ca19322bdd42d0e25bJmltdHM9MTc0Mzg5NzYwMA&amp;ptn=3&amp;ver=2&amp;hsh=4&amp;fclid=30d88ae4-46b9-6839-141e-9e16475169c9&amp;psq=survellince&amp;u=a1aHR0cHM6Ly9lbi53aWtpcGVkaWEub3JnL3dpa2kvU3VydmVpbGxhbmNl&amp;ntb=1" TargetMode="External" Type="http://schemas.openxmlformats.org/officeDocument/2006/relationships/hyperlink"/><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https://ieee-dataport.org/documents/indian-facial-database-highlighting-spectacle-problems#files" TargetMode="External" Type="http://schemas.openxmlformats.org/officeDocument/2006/relationships/hyperlink"/></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4.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5.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6.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 Id="rId6" Target="../media/image19.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 Id="rId6" Target="../media/image22.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3.jpeg" Type="http://schemas.openxmlformats.org/officeDocument/2006/relationships/image"/><Relationship Id="rId5" Target="../media/image24.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https://ieee-dataport.org/documents/indian-facial-database-highlighting-spectacle-problems#files" TargetMode="External" Type="http://schemas.openxmlformats.org/officeDocument/2006/relationships/hyperlink"/><Relationship Id="rId5" Target="https://doi.org/10.1016/j.micpro.2022.104728" TargetMode="External" Type="http://schemas.openxmlformats.org/officeDocument/2006/relationships/hyperlink"/></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grpSp>
        <p:nvGrpSpPr>
          <p:cNvPr name="Group 2" id="2"/>
          <p:cNvGrpSpPr/>
          <p:nvPr/>
        </p:nvGrpSpPr>
        <p:grpSpPr>
          <a:xfrm rot="0">
            <a:off x="-31071" y="0"/>
            <a:ext cx="2635898" cy="10287000"/>
            <a:chOff x="0" y="0"/>
            <a:chExt cx="3514531" cy="13716000"/>
          </a:xfrm>
        </p:grpSpPr>
        <p:grpSp>
          <p:nvGrpSpPr>
            <p:cNvPr name="Group 3" id="3"/>
            <p:cNvGrpSpPr/>
            <p:nvPr/>
          </p:nvGrpSpPr>
          <p:grpSpPr>
            <a:xfrm rot="0">
              <a:off x="1757266" y="0"/>
              <a:ext cx="1757266" cy="13716000"/>
              <a:chOff x="0" y="0"/>
              <a:chExt cx="347114" cy="2709333"/>
            </a:xfrm>
          </p:grpSpPr>
          <p:sp>
            <p:nvSpPr>
              <p:cNvPr name="Freeform 4" id="4"/>
              <p:cNvSpPr/>
              <p:nvPr/>
            </p:nvSpPr>
            <p:spPr>
              <a:xfrm flipH="false" flipV="false" rot="0">
                <a:off x="0" y="0"/>
                <a:ext cx="347114" cy="2709333"/>
              </a:xfrm>
              <a:custGeom>
                <a:avLst/>
                <a:gdLst/>
                <a:ahLst/>
                <a:cxnLst/>
                <a:rect r="r" b="b" t="t" l="l"/>
                <a:pathLst>
                  <a:path h="2709333" w="347114">
                    <a:moveTo>
                      <a:pt x="0" y="0"/>
                    </a:moveTo>
                    <a:lnTo>
                      <a:pt x="347114" y="0"/>
                    </a:lnTo>
                    <a:lnTo>
                      <a:pt x="347114" y="2709333"/>
                    </a:lnTo>
                    <a:lnTo>
                      <a:pt x="0" y="2709333"/>
                    </a:lnTo>
                    <a:close/>
                  </a:path>
                </a:pathLst>
              </a:custGeom>
              <a:solidFill>
                <a:srgbClr val="727D3D"/>
              </a:solidFill>
            </p:spPr>
          </p:sp>
          <p:sp>
            <p:nvSpPr>
              <p:cNvPr name="TextBox 5" id="5"/>
              <p:cNvSpPr txBox="true"/>
              <p:nvPr/>
            </p:nvSpPr>
            <p:spPr>
              <a:xfrm>
                <a:off x="0" y="-47625"/>
                <a:ext cx="347114" cy="2756958"/>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878633" y="0"/>
              <a:ext cx="1757266" cy="13716000"/>
              <a:chOff x="0" y="0"/>
              <a:chExt cx="347114" cy="2709333"/>
            </a:xfrm>
          </p:grpSpPr>
          <p:sp>
            <p:nvSpPr>
              <p:cNvPr name="Freeform 7" id="7"/>
              <p:cNvSpPr/>
              <p:nvPr/>
            </p:nvSpPr>
            <p:spPr>
              <a:xfrm flipH="false" flipV="false" rot="0">
                <a:off x="0" y="0"/>
                <a:ext cx="347114" cy="2709333"/>
              </a:xfrm>
              <a:custGeom>
                <a:avLst/>
                <a:gdLst/>
                <a:ahLst/>
                <a:cxnLst/>
                <a:rect r="r" b="b" t="t" l="l"/>
                <a:pathLst>
                  <a:path h="2709333" w="347114">
                    <a:moveTo>
                      <a:pt x="0" y="0"/>
                    </a:moveTo>
                    <a:lnTo>
                      <a:pt x="347114" y="0"/>
                    </a:lnTo>
                    <a:lnTo>
                      <a:pt x="347114" y="2709333"/>
                    </a:lnTo>
                    <a:lnTo>
                      <a:pt x="0" y="2709333"/>
                    </a:lnTo>
                    <a:close/>
                  </a:path>
                </a:pathLst>
              </a:custGeom>
              <a:solidFill>
                <a:srgbClr val="A06A14"/>
              </a:solidFill>
            </p:spPr>
          </p:sp>
          <p:sp>
            <p:nvSpPr>
              <p:cNvPr name="TextBox 8" id="8"/>
              <p:cNvSpPr txBox="true"/>
              <p:nvPr/>
            </p:nvSpPr>
            <p:spPr>
              <a:xfrm>
                <a:off x="0" y="-47625"/>
                <a:ext cx="347114" cy="2756958"/>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0" y="0"/>
              <a:ext cx="1757266" cy="13716000"/>
              <a:chOff x="0" y="0"/>
              <a:chExt cx="347114" cy="2709333"/>
            </a:xfrm>
          </p:grpSpPr>
          <p:sp>
            <p:nvSpPr>
              <p:cNvPr name="Freeform 10" id="10"/>
              <p:cNvSpPr/>
              <p:nvPr/>
            </p:nvSpPr>
            <p:spPr>
              <a:xfrm flipH="false" flipV="false" rot="0">
                <a:off x="0" y="0"/>
                <a:ext cx="347114" cy="2709333"/>
              </a:xfrm>
              <a:custGeom>
                <a:avLst/>
                <a:gdLst/>
                <a:ahLst/>
                <a:cxnLst/>
                <a:rect r="r" b="b" t="t" l="l"/>
                <a:pathLst>
                  <a:path h="2709333" w="347114">
                    <a:moveTo>
                      <a:pt x="0" y="0"/>
                    </a:moveTo>
                    <a:lnTo>
                      <a:pt x="347114" y="0"/>
                    </a:lnTo>
                    <a:lnTo>
                      <a:pt x="347114" y="2709333"/>
                    </a:lnTo>
                    <a:lnTo>
                      <a:pt x="0" y="2709333"/>
                    </a:lnTo>
                    <a:close/>
                  </a:path>
                </a:pathLst>
              </a:custGeom>
              <a:solidFill>
                <a:srgbClr val="972121"/>
              </a:solidFill>
            </p:spPr>
          </p:sp>
          <p:sp>
            <p:nvSpPr>
              <p:cNvPr name="TextBox 11" id="11"/>
              <p:cNvSpPr txBox="true"/>
              <p:nvPr/>
            </p:nvSpPr>
            <p:spPr>
              <a:xfrm>
                <a:off x="0" y="-47625"/>
                <a:ext cx="347114" cy="2756958"/>
              </a:xfrm>
              <a:prstGeom prst="rect">
                <a:avLst/>
              </a:prstGeom>
            </p:spPr>
            <p:txBody>
              <a:bodyPr anchor="ctr" rtlCol="false" tIns="50800" lIns="50800" bIns="50800" rIns="50800"/>
              <a:lstStyle/>
              <a:p>
                <a:pPr algn="ctr">
                  <a:lnSpc>
                    <a:spcPts val="2659"/>
                  </a:lnSpc>
                </a:pPr>
              </a:p>
            </p:txBody>
          </p:sp>
        </p:grpSp>
      </p:grpSp>
      <p:sp>
        <p:nvSpPr>
          <p:cNvPr name="TextBox 12" id="12"/>
          <p:cNvSpPr txBox="true"/>
          <p:nvPr/>
        </p:nvSpPr>
        <p:spPr>
          <a:xfrm rot="0">
            <a:off x="3050034" y="3972234"/>
            <a:ext cx="14580934" cy="1175210"/>
          </a:xfrm>
          <a:prstGeom prst="rect">
            <a:avLst/>
          </a:prstGeom>
        </p:spPr>
        <p:txBody>
          <a:bodyPr anchor="t" rtlCol="false" tIns="0" lIns="0" bIns="0" rIns="0">
            <a:spAutoFit/>
          </a:bodyPr>
          <a:lstStyle/>
          <a:p>
            <a:pPr algn="ctr">
              <a:lnSpc>
                <a:spcPts val="4548"/>
              </a:lnSpc>
            </a:pPr>
            <a:r>
              <a:rPr lang="en-US" sz="4689">
                <a:solidFill>
                  <a:srgbClr val="000000"/>
                </a:solidFill>
                <a:latin typeface="Alatsi"/>
                <a:ea typeface="Alatsi"/>
                <a:cs typeface="Alatsi"/>
                <a:sym typeface="Alatsi"/>
              </a:rPr>
              <a:t>IDENTITY RECOGNITION USING TETROLET TRANSFORMS IN </a:t>
            </a:r>
            <a:r>
              <a:rPr lang="en-US" sz="4689">
                <a:solidFill>
                  <a:srgbClr val="000000"/>
                </a:solidFill>
                <a:latin typeface="Alatsi"/>
                <a:ea typeface="Alatsi"/>
                <a:cs typeface="Alatsi"/>
                <a:sym typeface="Alatsi"/>
                <a:hlinkClick r:id="rId2" tooltip="https://www.bing.com/ck/a?!&amp;&amp;p=ad443424f213c6ae54b70fd52d1275e4adc7fe919bdcc2ca19322bdd42d0e25bJmltdHM9MTc0Mzg5NzYwMA&amp;ptn=3&amp;ver=2&amp;hsh=4&amp;fclid=30d88ae4-46b9-6839-141e-9e16475169c9&amp;psq=survellince&amp;u=a1aHR0cHM6Ly9lbi53aWtpcGVkaWEub3JnL3dpa2kvU3VydmVpbGxhbmNl&amp;ntb=1"/>
              </a:rPr>
              <a:t>SURVEILLANCE</a:t>
            </a:r>
            <a:r>
              <a:rPr lang="en-US" sz="4689">
                <a:solidFill>
                  <a:srgbClr val="000000"/>
                </a:solidFill>
                <a:latin typeface="Alatsi"/>
                <a:ea typeface="Alatsi"/>
                <a:cs typeface="Alatsi"/>
                <a:sym typeface="Alatsi"/>
              </a:rPr>
              <a:t>  APPLICATIONS</a:t>
            </a:r>
          </a:p>
        </p:txBody>
      </p:sp>
      <p:sp>
        <p:nvSpPr>
          <p:cNvPr name="Freeform 13" id="13"/>
          <p:cNvSpPr/>
          <p:nvPr/>
        </p:nvSpPr>
        <p:spPr>
          <a:xfrm flipH="false" flipV="false" rot="0">
            <a:off x="12646898" y="-210192"/>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11118095" y="9258300"/>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false" rot="0">
            <a:off x="3302658" y="1766"/>
            <a:ext cx="9261208" cy="2743633"/>
          </a:xfrm>
          <a:custGeom>
            <a:avLst/>
            <a:gdLst/>
            <a:ahLst/>
            <a:cxnLst/>
            <a:rect r="r" b="b" t="t" l="l"/>
            <a:pathLst>
              <a:path h="2743633" w="9261208">
                <a:moveTo>
                  <a:pt x="0" y="0"/>
                </a:moveTo>
                <a:lnTo>
                  <a:pt x="9261208" y="0"/>
                </a:lnTo>
                <a:lnTo>
                  <a:pt x="9261208" y="2743632"/>
                </a:lnTo>
                <a:lnTo>
                  <a:pt x="0" y="2743632"/>
                </a:lnTo>
                <a:lnTo>
                  <a:pt x="0" y="0"/>
                </a:lnTo>
                <a:close/>
              </a:path>
            </a:pathLst>
          </a:custGeom>
          <a:blipFill>
            <a:blip r:embed="rId5"/>
            <a:stretch>
              <a:fillRect l="0" t="0" r="0" b="0"/>
            </a:stretch>
          </a:blipFill>
        </p:spPr>
      </p:sp>
      <p:sp>
        <p:nvSpPr>
          <p:cNvPr name="TextBox 16" id="16"/>
          <p:cNvSpPr txBox="true"/>
          <p:nvPr/>
        </p:nvSpPr>
        <p:spPr>
          <a:xfrm rot="0">
            <a:off x="6157756" y="2899231"/>
            <a:ext cx="8617939" cy="530486"/>
          </a:xfrm>
          <a:prstGeom prst="rect">
            <a:avLst/>
          </a:prstGeom>
        </p:spPr>
        <p:txBody>
          <a:bodyPr anchor="t" rtlCol="false" tIns="0" lIns="0" bIns="0" rIns="0">
            <a:spAutoFit/>
          </a:bodyPr>
          <a:lstStyle/>
          <a:p>
            <a:pPr algn="ctr">
              <a:lnSpc>
                <a:spcPts val="4360"/>
              </a:lnSpc>
            </a:pPr>
            <a:r>
              <a:rPr lang="en-US" sz="3114">
                <a:solidFill>
                  <a:srgbClr val="000000"/>
                </a:solidFill>
                <a:latin typeface="Alatsi"/>
                <a:ea typeface="Alatsi"/>
                <a:cs typeface="Alatsi"/>
                <a:sym typeface="Alatsi"/>
              </a:rPr>
              <a:t>MAJOR PROJECT 2024-2025</a:t>
            </a:r>
          </a:p>
        </p:txBody>
      </p:sp>
      <p:grpSp>
        <p:nvGrpSpPr>
          <p:cNvPr name="Group 17" id="17"/>
          <p:cNvGrpSpPr/>
          <p:nvPr/>
        </p:nvGrpSpPr>
        <p:grpSpPr>
          <a:xfrm rot="0">
            <a:off x="3884056" y="5356993"/>
            <a:ext cx="12912890" cy="3442578"/>
            <a:chOff x="0" y="0"/>
            <a:chExt cx="17217187" cy="4590104"/>
          </a:xfrm>
        </p:grpSpPr>
        <p:grpSp>
          <p:nvGrpSpPr>
            <p:cNvPr name="Group 18" id="18"/>
            <p:cNvGrpSpPr/>
            <p:nvPr/>
          </p:nvGrpSpPr>
          <p:grpSpPr>
            <a:xfrm rot="0">
              <a:off x="0" y="0"/>
              <a:ext cx="17217187" cy="4590104"/>
              <a:chOff x="0" y="0"/>
              <a:chExt cx="3031027" cy="808072"/>
            </a:xfrm>
          </p:grpSpPr>
          <p:sp>
            <p:nvSpPr>
              <p:cNvPr name="Freeform 19" id="19"/>
              <p:cNvSpPr/>
              <p:nvPr/>
            </p:nvSpPr>
            <p:spPr>
              <a:xfrm flipH="false" flipV="false" rot="0">
                <a:off x="0" y="0"/>
                <a:ext cx="3031027" cy="808072"/>
              </a:xfrm>
              <a:custGeom>
                <a:avLst/>
                <a:gdLst/>
                <a:ahLst/>
                <a:cxnLst/>
                <a:rect r="r" b="b" t="t" l="l"/>
                <a:pathLst>
                  <a:path h="808072" w="3031027">
                    <a:moveTo>
                      <a:pt x="0" y="0"/>
                    </a:moveTo>
                    <a:lnTo>
                      <a:pt x="3031027" y="0"/>
                    </a:lnTo>
                    <a:lnTo>
                      <a:pt x="3031027" y="808072"/>
                    </a:lnTo>
                    <a:lnTo>
                      <a:pt x="0" y="808072"/>
                    </a:lnTo>
                    <a:close/>
                  </a:path>
                </a:pathLst>
              </a:custGeom>
              <a:solidFill>
                <a:srgbClr val="E9E0D9">
                  <a:alpha val="19608"/>
                </a:srgbClr>
              </a:solidFill>
            </p:spPr>
          </p:sp>
          <p:sp>
            <p:nvSpPr>
              <p:cNvPr name="TextBox 20" id="20"/>
              <p:cNvSpPr txBox="true"/>
              <p:nvPr/>
            </p:nvSpPr>
            <p:spPr>
              <a:xfrm>
                <a:off x="0" y="-38100"/>
                <a:ext cx="3031027" cy="846172"/>
              </a:xfrm>
              <a:prstGeom prst="rect">
                <a:avLst/>
              </a:prstGeom>
            </p:spPr>
            <p:txBody>
              <a:bodyPr anchor="ctr" rtlCol="false" tIns="57000" lIns="57000" bIns="57000" rIns="57000"/>
              <a:lstStyle/>
              <a:p>
                <a:pPr algn="ctr">
                  <a:lnSpc>
                    <a:spcPts val="2799"/>
                  </a:lnSpc>
                </a:pPr>
              </a:p>
            </p:txBody>
          </p:sp>
        </p:grpSp>
        <p:sp>
          <p:nvSpPr>
            <p:cNvPr name="TextBox 21" id="21"/>
            <p:cNvSpPr txBox="true"/>
            <p:nvPr/>
          </p:nvSpPr>
          <p:spPr>
            <a:xfrm rot="0">
              <a:off x="11562102" y="1318671"/>
              <a:ext cx="4594163" cy="1861633"/>
            </a:xfrm>
            <a:prstGeom prst="rect">
              <a:avLst/>
            </a:prstGeom>
          </p:spPr>
          <p:txBody>
            <a:bodyPr anchor="t" rtlCol="false" tIns="0" lIns="0" bIns="0" rIns="0">
              <a:spAutoFit/>
            </a:bodyPr>
            <a:lstStyle/>
            <a:p>
              <a:pPr algn="l">
                <a:lnSpc>
                  <a:spcPts val="3761"/>
                </a:lnSpc>
              </a:pPr>
              <a:r>
                <a:rPr lang="en-US" sz="2686">
                  <a:solidFill>
                    <a:srgbClr val="000000"/>
                  </a:solidFill>
                  <a:latin typeface="Alatsi"/>
                  <a:ea typeface="Alatsi"/>
                  <a:cs typeface="Alatsi"/>
                  <a:sym typeface="Alatsi"/>
                </a:rPr>
                <a:t>Guide:</a:t>
              </a:r>
            </a:p>
            <a:p>
              <a:pPr algn="l">
                <a:lnSpc>
                  <a:spcPts val="3761"/>
                </a:lnSpc>
              </a:pPr>
              <a:r>
                <a:rPr lang="en-US" sz="2686">
                  <a:solidFill>
                    <a:srgbClr val="000000"/>
                  </a:solidFill>
                  <a:latin typeface="Alatsi"/>
                  <a:ea typeface="Alatsi"/>
                  <a:cs typeface="Alatsi"/>
                  <a:sym typeface="Alatsi"/>
                </a:rPr>
                <a:t>Mrs. E. Ramalakshmi </a:t>
              </a:r>
            </a:p>
            <a:p>
              <a:pPr algn="l">
                <a:lnSpc>
                  <a:spcPts val="3761"/>
                </a:lnSpc>
                <a:spcBef>
                  <a:spcPct val="0"/>
                </a:spcBef>
              </a:pPr>
              <a:r>
                <a:rPr lang="en-US" sz="2686">
                  <a:solidFill>
                    <a:srgbClr val="000000"/>
                  </a:solidFill>
                  <a:latin typeface="Alatsi"/>
                  <a:ea typeface="Alatsi"/>
                  <a:cs typeface="Alatsi"/>
                  <a:sym typeface="Alatsi"/>
                </a:rPr>
                <a:t>Assistant Professor</a:t>
              </a:r>
            </a:p>
          </p:txBody>
        </p:sp>
        <p:sp>
          <p:nvSpPr>
            <p:cNvPr name="TextBox 22" id="22"/>
            <p:cNvSpPr txBox="true"/>
            <p:nvPr/>
          </p:nvSpPr>
          <p:spPr>
            <a:xfrm rot="0">
              <a:off x="1320158" y="1388520"/>
              <a:ext cx="7736812" cy="1698391"/>
            </a:xfrm>
            <a:prstGeom prst="rect">
              <a:avLst/>
            </a:prstGeom>
          </p:spPr>
          <p:txBody>
            <a:bodyPr anchor="t" rtlCol="false" tIns="0" lIns="0" bIns="0" rIns="0">
              <a:spAutoFit/>
            </a:bodyPr>
            <a:lstStyle/>
            <a:p>
              <a:pPr algn="l">
                <a:lnSpc>
                  <a:spcPts val="3446"/>
                </a:lnSpc>
              </a:pPr>
              <a:r>
                <a:rPr lang="en-US" sz="2462">
                  <a:solidFill>
                    <a:srgbClr val="000000"/>
                  </a:solidFill>
                  <a:latin typeface="Alatsi"/>
                  <a:ea typeface="Alatsi"/>
                  <a:cs typeface="Alatsi"/>
                  <a:sym typeface="Alatsi"/>
                </a:rPr>
                <a:t>Team Memebers:</a:t>
              </a:r>
            </a:p>
            <a:p>
              <a:pPr algn="l">
                <a:lnSpc>
                  <a:spcPts val="3446"/>
                </a:lnSpc>
              </a:pPr>
              <a:r>
                <a:rPr lang="en-US" sz="2462">
                  <a:solidFill>
                    <a:srgbClr val="000000"/>
                  </a:solidFill>
                  <a:latin typeface="Alatsi"/>
                  <a:ea typeface="Alatsi"/>
                  <a:cs typeface="Alatsi"/>
                  <a:sym typeface="Alatsi"/>
                </a:rPr>
                <a:t>Dama Pranati Sreya (160121737006) </a:t>
              </a:r>
            </a:p>
            <a:p>
              <a:pPr algn="l">
                <a:lnSpc>
                  <a:spcPts val="3446"/>
                </a:lnSpc>
                <a:spcBef>
                  <a:spcPct val="0"/>
                </a:spcBef>
              </a:pPr>
              <a:r>
                <a:rPr lang="en-US" sz="2462">
                  <a:solidFill>
                    <a:srgbClr val="000000"/>
                  </a:solidFill>
                  <a:latin typeface="Alatsi"/>
                  <a:ea typeface="Alatsi"/>
                  <a:cs typeface="Alatsi"/>
                  <a:sym typeface="Alatsi"/>
                </a:rPr>
                <a:t>Tanguturi Poojitha (160121737021) </a:t>
              </a:r>
            </a:p>
          </p:txBody>
        </p:sp>
        <p:sp>
          <p:nvSpPr>
            <p:cNvPr name="TextBox 23" id="23"/>
            <p:cNvSpPr txBox="true"/>
            <p:nvPr/>
          </p:nvSpPr>
          <p:spPr>
            <a:xfrm rot="0">
              <a:off x="6179843" y="418182"/>
              <a:ext cx="5754254" cy="634635"/>
            </a:xfrm>
            <a:prstGeom prst="rect">
              <a:avLst/>
            </a:prstGeom>
          </p:spPr>
          <p:txBody>
            <a:bodyPr anchor="t" rtlCol="false" tIns="0" lIns="0" bIns="0" rIns="0">
              <a:spAutoFit/>
            </a:bodyPr>
            <a:lstStyle/>
            <a:p>
              <a:pPr algn="l">
                <a:lnSpc>
                  <a:spcPts val="4075"/>
                </a:lnSpc>
                <a:spcBef>
                  <a:spcPct val="0"/>
                </a:spcBef>
              </a:pPr>
              <a:r>
                <a:rPr lang="en-US" sz="2910">
                  <a:solidFill>
                    <a:srgbClr val="000000"/>
                  </a:solidFill>
                  <a:latin typeface="Alatsi"/>
                  <a:ea typeface="Alatsi"/>
                  <a:cs typeface="Alatsi"/>
                  <a:sym typeface="Alatsi"/>
                </a:rPr>
                <a:t>CBIT/IT/2024-25/IT1/106 </a:t>
              </a:r>
            </a:p>
          </p:txBody>
        </p:sp>
        <p:sp>
          <p:nvSpPr>
            <p:cNvPr name="TextBox 24" id="24"/>
            <p:cNvSpPr txBox="true"/>
            <p:nvPr/>
          </p:nvSpPr>
          <p:spPr>
            <a:xfrm rot="0">
              <a:off x="4318405" y="3412078"/>
              <a:ext cx="9477130" cy="1120341"/>
            </a:xfrm>
            <a:prstGeom prst="rect">
              <a:avLst/>
            </a:prstGeom>
          </p:spPr>
          <p:txBody>
            <a:bodyPr anchor="t" rtlCol="false" tIns="0" lIns="0" bIns="0" rIns="0">
              <a:spAutoFit/>
            </a:bodyPr>
            <a:lstStyle/>
            <a:p>
              <a:pPr algn="ctr">
                <a:lnSpc>
                  <a:spcPts val="3446"/>
                </a:lnSpc>
              </a:pPr>
              <a:r>
                <a:rPr lang="en-US" sz="2462">
                  <a:solidFill>
                    <a:srgbClr val="000000"/>
                  </a:solidFill>
                  <a:latin typeface="Alatsi"/>
                  <a:ea typeface="Alatsi"/>
                  <a:cs typeface="Alatsi"/>
                  <a:sym typeface="Alatsi"/>
                </a:rPr>
                <a:t>Department of Information Technology, </a:t>
              </a:r>
            </a:p>
            <a:p>
              <a:pPr algn="ctr">
                <a:lnSpc>
                  <a:spcPts val="3446"/>
                </a:lnSpc>
                <a:spcBef>
                  <a:spcPct val="0"/>
                </a:spcBef>
              </a:pPr>
              <a:r>
                <a:rPr lang="en-US" sz="2462">
                  <a:solidFill>
                    <a:srgbClr val="000000"/>
                  </a:solidFill>
                  <a:latin typeface="Alatsi"/>
                  <a:ea typeface="Alatsi"/>
                  <a:cs typeface="Alatsi"/>
                  <a:sym typeface="Alatsi"/>
                </a:rPr>
                <a:t>Chaitanya Bharathi Institute of Technology,</a:t>
              </a:r>
            </a:p>
          </p:txBody>
        </p:sp>
      </p:grpSp>
      <p:sp>
        <p:nvSpPr>
          <p:cNvPr name="TextBox 25" id="25"/>
          <p:cNvSpPr txBox="true"/>
          <p:nvPr/>
        </p:nvSpPr>
        <p:spPr>
          <a:xfrm rot="0">
            <a:off x="6912802" y="9190097"/>
            <a:ext cx="7107847" cy="418624"/>
          </a:xfrm>
          <a:prstGeom prst="rect">
            <a:avLst/>
          </a:prstGeom>
        </p:spPr>
        <p:txBody>
          <a:bodyPr anchor="t" rtlCol="false" tIns="0" lIns="0" bIns="0" rIns="0">
            <a:spAutoFit/>
          </a:bodyPr>
          <a:lstStyle/>
          <a:p>
            <a:pPr algn="ctr">
              <a:lnSpc>
                <a:spcPts val="3446"/>
              </a:lnSpc>
              <a:spcBef>
                <a:spcPct val="0"/>
              </a:spcBef>
            </a:pPr>
            <a:r>
              <a:rPr lang="en-US" sz="2462">
                <a:solidFill>
                  <a:srgbClr val="000000"/>
                </a:solidFill>
                <a:latin typeface="Alatsi"/>
                <a:ea typeface="Alatsi"/>
                <a:cs typeface="Alatsi"/>
                <a:sym typeface="Alatsi"/>
              </a:rPr>
              <a:t>Date of Presentation : 29th April, 2025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Freeform 2" id="2"/>
          <p:cNvSpPr/>
          <p:nvPr/>
        </p:nvSpPr>
        <p:spPr>
          <a:xfrm flipH="false" flipV="false" rot="0">
            <a:off x="13601700" y="8019408"/>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935141" y="1973854"/>
            <a:ext cx="14705320" cy="5989955"/>
          </a:xfrm>
          <a:prstGeom prst="rect">
            <a:avLst/>
          </a:prstGeom>
        </p:spPr>
        <p:txBody>
          <a:bodyPr anchor="t" rtlCol="false" tIns="0" lIns="0" bIns="0" rIns="0">
            <a:spAutoFit/>
          </a:bodyPr>
          <a:lstStyle/>
          <a:p>
            <a:pPr algn="just">
              <a:lnSpc>
                <a:spcPts val="3220"/>
              </a:lnSpc>
            </a:pPr>
            <a:r>
              <a:rPr lang="en-US" sz="2300">
                <a:solidFill>
                  <a:srgbClr val="000000"/>
                </a:solidFill>
                <a:latin typeface="Alatsi"/>
                <a:ea typeface="Alatsi"/>
                <a:cs typeface="Alatsi"/>
                <a:sym typeface="Alatsi"/>
              </a:rPr>
              <a:t>Facial recognition has become a cornerstone technology in modern biometric systems, evolving significantly beyond traditional methods. This project explores the use of wavelet-based neural networks to enhance the accuracy and efficiency of face detection and recognition. Unlike conventional convolutional neural networks (CNNs) that focus on pixel-level image processing, wavelet transforms enable multiresolution analysis, capturing both spatial and frequency components of facial features. To further boost feature extraction, Tetrolet transforms—an advanced variant of wavelets—are employed for their ability to adaptively capture local geometric structures in facial images. This dual-level insight helps the model better handle variations in lighting, facial pose, and occlusion. By</a:t>
            </a:r>
            <a:r>
              <a:rPr lang="en-US" sz="2300">
                <a:solidFill>
                  <a:srgbClr val="000000"/>
                </a:solidFill>
                <a:latin typeface="Alatsi"/>
                <a:ea typeface="Alatsi"/>
                <a:cs typeface="Alatsi"/>
                <a:sym typeface="Alatsi"/>
              </a:rPr>
              <a:t> focusing on essential features and minimizing noise, the system achieves more reliable and robust performance. The integration of wavelet techniques with deep learning not only improves precision but also offers scalability for real-time applications such as security, surveillance, and identity verification. The project demonstrates the advantages of Tetrolet-based feature extraction over traditional methods, offering a flexible and high-performing solution for face recognition challenges.</a:t>
            </a:r>
          </a:p>
          <a:p>
            <a:pPr algn="just">
              <a:lnSpc>
                <a:spcPts val="3220"/>
              </a:lnSpc>
            </a:pPr>
          </a:p>
          <a:p>
            <a:pPr algn="just">
              <a:lnSpc>
                <a:spcPts val="3220"/>
              </a:lnSpc>
            </a:pPr>
            <a:r>
              <a:rPr lang="en-US" sz="2300">
                <a:solidFill>
                  <a:srgbClr val="000000"/>
                </a:solidFill>
                <a:latin typeface="Alatsi"/>
                <a:ea typeface="Alatsi"/>
                <a:cs typeface="Alatsi"/>
                <a:sym typeface="Alatsi"/>
              </a:rPr>
              <a:t>Keywords: Facial Recognition, Tetrolet Transform, Wavelet Neural Networks, Multiresolution Analysis, Real-Time Applications</a:t>
            </a:r>
          </a:p>
        </p:txBody>
      </p:sp>
      <p:sp>
        <p:nvSpPr>
          <p:cNvPr name="AutoShape 4" id="4"/>
          <p:cNvSpPr/>
          <p:nvPr/>
        </p:nvSpPr>
        <p:spPr>
          <a:xfrm>
            <a:off x="-254016" y="9716744"/>
            <a:ext cx="7105264" cy="19050"/>
          </a:xfrm>
          <a:prstGeom prst="line">
            <a:avLst/>
          </a:prstGeom>
          <a:ln cap="flat" w="114300">
            <a:solidFill>
              <a:srgbClr val="727D3D"/>
            </a:solidFill>
            <a:prstDash val="solid"/>
            <a:headEnd type="none" len="sm" w="sm"/>
            <a:tailEnd type="none" len="sm" w="sm"/>
          </a:ln>
        </p:spPr>
      </p:sp>
      <p:sp>
        <p:nvSpPr>
          <p:cNvPr name="AutoShape 5" id="5"/>
          <p:cNvSpPr/>
          <p:nvPr/>
        </p:nvSpPr>
        <p:spPr>
          <a:xfrm>
            <a:off x="11436752" y="9716744"/>
            <a:ext cx="7105264" cy="19050"/>
          </a:xfrm>
          <a:prstGeom prst="line">
            <a:avLst/>
          </a:prstGeom>
          <a:ln cap="flat" w="114300">
            <a:solidFill>
              <a:srgbClr val="727D3D"/>
            </a:solidFill>
            <a:prstDash val="solid"/>
            <a:headEnd type="none" len="sm" w="sm"/>
            <a:tailEnd type="none" len="sm" w="sm"/>
          </a:ln>
        </p:spPr>
      </p:sp>
      <p:sp>
        <p:nvSpPr>
          <p:cNvPr name="TextBox 6" id="6"/>
          <p:cNvSpPr txBox="true"/>
          <p:nvPr/>
        </p:nvSpPr>
        <p:spPr>
          <a:xfrm rot="0">
            <a:off x="2553980" y="343630"/>
            <a:ext cx="13180039"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a:ea typeface="Alatsi"/>
                <a:cs typeface="Alatsi"/>
                <a:sym typeface="Alatsi"/>
              </a:rPr>
              <a:t>ABSTRACT</a:t>
            </a:r>
          </a:p>
        </p:txBody>
      </p:sp>
      <p:grpSp>
        <p:nvGrpSpPr>
          <p:cNvPr name="Group 7" id="7"/>
          <p:cNvGrpSpPr/>
          <p:nvPr/>
        </p:nvGrpSpPr>
        <p:grpSpPr>
          <a:xfrm rot="0">
            <a:off x="15859155" y="0"/>
            <a:ext cx="1562612" cy="1673225"/>
            <a:chOff x="0" y="0"/>
            <a:chExt cx="2083482" cy="2230967"/>
          </a:xfrm>
        </p:grpSpPr>
        <p:grpSp>
          <p:nvGrpSpPr>
            <p:cNvPr name="Group 8" id="8"/>
            <p:cNvGrpSpPr/>
            <p:nvPr/>
          </p:nvGrpSpPr>
          <p:grpSpPr>
            <a:xfrm rot="0">
              <a:off x="75599" y="0"/>
              <a:ext cx="1932284" cy="2230967"/>
              <a:chOff x="0" y="0"/>
              <a:chExt cx="703982" cy="812800"/>
            </a:xfrm>
          </p:grpSpPr>
          <p:sp>
            <p:nvSpPr>
              <p:cNvPr name="Freeform 9" id="9"/>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727D3D"/>
              </a:solidFill>
            </p:spPr>
          </p:sp>
          <p:sp>
            <p:nvSpPr>
              <p:cNvPr name="TextBox 10" id="10"/>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b="true">
                  <a:solidFill>
                    <a:srgbClr val="000000"/>
                  </a:solidFill>
                  <a:latin typeface="Open Sans Bold"/>
                  <a:ea typeface="Open Sans Bold"/>
                  <a:cs typeface="Open Sans Bold"/>
                  <a:sym typeface="Open Sans Bold"/>
                </a:rPr>
                <a:t>1</a:t>
              </a:r>
            </a:p>
          </p:txBody>
        </p:sp>
      </p:grpSp>
      <p:sp>
        <p:nvSpPr>
          <p:cNvPr name="Freeform 12" id="12"/>
          <p:cNvSpPr/>
          <p:nvPr/>
        </p:nvSpPr>
        <p:spPr>
          <a:xfrm flipH="false" flipV="false" rot="0">
            <a:off x="-2627572" y="-733336"/>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6960477" y="9553575"/>
            <a:ext cx="4380213" cy="464820"/>
          </a:xfrm>
          <a:prstGeom prst="rect">
            <a:avLst/>
          </a:prstGeom>
        </p:spPr>
        <p:txBody>
          <a:bodyPr anchor="t" rtlCol="false" tIns="0" lIns="0" bIns="0" rIns="0">
            <a:spAutoFit/>
          </a:bodyPr>
          <a:lstStyle/>
          <a:p>
            <a:pPr algn="ctr">
              <a:lnSpc>
                <a:spcPts val="3779"/>
              </a:lnSpc>
            </a:pPr>
            <a:r>
              <a:rPr lang="en-US" sz="2700">
                <a:solidFill>
                  <a:srgbClr val="000000"/>
                </a:solidFill>
                <a:latin typeface="Alatsi"/>
                <a:ea typeface="Alatsi"/>
                <a:cs typeface="Alatsi"/>
                <a:sym typeface="Alatsi"/>
              </a:rPr>
              <a:t>CBIT/IT/2024-25/IT1/106</a:t>
            </a:r>
            <a:r>
              <a:rPr lang="en-US" sz="2700">
                <a:solidFill>
                  <a:srgbClr val="000000"/>
                </a:solidFill>
                <a:latin typeface="Alatsi"/>
                <a:ea typeface="Alatsi"/>
                <a:cs typeface="Alatsi"/>
                <a:sym typeface="Alatsi"/>
              </a:rPr>
              <a:t>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1982209" y="818993"/>
            <a:ext cx="16230600"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a:ea typeface="Alatsi"/>
                <a:cs typeface="Alatsi"/>
                <a:sym typeface="Alatsi"/>
              </a:rPr>
              <a:t>AGENDA</a:t>
            </a:r>
          </a:p>
        </p:txBody>
      </p:sp>
      <p:sp>
        <p:nvSpPr>
          <p:cNvPr name="TextBox 3" id="3"/>
          <p:cNvSpPr txBox="true"/>
          <p:nvPr/>
        </p:nvSpPr>
        <p:spPr>
          <a:xfrm rot="0">
            <a:off x="5702946" y="8800282"/>
            <a:ext cx="6882108" cy="464820"/>
          </a:xfrm>
          <a:prstGeom prst="rect">
            <a:avLst/>
          </a:prstGeom>
        </p:spPr>
        <p:txBody>
          <a:bodyPr anchor="t" rtlCol="false" tIns="0" lIns="0" bIns="0" rIns="0">
            <a:spAutoFit/>
          </a:bodyPr>
          <a:lstStyle/>
          <a:p>
            <a:pPr algn="ctr">
              <a:lnSpc>
                <a:spcPts val="3779"/>
              </a:lnSpc>
            </a:pPr>
            <a:r>
              <a:rPr lang="en-US" sz="2700">
                <a:solidFill>
                  <a:srgbClr val="000000"/>
                </a:solidFill>
                <a:latin typeface="Alatsi"/>
                <a:ea typeface="Alatsi"/>
                <a:cs typeface="Alatsi"/>
                <a:sym typeface="Alatsi"/>
              </a:rPr>
              <a:t>CBIT/IT/2024-25/IT1/106 </a:t>
            </a:r>
          </a:p>
        </p:txBody>
      </p:sp>
      <p:sp>
        <p:nvSpPr>
          <p:cNvPr name="Freeform 4" id="4"/>
          <p:cNvSpPr/>
          <p:nvPr/>
        </p:nvSpPr>
        <p:spPr>
          <a:xfrm flipH="false" flipV="false" rot="0">
            <a:off x="13764167" y="5827621"/>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5" id="5"/>
          <p:cNvSpPr/>
          <p:nvPr/>
        </p:nvSpPr>
        <p:spPr>
          <a:xfrm>
            <a:off x="-260599" y="9061267"/>
            <a:ext cx="7105264" cy="19050"/>
          </a:xfrm>
          <a:prstGeom prst="line">
            <a:avLst/>
          </a:prstGeom>
          <a:ln cap="flat" w="114300">
            <a:solidFill>
              <a:srgbClr val="727D3D"/>
            </a:solidFill>
            <a:prstDash val="solid"/>
            <a:headEnd type="none" len="sm" w="sm"/>
            <a:tailEnd type="none" len="sm" w="sm"/>
          </a:ln>
        </p:spPr>
      </p:sp>
      <p:sp>
        <p:nvSpPr>
          <p:cNvPr name="AutoShape 6" id="6"/>
          <p:cNvSpPr/>
          <p:nvPr/>
        </p:nvSpPr>
        <p:spPr>
          <a:xfrm>
            <a:off x="11430169" y="9061267"/>
            <a:ext cx="7105264" cy="19050"/>
          </a:xfrm>
          <a:prstGeom prst="line">
            <a:avLst/>
          </a:prstGeom>
          <a:ln cap="flat" w="114300">
            <a:solidFill>
              <a:srgbClr val="727D3D"/>
            </a:solidFill>
            <a:prstDash val="solid"/>
            <a:headEnd type="none" len="sm" w="sm"/>
            <a:tailEnd type="none" len="sm" w="sm"/>
          </a:ln>
        </p:spPr>
      </p:sp>
      <p:grpSp>
        <p:nvGrpSpPr>
          <p:cNvPr name="Group 7" id="7"/>
          <p:cNvGrpSpPr/>
          <p:nvPr/>
        </p:nvGrpSpPr>
        <p:grpSpPr>
          <a:xfrm rot="0">
            <a:off x="15859155" y="0"/>
            <a:ext cx="1562612" cy="1673225"/>
            <a:chOff x="0" y="0"/>
            <a:chExt cx="2083482" cy="2230967"/>
          </a:xfrm>
        </p:grpSpPr>
        <p:grpSp>
          <p:nvGrpSpPr>
            <p:cNvPr name="Group 8" id="8"/>
            <p:cNvGrpSpPr/>
            <p:nvPr/>
          </p:nvGrpSpPr>
          <p:grpSpPr>
            <a:xfrm rot="0">
              <a:off x="75599" y="0"/>
              <a:ext cx="1932284" cy="2230967"/>
              <a:chOff x="0" y="0"/>
              <a:chExt cx="703982" cy="812800"/>
            </a:xfrm>
          </p:grpSpPr>
          <p:sp>
            <p:nvSpPr>
              <p:cNvPr name="Freeform 9" id="9"/>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727D3D"/>
              </a:solidFill>
            </p:spPr>
          </p:sp>
          <p:sp>
            <p:nvSpPr>
              <p:cNvPr name="TextBox 10" id="10"/>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b="true">
                  <a:solidFill>
                    <a:srgbClr val="000000"/>
                  </a:solidFill>
                  <a:latin typeface="Open Sans Bold"/>
                  <a:ea typeface="Open Sans Bold"/>
                  <a:cs typeface="Open Sans Bold"/>
                  <a:sym typeface="Open Sans Bold"/>
                </a:rPr>
                <a:t>2</a:t>
              </a:r>
            </a:p>
          </p:txBody>
        </p:sp>
      </p:grpSp>
      <p:sp>
        <p:nvSpPr>
          <p:cNvPr name="Freeform 12" id="12"/>
          <p:cNvSpPr/>
          <p:nvPr/>
        </p:nvSpPr>
        <p:spPr>
          <a:xfrm flipH="false" flipV="false" rot="0">
            <a:off x="-2628900" y="-1449083"/>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3023235" y="2736693"/>
            <a:ext cx="6219713" cy="5239482"/>
          </a:xfrm>
          <a:prstGeom prst="rect">
            <a:avLst/>
          </a:prstGeom>
        </p:spPr>
        <p:txBody>
          <a:bodyPr anchor="t" rtlCol="false" tIns="0" lIns="0" bIns="0" rIns="0">
            <a:spAutoFit/>
          </a:bodyPr>
          <a:lstStyle/>
          <a:p>
            <a:pPr algn="l" marL="917327" indent="-458663" lvl="1">
              <a:lnSpc>
                <a:spcPts val="5948"/>
              </a:lnSpc>
              <a:buFont typeface="Arial"/>
              <a:buChar char="•"/>
            </a:pPr>
            <a:r>
              <a:rPr lang="en-US" sz="4248">
                <a:solidFill>
                  <a:srgbClr val="000000"/>
                </a:solidFill>
                <a:latin typeface="Alatsi"/>
                <a:ea typeface="Alatsi"/>
                <a:cs typeface="Alatsi"/>
                <a:sym typeface="Alatsi"/>
              </a:rPr>
              <a:t>Introduction</a:t>
            </a:r>
          </a:p>
          <a:p>
            <a:pPr algn="l" marL="917327" indent="-458663" lvl="1">
              <a:lnSpc>
                <a:spcPts val="5948"/>
              </a:lnSpc>
              <a:buFont typeface="Arial"/>
              <a:buChar char="•"/>
            </a:pPr>
            <a:r>
              <a:rPr lang="en-US" sz="4248">
                <a:solidFill>
                  <a:srgbClr val="000000"/>
                </a:solidFill>
                <a:latin typeface="Alatsi"/>
                <a:ea typeface="Alatsi"/>
                <a:cs typeface="Alatsi"/>
                <a:sym typeface="Alatsi"/>
              </a:rPr>
              <a:t>Problem Statement</a:t>
            </a:r>
          </a:p>
          <a:p>
            <a:pPr algn="l" marL="917327" indent="-458663" lvl="1">
              <a:lnSpc>
                <a:spcPts val="5948"/>
              </a:lnSpc>
              <a:buFont typeface="Arial"/>
              <a:buChar char="•"/>
            </a:pPr>
            <a:r>
              <a:rPr lang="en-US" sz="4248">
                <a:solidFill>
                  <a:srgbClr val="000000"/>
                </a:solidFill>
                <a:latin typeface="Alatsi"/>
                <a:ea typeface="Alatsi"/>
                <a:cs typeface="Alatsi"/>
                <a:sym typeface="Alatsi"/>
              </a:rPr>
              <a:t>Research Papers</a:t>
            </a:r>
          </a:p>
          <a:p>
            <a:pPr algn="l" marL="917327" indent="-458663" lvl="1">
              <a:lnSpc>
                <a:spcPts val="5948"/>
              </a:lnSpc>
              <a:buFont typeface="Arial"/>
              <a:buChar char="•"/>
            </a:pPr>
            <a:r>
              <a:rPr lang="en-US" sz="4248">
                <a:solidFill>
                  <a:srgbClr val="000000"/>
                </a:solidFill>
                <a:latin typeface="Alatsi"/>
                <a:ea typeface="Alatsi"/>
                <a:cs typeface="Alatsi"/>
                <a:sym typeface="Alatsi"/>
              </a:rPr>
              <a:t>Literature Review</a:t>
            </a:r>
          </a:p>
          <a:p>
            <a:pPr algn="l" marL="917327" indent="-458663" lvl="1">
              <a:lnSpc>
                <a:spcPts val="5948"/>
              </a:lnSpc>
              <a:buFont typeface="Arial"/>
              <a:buChar char="•"/>
            </a:pPr>
            <a:r>
              <a:rPr lang="en-US" sz="4248">
                <a:solidFill>
                  <a:srgbClr val="000000"/>
                </a:solidFill>
                <a:latin typeface="Alatsi"/>
                <a:ea typeface="Alatsi"/>
                <a:cs typeface="Alatsi"/>
                <a:sym typeface="Alatsi"/>
              </a:rPr>
              <a:t>Existing System</a:t>
            </a:r>
          </a:p>
          <a:p>
            <a:pPr algn="l" marL="917327" indent="-458663" lvl="1">
              <a:lnSpc>
                <a:spcPts val="5948"/>
              </a:lnSpc>
              <a:buFont typeface="Arial"/>
              <a:buChar char="•"/>
            </a:pPr>
            <a:r>
              <a:rPr lang="en-US" sz="4248">
                <a:solidFill>
                  <a:srgbClr val="000000"/>
                </a:solidFill>
                <a:latin typeface="Alatsi"/>
                <a:ea typeface="Alatsi"/>
                <a:cs typeface="Alatsi"/>
                <a:sym typeface="Alatsi"/>
              </a:rPr>
              <a:t>Proposed System</a:t>
            </a:r>
          </a:p>
          <a:p>
            <a:pPr algn="l" marL="917327" indent="-458663" lvl="1">
              <a:lnSpc>
                <a:spcPts val="5948"/>
              </a:lnSpc>
              <a:buFont typeface="Arial"/>
              <a:buChar char="•"/>
            </a:pPr>
            <a:r>
              <a:rPr lang="en-US" sz="4248">
                <a:solidFill>
                  <a:srgbClr val="000000"/>
                </a:solidFill>
                <a:latin typeface="Alatsi"/>
                <a:ea typeface="Alatsi"/>
                <a:cs typeface="Alatsi"/>
                <a:sym typeface="Alatsi"/>
              </a:rPr>
              <a:t>Requirements</a:t>
            </a:r>
          </a:p>
        </p:txBody>
      </p:sp>
      <p:sp>
        <p:nvSpPr>
          <p:cNvPr name="TextBox 14" id="14"/>
          <p:cNvSpPr txBox="true"/>
          <p:nvPr/>
        </p:nvSpPr>
        <p:spPr>
          <a:xfrm rot="0">
            <a:off x="9857121" y="2478073"/>
            <a:ext cx="6482990" cy="5245129"/>
          </a:xfrm>
          <a:prstGeom prst="rect">
            <a:avLst/>
          </a:prstGeom>
        </p:spPr>
        <p:txBody>
          <a:bodyPr anchor="t" rtlCol="false" tIns="0" lIns="0" bIns="0" rIns="0">
            <a:spAutoFit/>
          </a:bodyPr>
          <a:lstStyle/>
          <a:p>
            <a:pPr algn="l" marL="917326" indent="-458663" lvl="1">
              <a:lnSpc>
                <a:spcPts val="5948"/>
              </a:lnSpc>
              <a:spcBef>
                <a:spcPct val="0"/>
              </a:spcBef>
              <a:buFont typeface="Arial"/>
              <a:buChar char="•"/>
            </a:pPr>
            <a:r>
              <a:rPr lang="en-US" sz="4248" strike="noStrike" u="none">
                <a:solidFill>
                  <a:srgbClr val="000000"/>
                </a:solidFill>
                <a:latin typeface="Alatsi"/>
                <a:ea typeface="Alatsi"/>
                <a:cs typeface="Alatsi"/>
                <a:sym typeface="Alatsi"/>
              </a:rPr>
              <a:t>Methodology</a:t>
            </a:r>
          </a:p>
          <a:p>
            <a:pPr algn="l" marL="917326" indent="-458663" lvl="1">
              <a:lnSpc>
                <a:spcPts val="5948"/>
              </a:lnSpc>
              <a:spcBef>
                <a:spcPct val="0"/>
              </a:spcBef>
              <a:buFont typeface="Arial"/>
              <a:buChar char="•"/>
            </a:pPr>
            <a:r>
              <a:rPr lang="en-US" sz="4248" strike="noStrike" u="none">
                <a:solidFill>
                  <a:srgbClr val="000000"/>
                </a:solidFill>
                <a:latin typeface="Alatsi"/>
                <a:ea typeface="Alatsi"/>
                <a:cs typeface="Alatsi"/>
                <a:sym typeface="Alatsi"/>
              </a:rPr>
              <a:t>Dataset</a:t>
            </a:r>
          </a:p>
          <a:p>
            <a:pPr algn="l" marL="917326" indent="-458663" lvl="1">
              <a:lnSpc>
                <a:spcPts val="5948"/>
              </a:lnSpc>
              <a:spcBef>
                <a:spcPct val="0"/>
              </a:spcBef>
              <a:buFont typeface="Arial"/>
              <a:buChar char="•"/>
            </a:pPr>
            <a:r>
              <a:rPr lang="en-US" sz="4248" strike="noStrike" u="none">
                <a:solidFill>
                  <a:srgbClr val="000000"/>
                </a:solidFill>
                <a:latin typeface="Alatsi"/>
                <a:ea typeface="Alatsi"/>
                <a:cs typeface="Alatsi"/>
                <a:sym typeface="Alatsi"/>
              </a:rPr>
              <a:t>Tetrolet Transforms</a:t>
            </a:r>
          </a:p>
          <a:p>
            <a:pPr algn="l" marL="917326" indent="-458663" lvl="1">
              <a:lnSpc>
                <a:spcPts val="5948"/>
              </a:lnSpc>
              <a:spcBef>
                <a:spcPct val="0"/>
              </a:spcBef>
              <a:buFont typeface="Arial"/>
              <a:buChar char="•"/>
            </a:pPr>
            <a:r>
              <a:rPr lang="en-US" sz="4248" strike="noStrike" u="none">
                <a:solidFill>
                  <a:srgbClr val="000000"/>
                </a:solidFill>
                <a:latin typeface="Alatsi"/>
                <a:ea typeface="Alatsi"/>
                <a:cs typeface="Alatsi"/>
                <a:sym typeface="Alatsi"/>
              </a:rPr>
              <a:t>Evaluation</a:t>
            </a:r>
          </a:p>
          <a:p>
            <a:pPr algn="l" marL="917326" indent="-458663" lvl="1">
              <a:lnSpc>
                <a:spcPts val="5948"/>
              </a:lnSpc>
              <a:spcBef>
                <a:spcPct val="0"/>
              </a:spcBef>
              <a:buFont typeface="Arial"/>
              <a:buChar char="•"/>
            </a:pPr>
            <a:r>
              <a:rPr lang="en-US" sz="4248" strike="noStrike" u="none">
                <a:solidFill>
                  <a:srgbClr val="000000"/>
                </a:solidFill>
                <a:latin typeface="Alatsi"/>
                <a:ea typeface="Alatsi"/>
                <a:cs typeface="Alatsi"/>
                <a:sym typeface="Alatsi"/>
              </a:rPr>
              <a:t>Results</a:t>
            </a:r>
          </a:p>
          <a:p>
            <a:pPr algn="l" marL="917326" indent="-458663" lvl="1">
              <a:lnSpc>
                <a:spcPts val="5948"/>
              </a:lnSpc>
              <a:spcBef>
                <a:spcPct val="0"/>
              </a:spcBef>
              <a:buFont typeface="Arial"/>
              <a:buChar char="•"/>
            </a:pPr>
            <a:r>
              <a:rPr lang="en-US" sz="4248" strike="noStrike" u="none">
                <a:solidFill>
                  <a:srgbClr val="000000"/>
                </a:solidFill>
                <a:latin typeface="Alatsi"/>
                <a:ea typeface="Alatsi"/>
                <a:cs typeface="Alatsi"/>
                <a:sym typeface="Alatsi"/>
              </a:rPr>
              <a:t>Conclusion</a:t>
            </a:r>
          </a:p>
          <a:p>
            <a:pPr algn="l" marL="917326" indent="-458663" lvl="1">
              <a:lnSpc>
                <a:spcPts val="5948"/>
              </a:lnSpc>
              <a:spcBef>
                <a:spcPct val="0"/>
              </a:spcBef>
              <a:buFont typeface="Arial"/>
              <a:buChar char="•"/>
            </a:pPr>
            <a:r>
              <a:rPr lang="en-US" sz="4248" strike="noStrike" u="none">
                <a:solidFill>
                  <a:srgbClr val="000000"/>
                </a:solidFill>
                <a:latin typeface="Alatsi"/>
                <a:ea typeface="Alatsi"/>
                <a:cs typeface="Alatsi"/>
                <a:sym typeface="Alatsi"/>
              </a:rPr>
              <a:t>References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5702946" y="8800282"/>
            <a:ext cx="6882108" cy="464820"/>
          </a:xfrm>
          <a:prstGeom prst="rect">
            <a:avLst/>
          </a:prstGeom>
        </p:spPr>
        <p:txBody>
          <a:bodyPr anchor="t" rtlCol="false" tIns="0" lIns="0" bIns="0" rIns="0">
            <a:spAutoFit/>
          </a:bodyPr>
          <a:lstStyle/>
          <a:p>
            <a:pPr algn="ctr">
              <a:lnSpc>
                <a:spcPts val="3779"/>
              </a:lnSpc>
            </a:pPr>
            <a:r>
              <a:rPr lang="en-US" sz="2700">
                <a:solidFill>
                  <a:srgbClr val="000000"/>
                </a:solidFill>
                <a:latin typeface="Alatsi"/>
                <a:ea typeface="Alatsi"/>
                <a:cs typeface="Alatsi"/>
                <a:sym typeface="Alatsi"/>
              </a:rPr>
              <a:t>CBIT/IT/2024-25/IT1/106 </a:t>
            </a:r>
          </a:p>
        </p:txBody>
      </p:sp>
      <p:sp>
        <p:nvSpPr>
          <p:cNvPr name="AutoShape 3" id="3"/>
          <p:cNvSpPr/>
          <p:nvPr/>
        </p:nvSpPr>
        <p:spPr>
          <a:xfrm>
            <a:off x="-260599" y="9061267"/>
            <a:ext cx="7105264" cy="19050"/>
          </a:xfrm>
          <a:prstGeom prst="line">
            <a:avLst/>
          </a:prstGeom>
          <a:ln cap="flat" w="114300">
            <a:solidFill>
              <a:srgbClr val="727D3D"/>
            </a:solidFill>
            <a:prstDash val="solid"/>
            <a:headEnd type="none" len="sm" w="sm"/>
            <a:tailEnd type="none" len="sm" w="sm"/>
          </a:ln>
        </p:spPr>
      </p:sp>
      <p:sp>
        <p:nvSpPr>
          <p:cNvPr name="AutoShape 4" id="4"/>
          <p:cNvSpPr/>
          <p:nvPr/>
        </p:nvSpPr>
        <p:spPr>
          <a:xfrm>
            <a:off x="11430169" y="9061267"/>
            <a:ext cx="7105264" cy="19050"/>
          </a:xfrm>
          <a:prstGeom prst="line">
            <a:avLst/>
          </a:prstGeom>
          <a:ln cap="flat" w="114300">
            <a:solidFill>
              <a:srgbClr val="727D3D"/>
            </a:solidFill>
            <a:prstDash val="solid"/>
            <a:headEnd type="none" len="sm" w="sm"/>
            <a:tailEnd type="none" len="sm" w="sm"/>
          </a:ln>
        </p:spPr>
      </p:sp>
      <p:sp>
        <p:nvSpPr>
          <p:cNvPr name="Freeform 5" id="5"/>
          <p:cNvSpPr/>
          <p:nvPr/>
        </p:nvSpPr>
        <p:spPr>
          <a:xfrm flipH="false" flipV="false" rot="0">
            <a:off x="13441976" y="7841426"/>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553980" y="866775"/>
            <a:ext cx="13180039"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a:ea typeface="Alatsi"/>
                <a:cs typeface="Alatsi"/>
                <a:sym typeface="Alatsi"/>
              </a:rPr>
              <a:t>INTRODUCTION</a:t>
            </a:r>
          </a:p>
        </p:txBody>
      </p:sp>
      <p:grpSp>
        <p:nvGrpSpPr>
          <p:cNvPr name="Group 7" id="7"/>
          <p:cNvGrpSpPr/>
          <p:nvPr/>
        </p:nvGrpSpPr>
        <p:grpSpPr>
          <a:xfrm rot="0">
            <a:off x="15859155" y="0"/>
            <a:ext cx="1562612" cy="1673225"/>
            <a:chOff x="0" y="0"/>
            <a:chExt cx="2083482" cy="2230967"/>
          </a:xfrm>
        </p:grpSpPr>
        <p:grpSp>
          <p:nvGrpSpPr>
            <p:cNvPr name="Group 8" id="8"/>
            <p:cNvGrpSpPr/>
            <p:nvPr/>
          </p:nvGrpSpPr>
          <p:grpSpPr>
            <a:xfrm rot="0">
              <a:off x="75599" y="0"/>
              <a:ext cx="1932284" cy="2230967"/>
              <a:chOff x="0" y="0"/>
              <a:chExt cx="703982" cy="812800"/>
            </a:xfrm>
          </p:grpSpPr>
          <p:sp>
            <p:nvSpPr>
              <p:cNvPr name="Freeform 9" id="9"/>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727D3D"/>
              </a:solidFill>
            </p:spPr>
          </p:sp>
          <p:sp>
            <p:nvSpPr>
              <p:cNvPr name="TextBox 10" id="10"/>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b="true">
                  <a:solidFill>
                    <a:srgbClr val="000000"/>
                  </a:solidFill>
                  <a:latin typeface="Open Sans Bold"/>
                  <a:ea typeface="Open Sans Bold"/>
                  <a:cs typeface="Open Sans Bold"/>
                  <a:sym typeface="Open Sans Bold"/>
                </a:rPr>
                <a:t>3</a:t>
              </a:r>
            </a:p>
          </p:txBody>
        </p:sp>
      </p:grpSp>
      <p:sp>
        <p:nvSpPr>
          <p:cNvPr name="Freeform 12" id="12"/>
          <p:cNvSpPr/>
          <p:nvPr/>
        </p:nvSpPr>
        <p:spPr>
          <a:xfrm flipH="false" flipV="false" rot="0">
            <a:off x="-3482681" y="-210192"/>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2954248" y="3404346"/>
            <a:ext cx="13191726" cy="2837807"/>
          </a:xfrm>
          <a:prstGeom prst="rect">
            <a:avLst/>
          </a:prstGeom>
        </p:spPr>
        <p:txBody>
          <a:bodyPr anchor="t" rtlCol="false" tIns="0" lIns="0" bIns="0" rIns="0">
            <a:spAutoFit/>
          </a:bodyPr>
          <a:lstStyle/>
          <a:p>
            <a:pPr algn="just">
              <a:lnSpc>
                <a:spcPts val="3747"/>
              </a:lnSpc>
            </a:pPr>
            <a:r>
              <a:rPr lang="en-US" sz="2676">
                <a:solidFill>
                  <a:srgbClr val="000000"/>
                </a:solidFill>
                <a:latin typeface="Alatsi"/>
                <a:ea typeface="Alatsi"/>
                <a:cs typeface="Alatsi"/>
                <a:sym typeface="Alatsi"/>
              </a:rPr>
              <a:t>Wavelet neural networks enhance facial recognition accuracy by capturing both spatial and frequency features from facial images. This multi-resolution approach allows for improved detection in challenging conditions, such as varied lighting and occlusions.</a:t>
            </a:r>
          </a:p>
          <a:p>
            <a:pPr algn="just">
              <a:lnSpc>
                <a:spcPts val="3747"/>
              </a:lnSpc>
            </a:pPr>
          </a:p>
          <a:p>
            <a:pPr algn="just">
              <a:lnSpc>
                <a:spcPts val="3747"/>
              </a:lnSpc>
            </a:pPr>
            <a:r>
              <a:rPr lang="en-US" sz="2676">
                <a:solidFill>
                  <a:srgbClr val="000000"/>
                </a:solidFill>
                <a:latin typeface="Alatsi"/>
                <a:ea typeface="Alatsi"/>
                <a:cs typeface="Alatsi"/>
                <a:sym typeface="Alatsi"/>
              </a:rPr>
              <a:t>This compact design supports the scalability needed for surveillance systems, providing reliable and precise recognition capabilities.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2547741" y="895996"/>
            <a:ext cx="10451219" cy="1450976"/>
          </a:xfrm>
          <a:prstGeom prst="rect">
            <a:avLst/>
          </a:prstGeom>
        </p:spPr>
        <p:txBody>
          <a:bodyPr anchor="t" rtlCol="false" tIns="0" lIns="0" bIns="0" rIns="0">
            <a:spAutoFit/>
          </a:bodyPr>
          <a:lstStyle/>
          <a:p>
            <a:pPr algn="l">
              <a:lnSpc>
                <a:spcPts val="11899"/>
              </a:lnSpc>
            </a:pPr>
            <a:r>
              <a:rPr lang="en-US" sz="8499">
                <a:solidFill>
                  <a:srgbClr val="000000"/>
                </a:solidFill>
                <a:latin typeface="Alatsi"/>
                <a:ea typeface="Alatsi"/>
                <a:cs typeface="Alatsi"/>
                <a:sym typeface="Alatsi"/>
              </a:rPr>
              <a:t>PROBLEM STATEMENT </a:t>
            </a:r>
          </a:p>
        </p:txBody>
      </p:sp>
      <p:grpSp>
        <p:nvGrpSpPr>
          <p:cNvPr name="Group 3" id="3"/>
          <p:cNvGrpSpPr/>
          <p:nvPr/>
        </p:nvGrpSpPr>
        <p:grpSpPr>
          <a:xfrm rot="0">
            <a:off x="9673194" y="4133126"/>
            <a:ext cx="6651535" cy="1406187"/>
            <a:chOff x="0" y="0"/>
            <a:chExt cx="8868713" cy="1874916"/>
          </a:xfrm>
        </p:grpSpPr>
        <p:grpSp>
          <p:nvGrpSpPr>
            <p:cNvPr name="Group 4" id="4"/>
            <p:cNvGrpSpPr/>
            <p:nvPr/>
          </p:nvGrpSpPr>
          <p:grpSpPr>
            <a:xfrm rot="0">
              <a:off x="0" y="0"/>
              <a:ext cx="8868713" cy="1874916"/>
              <a:chOff x="0" y="0"/>
              <a:chExt cx="1751844" cy="370354"/>
            </a:xfrm>
          </p:grpSpPr>
          <p:sp>
            <p:nvSpPr>
              <p:cNvPr name="Freeform 5" id="5"/>
              <p:cNvSpPr/>
              <p:nvPr/>
            </p:nvSpPr>
            <p:spPr>
              <a:xfrm flipH="false" flipV="false" rot="0">
                <a:off x="0" y="0"/>
                <a:ext cx="1751844" cy="370354"/>
              </a:xfrm>
              <a:custGeom>
                <a:avLst/>
                <a:gdLst/>
                <a:ahLst/>
                <a:cxnLst/>
                <a:rect r="r" b="b" t="t" l="l"/>
                <a:pathLst>
                  <a:path h="370354" w="1751844">
                    <a:moveTo>
                      <a:pt x="59360" y="0"/>
                    </a:moveTo>
                    <a:lnTo>
                      <a:pt x="1692484" y="0"/>
                    </a:lnTo>
                    <a:cubicBezTo>
                      <a:pt x="1725268" y="0"/>
                      <a:pt x="1751844" y="26577"/>
                      <a:pt x="1751844" y="59360"/>
                    </a:cubicBezTo>
                    <a:lnTo>
                      <a:pt x="1751844" y="310993"/>
                    </a:lnTo>
                    <a:cubicBezTo>
                      <a:pt x="1751844" y="326737"/>
                      <a:pt x="1745590" y="341835"/>
                      <a:pt x="1734458" y="352967"/>
                    </a:cubicBezTo>
                    <a:cubicBezTo>
                      <a:pt x="1723326" y="364100"/>
                      <a:pt x="1708227" y="370354"/>
                      <a:pt x="1692484" y="370354"/>
                    </a:cubicBezTo>
                    <a:lnTo>
                      <a:pt x="59360" y="370354"/>
                    </a:lnTo>
                    <a:cubicBezTo>
                      <a:pt x="26577" y="370354"/>
                      <a:pt x="0" y="343777"/>
                      <a:pt x="0" y="310993"/>
                    </a:cubicBezTo>
                    <a:lnTo>
                      <a:pt x="0" y="59360"/>
                    </a:lnTo>
                    <a:cubicBezTo>
                      <a:pt x="0" y="26577"/>
                      <a:pt x="26577" y="0"/>
                      <a:pt x="59360" y="0"/>
                    </a:cubicBezTo>
                    <a:close/>
                  </a:path>
                </a:pathLst>
              </a:custGeom>
              <a:solidFill>
                <a:srgbClr val="972121"/>
              </a:solidFill>
            </p:spPr>
          </p:sp>
          <p:sp>
            <p:nvSpPr>
              <p:cNvPr name="TextBox 6" id="6"/>
              <p:cNvSpPr txBox="true"/>
              <p:nvPr/>
            </p:nvSpPr>
            <p:spPr>
              <a:xfrm>
                <a:off x="0" y="-38100"/>
                <a:ext cx="1751844" cy="408454"/>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695604" y="133350"/>
              <a:ext cx="7735510" cy="1368589"/>
            </a:xfrm>
            <a:prstGeom prst="rect">
              <a:avLst/>
            </a:prstGeom>
          </p:spPr>
          <p:txBody>
            <a:bodyPr anchor="t" rtlCol="false" tIns="0" lIns="0" bIns="0" rIns="0">
              <a:spAutoFit/>
            </a:bodyPr>
            <a:lstStyle/>
            <a:p>
              <a:pPr algn="l">
                <a:lnSpc>
                  <a:spcPts val="4193"/>
                </a:lnSpc>
              </a:pPr>
              <a:r>
                <a:rPr lang="en-US" sz="2995">
                  <a:solidFill>
                    <a:srgbClr val="E9E0D9"/>
                  </a:solidFill>
                  <a:latin typeface="Alatsi"/>
                  <a:ea typeface="Alatsi"/>
                  <a:cs typeface="Alatsi"/>
                  <a:sym typeface="Alatsi"/>
                </a:rPr>
                <a:t>Develop a real-time face recognition system </a:t>
              </a:r>
            </a:p>
          </p:txBody>
        </p:sp>
      </p:grpSp>
      <p:sp>
        <p:nvSpPr>
          <p:cNvPr name="TextBox 8" id="8"/>
          <p:cNvSpPr txBox="true"/>
          <p:nvPr/>
        </p:nvSpPr>
        <p:spPr>
          <a:xfrm rot="0">
            <a:off x="9673194" y="3550695"/>
            <a:ext cx="1893213" cy="553855"/>
          </a:xfrm>
          <a:prstGeom prst="rect">
            <a:avLst/>
          </a:prstGeom>
        </p:spPr>
        <p:txBody>
          <a:bodyPr anchor="t" rtlCol="false" tIns="0" lIns="0" bIns="0" rIns="0">
            <a:spAutoFit/>
          </a:bodyPr>
          <a:lstStyle/>
          <a:p>
            <a:pPr algn="l">
              <a:lnSpc>
                <a:spcPts val="4647"/>
              </a:lnSpc>
            </a:pPr>
            <a:r>
              <a:rPr lang="en-US" sz="3319">
                <a:solidFill>
                  <a:srgbClr val="E9E0D9"/>
                </a:solidFill>
                <a:latin typeface="Alatsi"/>
                <a:ea typeface="Alatsi"/>
                <a:cs typeface="Alatsi"/>
                <a:sym typeface="Alatsi"/>
              </a:rPr>
              <a:t>OBJECTIVE</a:t>
            </a:r>
          </a:p>
        </p:txBody>
      </p:sp>
      <p:sp>
        <p:nvSpPr>
          <p:cNvPr name="TextBox 9" id="9"/>
          <p:cNvSpPr txBox="true"/>
          <p:nvPr/>
        </p:nvSpPr>
        <p:spPr>
          <a:xfrm rot="0">
            <a:off x="2808516" y="3820069"/>
            <a:ext cx="5934688" cy="4098290"/>
          </a:xfrm>
          <a:prstGeom prst="rect">
            <a:avLst/>
          </a:prstGeom>
        </p:spPr>
        <p:txBody>
          <a:bodyPr anchor="t" rtlCol="false" tIns="0" lIns="0" bIns="0" rIns="0">
            <a:spAutoFit/>
          </a:bodyPr>
          <a:lstStyle/>
          <a:p>
            <a:pPr algn="just">
              <a:lnSpc>
                <a:spcPts val="4060"/>
              </a:lnSpc>
            </a:pPr>
            <a:r>
              <a:rPr lang="en-US" sz="2900">
                <a:solidFill>
                  <a:srgbClr val="000000"/>
                </a:solidFill>
                <a:latin typeface="Alatsi"/>
                <a:ea typeface="Alatsi"/>
                <a:cs typeface="Alatsi"/>
                <a:sym typeface="Alatsi"/>
              </a:rPr>
              <a:t>This project is vital for improving real-time face recognition in security and surveillance, offering  a solution with enhanced accuracy through wavelet transforms, advancing research in biometric systems beyond traditional CNN methods.</a:t>
            </a:r>
          </a:p>
        </p:txBody>
      </p:sp>
      <p:grpSp>
        <p:nvGrpSpPr>
          <p:cNvPr name="Group 10" id="10"/>
          <p:cNvGrpSpPr/>
          <p:nvPr/>
        </p:nvGrpSpPr>
        <p:grpSpPr>
          <a:xfrm rot="0">
            <a:off x="9673194" y="6685437"/>
            <a:ext cx="6651535" cy="1936015"/>
            <a:chOff x="0" y="0"/>
            <a:chExt cx="8868713" cy="2581354"/>
          </a:xfrm>
        </p:grpSpPr>
        <p:grpSp>
          <p:nvGrpSpPr>
            <p:cNvPr name="Group 11" id="11"/>
            <p:cNvGrpSpPr/>
            <p:nvPr/>
          </p:nvGrpSpPr>
          <p:grpSpPr>
            <a:xfrm rot="0">
              <a:off x="0" y="0"/>
              <a:ext cx="8868713" cy="2581354"/>
              <a:chOff x="0" y="0"/>
              <a:chExt cx="1751844" cy="509897"/>
            </a:xfrm>
          </p:grpSpPr>
          <p:sp>
            <p:nvSpPr>
              <p:cNvPr name="Freeform 12" id="12"/>
              <p:cNvSpPr/>
              <p:nvPr/>
            </p:nvSpPr>
            <p:spPr>
              <a:xfrm flipH="false" flipV="false" rot="0">
                <a:off x="0" y="0"/>
                <a:ext cx="1751844" cy="509897"/>
              </a:xfrm>
              <a:custGeom>
                <a:avLst/>
                <a:gdLst/>
                <a:ahLst/>
                <a:cxnLst/>
                <a:rect r="r" b="b" t="t" l="l"/>
                <a:pathLst>
                  <a:path h="509897" w="1751844">
                    <a:moveTo>
                      <a:pt x="59360" y="0"/>
                    </a:moveTo>
                    <a:lnTo>
                      <a:pt x="1692484" y="0"/>
                    </a:lnTo>
                    <a:cubicBezTo>
                      <a:pt x="1725268" y="0"/>
                      <a:pt x="1751844" y="26577"/>
                      <a:pt x="1751844" y="59360"/>
                    </a:cubicBezTo>
                    <a:lnTo>
                      <a:pt x="1751844" y="450537"/>
                    </a:lnTo>
                    <a:cubicBezTo>
                      <a:pt x="1751844" y="466280"/>
                      <a:pt x="1745590" y="481379"/>
                      <a:pt x="1734458" y="492511"/>
                    </a:cubicBezTo>
                    <a:cubicBezTo>
                      <a:pt x="1723326" y="503643"/>
                      <a:pt x="1708227" y="509897"/>
                      <a:pt x="1692484" y="509897"/>
                    </a:cubicBezTo>
                    <a:lnTo>
                      <a:pt x="59360" y="509897"/>
                    </a:lnTo>
                    <a:cubicBezTo>
                      <a:pt x="26577" y="509897"/>
                      <a:pt x="0" y="483320"/>
                      <a:pt x="0" y="450537"/>
                    </a:cubicBezTo>
                    <a:lnTo>
                      <a:pt x="0" y="59360"/>
                    </a:lnTo>
                    <a:cubicBezTo>
                      <a:pt x="0" y="26577"/>
                      <a:pt x="26577" y="0"/>
                      <a:pt x="59360" y="0"/>
                    </a:cubicBezTo>
                    <a:close/>
                  </a:path>
                </a:pathLst>
              </a:custGeom>
              <a:solidFill>
                <a:srgbClr val="972121"/>
              </a:solidFill>
            </p:spPr>
          </p:sp>
          <p:sp>
            <p:nvSpPr>
              <p:cNvPr name="TextBox 13" id="13"/>
              <p:cNvSpPr txBox="true"/>
              <p:nvPr/>
            </p:nvSpPr>
            <p:spPr>
              <a:xfrm>
                <a:off x="0" y="-38100"/>
                <a:ext cx="1751844" cy="547997"/>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695604" y="133350"/>
              <a:ext cx="7735510" cy="2075027"/>
            </a:xfrm>
            <a:prstGeom prst="rect">
              <a:avLst/>
            </a:prstGeom>
          </p:spPr>
          <p:txBody>
            <a:bodyPr anchor="t" rtlCol="false" tIns="0" lIns="0" bIns="0" rIns="0">
              <a:spAutoFit/>
            </a:bodyPr>
            <a:lstStyle/>
            <a:p>
              <a:pPr algn="l">
                <a:lnSpc>
                  <a:spcPts val="4193"/>
                </a:lnSpc>
              </a:pPr>
              <a:r>
                <a:rPr lang="en-US" sz="2995">
                  <a:solidFill>
                    <a:srgbClr val="E9E0D9"/>
                  </a:solidFill>
                  <a:latin typeface="Alatsi"/>
                  <a:ea typeface="Alatsi"/>
                  <a:cs typeface="Alatsi"/>
                  <a:sym typeface="Alatsi"/>
                </a:rPr>
                <a:t>Tetrolet Transformations feature extraction for real-time face recognition.</a:t>
              </a:r>
            </a:p>
          </p:txBody>
        </p:sp>
      </p:grpSp>
      <p:sp>
        <p:nvSpPr>
          <p:cNvPr name="TextBox 15" id="15"/>
          <p:cNvSpPr txBox="true"/>
          <p:nvPr/>
        </p:nvSpPr>
        <p:spPr>
          <a:xfrm rot="-5400000">
            <a:off x="-2373736" y="4911090"/>
            <a:ext cx="6882108" cy="464820"/>
          </a:xfrm>
          <a:prstGeom prst="rect">
            <a:avLst/>
          </a:prstGeom>
        </p:spPr>
        <p:txBody>
          <a:bodyPr anchor="t" rtlCol="false" tIns="0" lIns="0" bIns="0" rIns="0">
            <a:spAutoFit/>
          </a:bodyPr>
          <a:lstStyle/>
          <a:p>
            <a:pPr algn="ctr">
              <a:lnSpc>
                <a:spcPts val="3779"/>
              </a:lnSpc>
            </a:pPr>
            <a:r>
              <a:rPr lang="en-US" sz="2700">
                <a:solidFill>
                  <a:srgbClr val="000000"/>
                </a:solidFill>
                <a:latin typeface="Alatsi"/>
                <a:ea typeface="Alatsi"/>
                <a:cs typeface="Alatsi"/>
                <a:sym typeface="Alatsi"/>
              </a:rPr>
              <a:t>CBIT/IT/2024-25/IT1/106 </a:t>
            </a:r>
          </a:p>
        </p:txBody>
      </p:sp>
      <p:sp>
        <p:nvSpPr>
          <p:cNvPr name="TextBox 16" id="16"/>
          <p:cNvSpPr txBox="true"/>
          <p:nvPr/>
        </p:nvSpPr>
        <p:spPr>
          <a:xfrm rot="0">
            <a:off x="9673194" y="6100037"/>
            <a:ext cx="5276728" cy="553855"/>
          </a:xfrm>
          <a:prstGeom prst="rect">
            <a:avLst/>
          </a:prstGeom>
        </p:spPr>
        <p:txBody>
          <a:bodyPr anchor="t" rtlCol="false" tIns="0" lIns="0" bIns="0" rIns="0">
            <a:spAutoFit/>
          </a:bodyPr>
          <a:lstStyle/>
          <a:p>
            <a:pPr algn="l">
              <a:lnSpc>
                <a:spcPts val="4647"/>
              </a:lnSpc>
            </a:pPr>
            <a:r>
              <a:rPr lang="en-US" sz="3319">
                <a:solidFill>
                  <a:srgbClr val="E9E0D9"/>
                </a:solidFill>
                <a:latin typeface="Alatsi"/>
                <a:ea typeface="Alatsi"/>
                <a:cs typeface="Alatsi"/>
                <a:sym typeface="Alatsi"/>
              </a:rPr>
              <a:t>SCOPE OF PROJECT</a:t>
            </a:r>
          </a:p>
        </p:txBody>
      </p:sp>
      <p:sp>
        <p:nvSpPr>
          <p:cNvPr name="AutoShape 17" id="17"/>
          <p:cNvSpPr/>
          <p:nvPr/>
        </p:nvSpPr>
        <p:spPr>
          <a:xfrm flipH="true" flipV="true">
            <a:off x="1090490" y="-104525"/>
            <a:ext cx="5403" cy="2997456"/>
          </a:xfrm>
          <a:prstGeom prst="line">
            <a:avLst/>
          </a:prstGeom>
          <a:ln cap="flat" w="114300">
            <a:solidFill>
              <a:srgbClr val="727D3D"/>
            </a:solidFill>
            <a:prstDash val="solid"/>
            <a:headEnd type="none" len="sm" w="sm"/>
            <a:tailEnd type="none" len="sm" w="sm"/>
          </a:ln>
        </p:spPr>
      </p:sp>
      <p:sp>
        <p:nvSpPr>
          <p:cNvPr name="AutoShape 18" id="18"/>
          <p:cNvSpPr/>
          <p:nvPr/>
        </p:nvSpPr>
        <p:spPr>
          <a:xfrm flipH="true" flipV="true">
            <a:off x="1085850" y="7289441"/>
            <a:ext cx="5403" cy="2997456"/>
          </a:xfrm>
          <a:prstGeom prst="line">
            <a:avLst/>
          </a:prstGeom>
          <a:ln cap="flat" w="114300">
            <a:solidFill>
              <a:srgbClr val="727D3D"/>
            </a:solidFill>
            <a:prstDash val="solid"/>
            <a:headEnd type="none" len="sm" w="sm"/>
            <a:tailEnd type="none" len="sm" w="sm"/>
          </a:ln>
        </p:spPr>
      </p:sp>
      <p:grpSp>
        <p:nvGrpSpPr>
          <p:cNvPr name="Group 19" id="19"/>
          <p:cNvGrpSpPr/>
          <p:nvPr/>
        </p:nvGrpSpPr>
        <p:grpSpPr>
          <a:xfrm rot="0">
            <a:off x="15859155" y="0"/>
            <a:ext cx="1562612" cy="1673225"/>
            <a:chOff x="0" y="0"/>
            <a:chExt cx="2083482" cy="2230967"/>
          </a:xfrm>
        </p:grpSpPr>
        <p:grpSp>
          <p:nvGrpSpPr>
            <p:cNvPr name="Group 20" id="20"/>
            <p:cNvGrpSpPr/>
            <p:nvPr/>
          </p:nvGrpSpPr>
          <p:grpSpPr>
            <a:xfrm rot="0">
              <a:off x="75599" y="0"/>
              <a:ext cx="1932284" cy="2230967"/>
              <a:chOff x="0" y="0"/>
              <a:chExt cx="703982" cy="812800"/>
            </a:xfrm>
          </p:grpSpPr>
          <p:sp>
            <p:nvSpPr>
              <p:cNvPr name="Freeform 21" id="21"/>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727D3D"/>
              </a:solidFill>
            </p:spPr>
          </p:sp>
          <p:sp>
            <p:nvSpPr>
              <p:cNvPr name="TextBox 22" id="22"/>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23" id="23"/>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b="true">
                  <a:solidFill>
                    <a:srgbClr val="000000"/>
                  </a:solidFill>
                  <a:latin typeface="Open Sans Bold"/>
                  <a:ea typeface="Open Sans Bold"/>
                  <a:cs typeface="Open Sans Bold"/>
                  <a:sym typeface="Open Sans Bold"/>
                </a:rPr>
                <a:t>4</a:t>
              </a:r>
            </a:p>
          </p:txBody>
        </p:sp>
      </p:grpSp>
      <p:sp>
        <p:nvSpPr>
          <p:cNvPr name="Freeform 24" id="24"/>
          <p:cNvSpPr/>
          <p:nvPr/>
        </p:nvSpPr>
        <p:spPr>
          <a:xfrm flipH="false" flipV="false" rot="0">
            <a:off x="7512165" y="-1553858"/>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5" id="25"/>
          <p:cNvSpPr/>
          <p:nvPr/>
        </p:nvSpPr>
        <p:spPr>
          <a:xfrm flipH="false" flipV="false" rot="0">
            <a:off x="892058" y="9048108"/>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grpSp>
        <p:nvGrpSpPr>
          <p:cNvPr name="Group 2" id="2"/>
          <p:cNvGrpSpPr/>
          <p:nvPr/>
        </p:nvGrpSpPr>
        <p:grpSpPr>
          <a:xfrm rot="0">
            <a:off x="627362" y="0"/>
            <a:ext cx="937061" cy="10287000"/>
            <a:chOff x="0" y="0"/>
            <a:chExt cx="246798" cy="2709333"/>
          </a:xfrm>
        </p:grpSpPr>
        <p:sp>
          <p:nvSpPr>
            <p:cNvPr name="Freeform 3" id="3"/>
            <p:cNvSpPr/>
            <p:nvPr/>
          </p:nvSpPr>
          <p:spPr>
            <a:xfrm flipH="false" flipV="false" rot="0">
              <a:off x="0" y="0"/>
              <a:ext cx="246798" cy="2709333"/>
            </a:xfrm>
            <a:custGeom>
              <a:avLst/>
              <a:gdLst/>
              <a:ahLst/>
              <a:cxnLst/>
              <a:rect r="r" b="b" t="t" l="l"/>
              <a:pathLst>
                <a:path h="2709333" w="246798">
                  <a:moveTo>
                    <a:pt x="0" y="0"/>
                  </a:moveTo>
                  <a:lnTo>
                    <a:pt x="246798" y="0"/>
                  </a:lnTo>
                  <a:lnTo>
                    <a:pt x="246798" y="2709333"/>
                  </a:lnTo>
                  <a:lnTo>
                    <a:pt x="0" y="2709333"/>
                  </a:lnTo>
                  <a:close/>
                </a:path>
              </a:pathLst>
            </a:custGeom>
            <a:solidFill>
              <a:srgbClr val="F6F3EB"/>
            </a:solidFill>
          </p:spPr>
        </p:sp>
        <p:sp>
          <p:nvSpPr>
            <p:cNvPr name="TextBox 4" id="4"/>
            <p:cNvSpPr txBox="true"/>
            <p:nvPr/>
          </p:nvSpPr>
          <p:spPr>
            <a:xfrm>
              <a:off x="0" y="-38100"/>
              <a:ext cx="246798" cy="2747433"/>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5400000">
            <a:off x="-2373736" y="4911090"/>
            <a:ext cx="6882108" cy="464820"/>
          </a:xfrm>
          <a:prstGeom prst="rect">
            <a:avLst/>
          </a:prstGeom>
        </p:spPr>
        <p:txBody>
          <a:bodyPr anchor="t" rtlCol="false" tIns="0" lIns="0" bIns="0" rIns="0">
            <a:spAutoFit/>
          </a:bodyPr>
          <a:lstStyle/>
          <a:p>
            <a:pPr algn="ctr">
              <a:lnSpc>
                <a:spcPts val="3779"/>
              </a:lnSpc>
            </a:pPr>
            <a:r>
              <a:rPr lang="en-US" sz="2700">
                <a:solidFill>
                  <a:srgbClr val="000000"/>
                </a:solidFill>
                <a:latin typeface="Alatsi"/>
                <a:ea typeface="Alatsi"/>
                <a:cs typeface="Alatsi"/>
                <a:sym typeface="Alatsi"/>
              </a:rPr>
              <a:t>CBIT/IT/2024-25/IT1/106 </a:t>
            </a:r>
          </a:p>
        </p:txBody>
      </p:sp>
      <p:sp>
        <p:nvSpPr>
          <p:cNvPr name="AutoShape 6" id="6"/>
          <p:cNvSpPr/>
          <p:nvPr/>
        </p:nvSpPr>
        <p:spPr>
          <a:xfrm flipH="true" flipV="true">
            <a:off x="1085850" y="7289441"/>
            <a:ext cx="5403" cy="2997456"/>
          </a:xfrm>
          <a:prstGeom prst="line">
            <a:avLst/>
          </a:prstGeom>
          <a:ln cap="flat" w="114300">
            <a:solidFill>
              <a:srgbClr val="727D3D"/>
            </a:solidFill>
            <a:prstDash val="solid"/>
            <a:headEnd type="none" len="sm" w="sm"/>
            <a:tailEnd type="none" len="sm" w="sm"/>
          </a:ln>
        </p:spPr>
      </p:sp>
      <p:sp>
        <p:nvSpPr>
          <p:cNvPr name="AutoShape 7" id="7"/>
          <p:cNvSpPr/>
          <p:nvPr/>
        </p:nvSpPr>
        <p:spPr>
          <a:xfrm flipH="true" flipV="true">
            <a:off x="1090490" y="-104525"/>
            <a:ext cx="5403" cy="2997456"/>
          </a:xfrm>
          <a:prstGeom prst="line">
            <a:avLst/>
          </a:prstGeom>
          <a:ln cap="flat" w="114300">
            <a:solidFill>
              <a:srgbClr val="727D3D"/>
            </a:solidFill>
            <a:prstDash val="solid"/>
            <a:headEnd type="none" len="sm" w="sm"/>
            <a:tailEnd type="none" len="sm" w="sm"/>
          </a:ln>
        </p:spPr>
      </p:sp>
      <p:grpSp>
        <p:nvGrpSpPr>
          <p:cNvPr name="Group 8" id="8"/>
          <p:cNvGrpSpPr/>
          <p:nvPr/>
        </p:nvGrpSpPr>
        <p:grpSpPr>
          <a:xfrm rot="0">
            <a:off x="15859155" y="0"/>
            <a:ext cx="1562612" cy="1673225"/>
            <a:chOff x="0" y="0"/>
            <a:chExt cx="2083482" cy="2230967"/>
          </a:xfrm>
        </p:grpSpPr>
        <p:grpSp>
          <p:nvGrpSpPr>
            <p:cNvPr name="Group 9" id="9"/>
            <p:cNvGrpSpPr/>
            <p:nvPr/>
          </p:nvGrpSpPr>
          <p:grpSpPr>
            <a:xfrm rot="0">
              <a:off x="75599" y="0"/>
              <a:ext cx="1932284" cy="2230967"/>
              <a:chOff x="0" y="0"/>
              <a:chExt cx="703982" cy="812800"/>
            </a:xfrm>
          </p:grpSpPr>
          <p:sp>
            <p:nvSpPr>
              <p:cNvPr name="Freeform 10" id="10"/>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727D3D"/>
              </a:solidFill>
            </p:spPr>
          </p:sp>
          <p:sp>
            <p:nvSpPr>
              <p:cNvPr name="TextBox 11" id="11"/>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b="true">
                  <a:solidFill>
                    <a:srgbClr val="000000"/>
                  </a:solidFill>
                  <a:latin typeface="Open Sans Bold"/>
                  <a:ea typeface="Open Sans Bold"/>
                  <a:cs typeface="Open Sans Bold"/>
                  <a:sym typeface="Open Sans Bold"/>
                </a:rPr>
                <a:t>5</a:t>
              </a:r>
            </a:p>
          </p:txBody>
        </p:sp>
      </p:grpSp>
      <p:sp>
        <p:nvSpPr>
          <p:cNvPr name="Freeform 13" id="13"/>
          <p:cNvSpPr/>
          <p:nvPr/>
        </p:nvSpPr>
        <p:spPr>
          <a:xfrm flipH="false" flipV="false" rot="0">
            <a:off x="8147188" y="-1238892"/>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1804788" y="9258300"/>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15" id="15"/>
          <p:cNvGraphicFramePr>
            <a:graphicFrameLocks noGrp="true"/>
          </p:cNvGraphicFramePr>
          <p:nvPr/>
        </p:nvGraphicFramePr>
        <p:xfrm>
          <a:off x="1564423" y="2386016"/>
          <a:ext cx="16301275" cy="5725160"/>
        </p:xfrm>
        <a:graphic>
          <a:graphicData uri="http://schemas.openxmlformats.org/drawingml/2006/table">
            <a:tbl>
              <a:tblPr/>
              <a:tblGrid>
                <a:gridCol w="1069397"/>
                <a:gridCol w="1293586"/>
                <a:gridCol w="2378047"/>
                <a:gridCol w="3751626"/>
                <a:gridCol w="2578394"/>
                <a:gridCol w="5230226"/>
              </a:tblGrid>
              <a:tr h="1189013">
                <a:tc>
                  <a:txBody>
                    <a:bodyPr anchor="t" rtlCol="false"/>
                    <a:lstStyle/>
                    <a:p>
                      <a:pPr algn="just">
                        <a:lnSpc>
                          <a:spcPts val="3219"/>
                        </a:lnSpc>
                        <a:defRPr/>
                      </a:pPr>
                      <a:r>
                        <a:rPr lang="en-US" sz="2299">
                          <a:solidFill>
                            <a:srgbClr val="E9E0D9"/>
                          </a:solidFill>
                          <a:latin typeface="Alatsi"/>
                          <a:ea typeface="Alatsi"/>
                          <a:cs typeface="Alatsi"/>
                          <a:sym typeface="Alatsi"/>
                        </a:rPr>
                        <a:t>s. no.</a:t>
                      </a:r>
                      <a:endParaRPr lang="en-US" sz="1100"/>
                    </a:p>
                  </a:txBody>
                  <a:tcPr marL="190500" marR="190500" marT="190500" marB="190500" anchor="ctr">
                    <a:lnL cmpd="sng" algn="ctr" cap="flat" w="38100">
                      <a:solidFill>
                        <a:srgbClr val="972121"/>
                      </a:solidFill>
                      <a:prstDash val="solid"/>
                      <a:round/>
                      <a:headEnd type="none" w="med" len="med"/>
                      <a:tailEnd type="none" w="med" len="med"/>
                    </a:lnL>
                    <a:lnR cmpd="sng" algn="ctr" cap="flat" w="38100">
                      <a:solidFill>
                        <a:srgbClr val="972121"/>
                      </a:solidFill>
                      <a:prstDash val="solid"/>
                      <a:round/>
                      <a:headEnd type="none" w="med" len="med"/>
                      <a:tailEnd type="none" w="med" len="med"/>
                    </a:lnR>
                    <a:lnT cmpd="sng" algn="ctr" cap="flat" w="38100">
                      <a:solidFill>
                        <a:srgbClr val="972121"/>
                      </a:solidFill>
                      <a:prstDash val="solid"/>
                      <a:round/>
                      <a:headEnd type="none" w="med" len="med"/>
                      <a:tailEnd type="none" w="med" len="med"/>
                    </a:lnT>
                    <a:lnB cmpd="sng" algn="ctr" cap="flat" w="38100">
                      <a:solidFill>
                        <a:srgbClr val="972121"/>
                      </a:solidFill>
                      <a:prstDash val="solid"/>
                      <a:round/>
                      <a:headEnd type="none" w="med" len="med"/>
                      <a:tailEnd type="none" w="med" len="med"/>
                    </a:lnB>
                    <a:solidFill>
                      <a:srgbClr val="A06A14"/>
                    </a:solidFill>
                  </a:tcPr>
                </a:tc>
                <a:tc>
                  <a:txBody>
                    <a:bodyPr anchor="t" rtlCol="false"/>
                    <a:lstStyle/>
                    <a:p>
                      <a:pPr algn="just">
                        <a:lnSpc>
                          <a:spcPts val="4059"/>
                        </a:lnSpc>
                        <a:defRPr/>
                      </a:pPr>
                      <a:r>
                        <a:rPr lang="en-US" sz="2899">
                          <a:solidFill>
                            <a:srgbClr val="E9E0D9"/>
                          </a:solidFill>
                          <a:latin typeface="Alatsi"/>
                          <a:ea typeface="Alatsi"/>
                          <a:cs typeface="Alatsi"/>
                          <a:sym typeface="Alatsi"/>
                        </a:rPr>
                        <a:t>Year</a:t>
                      </a:r>
                      <a:endParaRPr lang="en-US" sz="1100"/>
                    </a:p>
                  </a:txBody>
                  <a:tcPr marL="190500" marR="190500" marT="190500" marB="190500" anchor="ctr">
                    <a:lnL cmpd="sng" algn="ctr" cap="flat" w="38100">
                      <a:solidFill>
                        <a:srgbClr val="972121"/>
                      </a:solidFill>
                      <a:prstDash val="solid"/>
                      <a:round/>
                      <a:headEnd type="none" w="med" len="med"/>
                      <a:tailEnd type="none" w="med" len="med"/>
                    </a:lnL>
                    <a:lnR cmpd="sng" algn="ctr" cap="flat" w="38100">
                      <a:solidFill>
                        <a:srgbClr val="972121"/>
                      </a:solidFill>
                      <a:prstDash val="solid"/>
                      <a:round/>
                      <a:headEnd type="none" w="med" len="med"/>
                      <a:tailEnd type="none" w="med" len="med"/>
                    </a:lnR>
                    <a:lnT cmpd="sng" algn="ctr" cap="flat" w="38100">
                      <a:solidFill>
                        <a:srgbClr val="972121"/>
                      </a:solidFill>
                      <a:prstDash val="solid"/>
                      <a:round/>
                      <a:headEnd type="none" w="med" len="med"/>
                      <a:tailEnd type="none" w="med" len="med"/>
                    </a:lnT>
                    <a:lnB cmpd="sng" algn="ctr" cap="flat" w="38100">
                      <a:solidFill>
                        <a:srgbClr val="972121"/>
                      </a:solidFill>
                      <a:prstDash val="solid"/>
                      <a:round/>
                      <a:headEnd type="none" w="med" len="med"/>
                      <a:tailEnd type="none" w="med" len="med"/>
                    </a:lnB>
                    <a:solidFill>
                      <a:srgbClr val="A06A14"/>
                    </a:solidFill>
                  </a:tcPr>
                </a:tc>
                <a:tc>
                  <a:txBody>
                    <a:bodyPr anchor="t" rtlCol="false"/>
                    <a:lstStyle/>
                    <a:p>
                      <a:pPr algn="just">
                        <a:lnSpc>
                          <a:spcPts val="4059"/>
                        </a:lnSpc>
                        <a:defRPr/>
                      </a:pPr>
                      <a:r>
                        <a:rPr lang="en-US" sz="2899">
                          <a:solidFill>
                            <a:srgbClr val="E9E0D9"/>
                          </a:solidFill>
                          <a:latin typeface="Alatsi"/>
                          <a:ea typeface="Alatsi"/>
                          <a:cs typeface="Alatsi"/>
                          <a:sym typeface="Alatsi"/>
                        </a:rPr>
                        <a:t>Authors </a:t>
                      </a:r>
                      <a:endParaRPr lang="en-US" sz="1100"/>
                    </a:p>
                  </a:txBody>
                  <a:tcPr marL="190500" marR="190500" marT="190500" marB="190500" anchor="ctr">
                    <a:lnL cmpd="sng" algn="ctr" cap="flat" w="38100">
                      <a:solidFill>
                        <a:srgbClr val="972121"/>
                      </a:solidFill>
                      <a:prstDash val="solid"/>
                      <a:round/>
                      <a:headEnd type="none" w="med" len="med"/>
                      <a:tailEnd type="none" w="med" len="med"/>
                    </a:lnL>
                    <a:lnR cmpd="sng" algn="ctr" cap="flat" w="38100">
                      <a:solidFill>
                        <a:srgbClr val="972121"/>
                      </a:solidFill>
                      <a:prstDash val="solid"/>
                      <a:round/>
                      <a:headEnd type="none" w="med" len="med"/>
                      <a:tailEnd type="none" w="med" len="med"/>
                    </a:lnR>
                    <a:lnT cmpd="sng" algn="ctr" cap="flat" w="38100">
                      <a:solidFill>
                        <a:srgbClr val="972121"/>
                      </a:solidFill>
                      <a:prstDash val="solid"/>
                      <a:round/>
                      <a:headEnd type="none" w="med" len="med"/>
                      <a:tailEnd type="none" w="med" len="med"/>
                    </a:lnT>
                    <a:lnB cmpd="sng" algn="ctr" cap="flat" w="38100">
                      <a:solidFill>
                        <a:srgbClr val="972121"/>
                      </a:solidFill>
                      <a:prstDash val="solid"/>
                      <a:round/>
                      <a:headEnd type="none" w="med" len="med"/>
                      <a:tailEnd type="none" w="med" len="med"/>
                    </a:lnB>
                    <a:solidFill>
                      <a:srgbClr val="A06A14"/>
                    </a:solidFill>
                  </a:tcPr>
                </a:tc>
                <a:tc>
                  <a:txBody>
                    <a:bodyPr anchor="t" rtlCol="false"/>
                    <a:lstStyle/>
                    <a:p>
                      <a:pPr algn="just">
                        <a:lnSpc>
                          <a:spcPts val="4059"/>
                        </a:lnSpc>
                        <a:defRPr/>
                      </a:pPr>
                      <a:r>
                        <a:rPr lang="en-US" sz="2899">
                          <a:solidFill>
                            <a:srgbClr val="E9E0D9"/>
                          </a:solidFill>
                          <a:latin typeface="Alatsi"/>
                          <a:ea typeface="Alatsi"/>
                          <a:cs typeface="Alatsi"/>
                          <a:sym typeface="Alatsi"/>
                        </a:rPr>
                        <a:t>Title</a:t>
                      </a:r>
                      <a:endParaRPr lang="en-US" sz="1100"/>
                    </a:p>
                  </a:txBody>
                  <a:tcPr marL="190500" marR="190500" marT="190500" marB="190500" anchor="ctr">
                    <a:lnL cmpd="sng" algn="ctr" cap="flat" w="38100">
                      <a:solidFill>
                        <a:srgbClr val="972121"/>
                      </a:solidFill>
                      <a:prstDash val="solid"/>
                      <a:round/>
                      <a:headEnd type="none" w="med" len="med"/>
                      <a:tailEnd type="none" w="med" len="med"/>
                    </a:lnL>
                    <a:lnR cmpd="sng" algn="ctr" cap="flat" w="38100">
                      <a:solidFill>
                        <a:srgbClr val="972121"/>
                      </a:solidFill>
                      <a:prstDash val="solid"/>
                      <a:round/>
                      <a:headEnd type="none" w="med" len="med"/>
                      <a:tailEnd type="none" w="med" len="med"/>
                    </a:lnR>
                    <a:lnT cmpd="sng" algn="ctr" cap="flat" w="38100">
                      <a:solidFill>
                        <a:srgbClr val="972121"/>
                      </a:solidFill>
                      <a:prstDash val="solid"/>
                      <a:round/>
                      <a:headEnd type="none" w="med" len="med"/>
                      <a:tailEnd type="none" w="med" len="med"/>
                    </a:lnT>
                    <a:lnB cmpd="sng" algn="ctr" cap="flat" w="38100">
                      <a:solidFill>
                        <a:srgbClr val="972121"/>
                      </a:solidFill>
                      <a:prstDash val="solid"/>
                      <a:round/>
                      <a:headEnd type="none" w="med" len="med"/>
                      <a:tailEnd type="none" w="med" len="med"/>
                    </a:lnB>
                    <a:solidFill>
                      <a:srgbClr val="A06A14"/>
                    </a:solidFill>
                  </a:tcPr>
                </a:tc>
                <a:tc>
                  <a:txBody>
                    <a:bodyPr anchor="t" rtlCol="false"/>
                    <a:lstStyle/>
                    <a:p>
                      <a:pPr algn="just">
                        <a:lnSpc>
                          <a:spcPts val="4059"/>
                        </a:lnSpc>
                        <a:defRPr/>
                      </a:pPr>
                      <a:r>
                        <a:rPr lang="en-US" sz="2899">
                          <a:solidFill>
                            <a:srgbClr val="E9E0D9"/>
                          </a:solidFill>
                          <a:latin typeface="Alatsi"/>
                          <a:ea typeface="Alatsi"/>
                          <a:cs typeface="Alatsi"/>
                          <a:sym typeface="Alatsi"/>
                        </a:rPr>
                        <a:t>Journal</a:t>
                      </a:r>
                      <a:endParaRPr lang="en-US" sz="1100"/>
                    </a:p>
                  </a:txBody>
                  <a:tcPr marL="190500" marR="190500" marT="190500" marB="190500" anchor="ctr">
                    <a:lnL cmpd="sng" algn="ctr" cap="flat" w="38100">
                      <a:solidFill>
                        <a:srgbClr val="972121"/>
                      </a:solidFill>
                      <a:prstDash val="solid"/>
                      <a:round/>
                      <a:headEnd type="none" w="med" len="med"/>
                      <a:tailEnd type="none" w="med" len="med"/>
                    </a:lnL>
                    <a:lnR cmpd="sng" algn="ctr" cap="flat" w="38100">
                      <a:solidFill>
                        <a:srgbClr val="972121"/>
                      </a:solidFill>
                      <a:prstDash val="solid"/>
                      <a:round/>
                      <a:headEnd type="none" w="med" len="med"/>
                      <a:tailEnd type="none" w="med" len="med"/>
                    </a:lnR>
                    <a:lnT cmpd="sng" algn="ctr" cap="flat" w="38100">
                      <a:solidFill>
                        <a:srgbClr val="972121"/>
                      </a:solidFill>
                      <a:prstDash val="solid"/>
                      <a:round/>
                      <a:headEnd type="none" w="med" len="med"/>
                      <a:tailEnd type="none" w="med" len="med"/>
                    </a:lnT>
                    <a:lnB cmpd="sng" algn="ctr" cap="flat" w="38100">
                      <a:solidFill>
                        <a:srgbClr val="972121"/>
                      </a:solidFill>
                      <a:prstDash val="solid"/>
                      <a:round/>
                      <a:headEnd type="none" w="med" len="med"/>
                      <a:tailEnd type="none" w="med" len="med"/>
                    </a:lnB>
                    <a:solidFill>
                      <a:srgbClr val="A06A14"/>
                    </a:solidFill>
                  </a:tcPr>
                </a:tc>
                <a:tc>
                  <a:txBody>
                    <a:bodyPr anchor="t" rtlCol="false"/>
                    <a:lstStyle/>
                    <a:p>
                      <a:pPr algn="just">
                        <a:lnSpc>
                          <a:spcPts val="4059"/>
                        </a:lnSpc>
                        <a:defRPr/>
                      </a:pPr>
                      <a:r>
                        <a:rPr lang="en-US" sz="2899">
                          <a:solidFill>
                            <a:srgbClr val="E9E0D9"/>
                          </a:solidFill>
                          <a:latin typeface="Alatsi"/>
                          <a:ea typeface="Alatsi"/>
                          <a:cs typeface="Alatsi"/>
                          <a:sym typeface="Alatsi"/>
                        </a:rPr>
                        <a:t>Insights</a:t>
                      </a:r>
                      <a:endParaRPr lang="en-US" sz="1100"/>
                    </a:p>
                  </a:txBody>
                  <a:tcPr marL="190500" marR="190500" marT="190500" marB="190500" anchor="ctr">
                    <a:lnL cmpd="sng" algn="ctr" cap="flat" w="38100">
                      <a:solidFill>
                        <a:srgbClr val="972121"/>
                      </a:solidFill>
                      <a:prstDash val="solid"/>
                      <a:round/>
                      <a:headEnd type="none" w="med" len="med"/>
                      <a:tailEnd type="none" w="med" len="med"/>
                    </a:lnL>
                    <a:lnR cmpd="sng" algn="ctr" cap="flat" w="38100">
                      <a:solidFill>
                        <a:srgbClr val="972121"/>
                      </a:solidFill>
                      <a:prstDash val="solid"/>
                      <a:round/>
                      <a:headEnd type="none" w="med" len="med"/>
                      <a:tailEnd type="none" w="med" len="med"/>
                    </a:lnR>
                    <a:lnT cmpd="sng" algn="ctr" cap="flat" w="38100">
                      <a:solidFill>
                        <a:srgbClr val="972121"/>
                      </a:solidFill>
                      <a:prstDash val="solid"/>
                      <a:round/>
                      <a:headEnd type="none" w="med" len="med"/>
                      <a:tailEnd type="none" w="med" len="med"/>
                    </a:lnT>
                    <a:lnB cmpd="sng" algn="ctr" cap="flat" w="38100">
                      <a:solidFill>
                        <a:srgbClr val="972121"/>
                      </a:solidFill>
                      <a:prstDash val="solid"/>
                      <a:round/>
                      <a:headEnd type="none" w="med" len="med"/>
                      <a:tailEnd type="none" w="med" len="med"/>
                    </a:lnB>
                    <a:solidFill>
                      <a:srgbClr val="A06A14"/>
                    </a:solidFill>
                  </a:tcPr>
                </a:tc>
              </a:tr>
              <a:tr h="1927351">
                <a:tc>
                  <a:txBody>
                    <a:bodyPr anchor="t" rtlCol="false"/>
                    <a:lstStyle/>
                    <a:p>
                      <a:pPr algn="just">
                        <a:lnSpc>
                          <a:spcPts val="2659"/>
                        </a:lnSpc>
                        <a:defRPr/>
                      </a:pPr>
                      <a:r>
                        <a:rPr lang="en-US" sz="1899">
                          <a:solidFill>
                            <a:srgbClr val="000000"/>
                          </a:solidFill>
                          <a:latin typeface="Alatsi"/>
                          <a:ea typeface="Alatsi"/>
                          <a:cs typeface="Alatsi"/>
                          <a:sym typeface="Alatsi"/>
                        </a:rPr>
                        <a:t>1</a:t>
                      </a:r>
                      <a:endParaRPr lang="en-US" sz="1100"/>
                    </a:p>
                  </a:txBody>
                  <a:tcPr marL="190500" marR="190500" marT="190500" marB="190500" anchor="ctr">
                    <a:lnL cmpd="sng" algn="ctr" cap="flat" w="38100">
                      <a:solidFill>
                        <a:srgbClr val="972121"/>
                      </a:solidFill>
                      <a:prstDash val="solid"/>
                      <a:round/>
                      <a:headEnd type="none" w="med" len="med"/>
                      <a:tailEnd type="none" w="med" len="med"/>
                    </a:lnL>
                    <a:lnR cmpd="sng" algn="ctr" cap="flat" w="38100">
                      <a:solidFill>
                        <a:srgbClr val="972121"/>
                      </a:solidFill>
                      <a:prstDash val="solid"/>
                      <a:round/>
                      <a:headEnd type="none" w="med" len="med"/>
                      <a:tailEnd type="none" w="med" len="med"/>
                    </a:lnR>
                    <a:lnT cmpd="sng" algn="ctr" cap="flat" w="38100">
                      <a:solidFill>
                        <a:srgbClr val="972121"/>
                      </a:solidFill>
                      <a:prstDash val="solid"/>
                      <a:round/>
                      <a:headEnd type="none" w="med" len="med"/>
                      <a:tailEnd type="none" w="med" len="med"/>
                    </a:lnT>
                    <a:lnB cmpd="sng" algn="ctr" cap="flat" w="38100">
                      <a:solidFill>
                        <a:srgbClr val="972121"/>
                      </a:solidFill>
                      <a:prstDash val="solid"/>
                      <a:round/>
                      <a:headEnd type="none" w="med" len="med"/>
                      <a:tailEnd type="none" w="med" len="med"/>
                    </a:lnB>
                  </a:tcPr>
                </a:tc>
                <a:tc>
                  <a:txBody>
                    <a:bodyPr anchor="t" rtlCol="false"/>
                    <a:lstStyle/>
                    <a:p>
                      <a:pPr algn="just">
                        <a:lnSpc>
                          <a:spcPts val="2659"/>
                        </a:lnSpc>
                        <a:defRPr/>
                      </a:pPr>
                      <a:r>
                        <a:rPr lang="en-US" sz="1899">
                          <a:solidFill>
                            <a:srgbClr val="000000"/>
                          </a:solidFill>
                          <a:latin typeface="Alatsi"/>
                          <a:ea typeface="Alatsi"/>
                          <a:cs typeface="Alatsi"/>
                          <a:sym typeface="Alatsi"/>
                        </a:rPr>
                        <a:t>2023</a:t>
                      </a:r>
                      <a:endParaRPr lang="en-US" sz="1100"/>
                    </a:p>
                  </a:txBody>
                  <a:tcPr marL="190500" marR="190500" marT="190500" marB="190500" anchor="ctr">
                    <a:lnL cmpd="sng" algn="ctr" cap="flat" w="38100">
                      <a:solidFill>
                        <a:srgbClr val="972121"/>
                      </a:solidFill>
                      <a:prstDash val="solid"/>
                      <a:round/>
                      <a:headEnd type="none" w="med" len="med"/>
                      <a:tailEnd type="none" w="med" len="med"/>
                    </a:lnL>
                    <a:lnR cmpd="sng" algn="ctr" cap="flat" w="38100">
                      <a:solidFill>
                        <a:srgbClr val="972121"/>
                      </a:solidFill>
                      <a:prstDash val="solid"/>
                      <a:round/>
                      <a:headEnd type="none" w="med" len="med"/>
                      <a:tailEnd type="none" w="med" len="med"/>
                    </a:lnR>
                    <a:lnT cmpd="sng" algn="ctr" cap="flat" w="38100">
                      <a:solidFill>
                        <a:srgbClr val="972121"/>
                      </a:solidFill>
                      <a:prstDash val="solid"/>
                      <a:round/>
                      <a:headEnd type="none" w="med" len="med"/>
                      <a:tailEnd type="none" w="med" len="med"/>
                    </a:lnT>
                    <a:lnB cmpd="sng" algn="ctr" cap="flat" w="38100">
                      <a:solidFill>
                        <a:srgbClr val="972121"/>
                      </a:solidFill>
                      <a:prstDash val="solid"/>
                      <a:round/>
                      <a:headEnd type="none" w="med" len="med"/>
                      <a:tailEnd type="none" w="med" len="med"/>
                    </a:lnB>
                  </a:tcPr>
                </a:tc>
                <a:tc>
                  <a:txBody>
                    <a:bodyPr anchor="t" rtlCol="false"/>
                    <a:lstStyle/>
                    <a:p>
                      <a:pPr algn="just">
                        <a:lnSpc>
                          <a:spcPts val="2659"/>
                        </a:lnSpc>
                        <a:defRPr/>
                      </a:pPr>
                      <a:r>
                        <a:rPr lang="en-US" sz="1899">
                          <a:solidFill>
                            <a:srgbClr val="000000"/>
                          </a:solidFill>
                          <a:latin typeface="Alatsi"/>
                          <a:ea typeface="Alatsi"/>
                          <a:cs typeface="Alatsi"/>
                          <a:sym typeface="Alatsi"/>
                        </a:rPr>
                        <a:t>Houda Meddeb, Zouhaira Abdellaoui, and Firas Houaidi.</a:t>
                      </a:r>
                      <a:endParaRPr lang="en-US" sz="1100"/>
                    </a:p>
                  </a:txBody>
                  <a:tcPr marL="190500" marR="190500" marT="190500" marB="190500" anchor="ctr">
                    <a:lnL cmpd="sng" algn="ctr" cap="flat" w="38100">
                      <a:solidFill>
                        <a:srgbClr val="972121"/>
                      </a:solidFill>
                      <a:prstDash val="solid"/>
                      <a:round/>
                      <a:headEnd type="none" w="med" len="med"/>
                      <a:tailEnd type="none" w="med" len="med"/>
                    </a:lnL>
                    <a:lnR cmpd="sng" algn="ctr" cap="flat" w="38100">
                      <a:solidFill>
                        <a:srgbClr val="972121"/>
                      </a:solidFill>
                      <a:prstDash val="solid"/>
                      <a:round/>
                      <a:headEnd type="none" w="med" len="med"/>
                      <a:tailEnd type="none" w="med" len="med"/>
                    </a:lnR>
                    <a:lnT cmpd="sng" algn="ctr" cap="flat" w="38100">
                      <a:solidFill>
                        <a:srgbClr val="972121"/>
                      </a:solidFill>
                      <a:prstDash val="solid"/>
                      <a:round/>
                      <a:headEnd type="none" w="med" len="med"/>
                      <a:tailEnd type="none" w="med" len="med"/>
                    </a:lnT>
                    <a:lnB cmpd="sng" algn="ctr" cap="flat" w="38100">
                      <a:solidFill>
                        <a:srgbClr val="972121"/>
                      </a:solidFill>
                      <a:prstDash val="solid"/>
                      <a:round/>
                      <a:headEnd type="none" w="med" len="med"/>
                      <a:tailEnd type="none" w="med" len="med"/>
                    </a:lnB>
                  </a:tcPr>
                </a:tc>
                <a:tc>
                  <a:txBody>
                    <a:bodyPr anchor="t" rtlCol="false"/>
                    <a:lstStyle/>
                    <a:p>
                      <a:pPr algn="just">
                        <a:lnSpc>
                          <a:spcPts val="2659"/>
                        </a:lnSpc>
                        <a:defRPr/>
                      </a:pPr>
                      <a:r>
                        <a:rPr lang="en-US" sz="1899">
                          <a:solidFill>
                            <a:srgbClr val="000000"/>
                          </a:solidFill>
                          <a:latin typeface="Alatsi"/>
                          <a:ea typeface="Alatsi"/>
                          <a:cs typeface="Alatsi"/>
                          <a:sym typeface="Alatsi"/>
                        </a:rPr>
                        <a:t>Development of surveillance robot based on face recognition using Raspberry-PI and IOT</a:t>
                      </a:r>
                      <a:endParaRPr lang="en-US" sz="1100"/>
                    </a:p>
                  </a:txBody>
                  <a:tcPr marL="190500" marR="190500" marT="190500" marB="190500" anchor="ctr">
                    <a:lnL cmpd="sng" algn="ctr" cap="flat" w="38100">
                      <a:solidFill>
                        <a:srgbClr val="972121"/>
                      </a:solidFill>
                      <a:prstDash val="solid"/>
                      <a:round/>
                      <a:headEnd type="none" w="med" len="med"/>
                      <a:tailEnd type="none" w="med" len="med"/>
                    </a:lnL>
                    <a:lnR cmpd="sng" algn="ctr" cap="flat" w="38100">
                      <a:solidFill>
                        <a:srgbClr val="972121"/>
                      </a:solidFill>
                      <a:prstDash val="solid"/>
                      <a:round/>
                      <a:headEnd type="none" w="med" len="med"/>
                      <a:tailEnd type="none" w="med" len="med"/>
                    </a:lnR>
                    <a:lnT cmpd="sng" algn="ctr" cap="flat" w="38100">
                      <a:solidFill>
                        <a:srgbClr val="972121"/>
                      </a:solidFill>
                      <a:prstDash val="solid"/>
                      <a:round/>
                      <a:headEnd type="none" w="med" len="med"/>
                      <a:tailEnd type="none" w="med" len="med"/>
                    </a:lnT>
                    <a:lnB cmpd="sng" algn="ctr" cap="flat" w="38100">
                      <a:solidFill>
                        <a:srgbClr val="972121"/>
                      </a:solidFill>
                      <a:prstDash val="solid"/>
                      <a:round/>
                      <a:headEnd type="none" w="med" len="med"/>
                      <a:tailEnd type="none" w="med" len="med"/>
                    </a:lnB>
                  </a:tcPr>
                </a:tc>
                <a:tc>
                  <a:txBody>
                    <a:bodyPr anchor="t" rtlCol="false"/>
                    <a:lstStyle/>
                    <a:p>
                      <a:pPr algn="just">
                        <a:lnSpc>
                          <a:spcPts val="2659"/>
                        </a:lnSpc>
                        <a:defRPr/>
                      </a:pPr>
                      <a:r>
                        <a:rPr lang="en-US" sz="1899">
                          <a:solidFill>
                            <a:srgbClr val="000000"/>
                          </a:solidFill>
                          <a:latin typeface="Alatsi"/>
                          <a:ea typeface="Alatsi"/>
                          <a:cs typeface="Alatsi"/>
                          <a:sym typeface="Alatsi"/>
                        </a:rPr>
                        <a:t>Microprocessors and Microsystems</a:t>
                      </a:r>
                      <a:endParaRPr lang="en-US" sz="1100"/>
                    </a:p>
                    <a:p>
                      <a:pPr algn="just">
                        <a:lnSpc>
                          <a:spcPts val="2659"/>
                        </a:lnSpc>
                      </a:pPr>
                    </a:p>
                  </a:txBody>
                  <a:tcPr marL="190500" marR="190500" marT="190500" marB="190500" anchor="ctr">
                    <a:lnL cmpd="sng" algn="ctr" cap="flat" w="38100">
                      <a:solidFill>
                        <a:srgbClr val="972121"/>
                      </a:solidFill>
                      <a:prstDash val="solid"/>
                      <a:round/>
                      <a:headEnd type="none" w="med" len="med"/>
                      <a:tailEnd type="none" w="med" len="med"/>
                    </a:lnL>
                    <a:lnR cmpd="sng" algn="ctr" cap="flat" w="38100">
                      <a:solidFill>
                        <a:srgbClr val="972121"/>
                      </a:solidFill>
                      <a:prstDash val="solid"/>
                      <a:round/>
                      <a:headEnd type="none" w="med" len="med"/>
                      <a:tailEnd type="none" w="med" len="med"/>
                    </a:lnR>
                    <a:lnT cmpd="sng" algn="ctr" cap="flat" w="38100">
                      <a:solidFill>
                        <a:srgbClr val="972121"/>
                      </a:solidFill>
                      <a:prstDash val="solid"/>
                      <a:round/>
                      <a:headEnd type="none" w="med" len="med"/>
                      <a:tailEnd type="none" w="med" len="med"/>
                    </a:lnT>
                    <a:lnB cmpd="sng" algn="ctr" cap="flat" w="38100">
                      <a:solidFill>
                        <a:srgbClr val="972121"/>
                      </a:solidFill>
                      <a:prstDash val="solid"/>
                      <a:round/>
                      <a:headEnd type="none" w="med" len="med"/>
                      <a:tailEnd type="none" w="med" len="med"/>
                    </a:lnB>
                  </a:tcPr>
                </a:tc>
                <a:tc>
                  <a:txBody>
                    <a:bodyPr anchor="t" rtlCol="false"/>
                    <a:lstStyle/>
                    <a:p>
                      <a:pPr algn="just">
                        <a:lnSpc>
                          <a:spcPts val="2939"/>
                        </a:lnSpc>
                        <a:defRPr/>
                      </a:pPr>
                      <a:r>
                        <a:rPr lang="en-US" sz="2099">
                          <a:solidFill>
                            <a:srgbClr val="000000"/>
                          </a:solidFill>
                          <a:latin typeface="Alatsi"/>
                          <a:ea typeface="Alatsi"/>
                          <a:cs typeface="Alatsi"/>
                          <a:sym typeface="Alatsi"/>
                        </a:rPr>
                        <a:t>Surveillance system, 93.33% accuracy for 15 faces, HAAR Classifier, LBPH Algorithm</a:t>
                      </a:r>
                      <a:endParaRPr lang="en-US" sz="1100"/>
                    </a:p>
                  </a:txBody>
                  <a:tcPr marL="190500" marR="190500" marT="190500" marB="190500" anchor="ctr">
                    <a:lnL cmpd="sng" algn="ctr" cap="flat" w="38100">
                      <a:solidFill>
                        <a:srgbClr val="972121"/>
                      </a:solidFill>
                      <a:prstDash val="solid"/>
                      <a:round/>
                      <a:headEnd type="none" w="med" len="med"/>
                      <a:tailEnd type="none" w="med" len="med"/>
                    </a:lnL>
                    <a:lnR cmpd="sng" algn="ctr" cap="flat" w="38100">
                      <a:solidFill>
                        <a:srgbClr val="972121"/>
                      </a:solidFill>
                      <a:prstDash val="solid"/>
                      <a:round/>
                      <a:headEnd type="none" w="med" len="med"/>
                      <a:tailEnd type="none" w="med" len="med"/>
                    </a:lnR>
                    <a:lnT cmpd="sng" algn="ctr" cap="flat" w="38100">
                      <a:solidFill>
                        <a:srgbClr val="972121"/>
                      </a:solidFill>
                      <a:prstDash val="solid"/>
                      <a:round/>
                      <a:headEnd type="none" w="med" len="med"/>
                      <a:tailEnd type="none" w="med" len="med"/>
                    </a:lnT>
                    <a:lnB cmpd="sng" algn="ctr" cap="flat" w="38100">
                      <a:solidFill>
                        <a:srgbClr val="972121"/>
                      </a:solidFill>
                      <a:prstDash val="solid"/>
                      <a:round/>
                      <a:headEnd type="none" w="med" len="med"/>
                      <a:tailEnd type="none" w="med" len="med"/>
                    </a:lnB>
                  </a:tcPr>
                </a:tc>
              </a:tr>
              <a:tr h="2608796">
                <a:tc>
                  <a:txBody>
                    <a:bodyPr anchor="t" rtlCol="false"/>
                    <a:lstStyle/>
                    <a:p>
                      <a:pPr algn="just">
                        <a:lnSpc>
                          <a:spcPts val="2659"/>
                        </a:lnSpc>
                        <a:defRPr/>
                      </a:pPr>
                      <a:r>
                        <a:rPr lang="en-US" sz="1899">
                          <a:solidFill>
                            <a:srgbClr val="000000"/>
                          </a:solidFill>
                          <a:latin typeface="Alatsi"/>
                          <a:ea typeface="Alatsi"/>
                          <a:cs typeface="Alatsi"/>
                          <a:sym typeface="Alatsi"/>
                        </a:rPr>
                        <a:t>2</a:t>
                      </a:r>
                      <a:endParaRPr lang="en-US" sz="1100"/>
                    </a:p>
                  </a:txBody>
                  <a:tcPr marL="190500" marR="190500" marT="190500" marB="190500" anchor="ctr">
                    <a:lnL cmpd="sng" algn="ctr" cap="flat" w="38100">
                      <a:solidFill>
                        <a:srgbClr val="972121"/>
                      </a:solidFill>
                      <a:prstDash val="solid"/>
                      <a:round/>
                      <a:headEnd type="none" w="med" len="med"/>
                      <a:tailEnd type="none" w="med" len="med"/>
                    </a:lnL>
                    <a:lnR cmpd="sng" algn="ctr" cap="flat" w="38100">
                      <a:solidFill>
                        <a:srgbClr val="972121"/>
                      </a:solidFill>
                      <a:prstDash val="solid"/>
                      <a:round/>
                      <a:headEnd type="none" w="med" len="med"/>
                      <a:tailEnd type="none" w="med" len="med"/>
                    </a:lnR>
                    <a:lnT cmpd="sng" algn="ctr" cap="flat" w="38100">
                      <a:solidFill>
                        <a:srgbClr val="972121"/>
                      </a:solidFill>
                      <a:prstDash val="solid"/>
                      <a:round/>
                      <a:headEnd type="none" w="med" len="med"/>
                      <a:tailEnd type="none" w="med" len="med"/>
                    </a:lnT>
                    <a:lnB cmpd="sng" algn="ctr" cap="flat" w="38100">
                      <a:solidFill>
                        <a:srgbClr val="972121"/>
                      </a:solidFill>
                      <a:prstDash val="solid"/>
                      <a:round/>
                      <a:headEnd type="none" w="med" len="med"/>
                      <a:tailEnd type="none" w="med" len="med"/>
                    </a:lnB>
                  </a:tcPr>
                </a:tc>
                <a:tc>
                  <a:txBody>
                    <a:bodyPr anchor="t" rtlCol="false"/>
                    <a:lstStyle/>
                    <a:p>
                      <a:pPr algn="just">
                        <a:lnSpc>
                          <a:spcPts val="2659"/>
                        </a:lnSpc>
                        <a:defRPr/>
                      </a:pPr>
                      <a:r>
                        <a:rPr lang="en-US" sz="1899">
                          <a:solidFill>
                            <a:srgbClr val="000000"/>
                          </a:solidFill>
                          <a:latin typeface="Alatsi"/>
                          <a:ea typeface="Alatsi"/>
                          <a:cs typeface="Alatsi"/>
                          <a:sym typeface="Alatsi"/>
                        </a:rPr>
                        <a:t>2022</a:t>
                      </a:r>
                      <a:endParaRPr lang="en-US" sz="1100"/>
                    </a:p>
                  </a:txBody>
                  <a:tcPr marL="190500" marR="190500" marT="190500" marB="190500" anchor="ctr">
                    <a:lnL cmpd="sng" algn="ctr" cap="flat" w="38100">
                      <a:solidFill>
                        <a:srgbClr val="972121"/>
                      </a:solidFill>
                      <a:prstDash val="solid"/>
                      <a:round/>
                      <a:headEnd type="none" w="med" len="med"/>
                      <a:tailEnd type="none" w="med" len="med"/>
                    </a:lnL>
                    <a:lnR cmpd="sng" algn="ctr" cap="flat" w="38100">
                      <a:solidFill>
                        <a:srgbClr val="972121"/>
                      </a:solidFill>
                      <a:prstDash val="solid"/>
                      <a:round/>
                      <a:headEnd type="none" w="med" len="med"/>
                      <a:tailEnd type="none" w="med" len="med"/>
                    </a:lnR>
                    <a:lnT cmpd="sng" algn="ctr" cap="flat" w="38100">
                      <a:solidFill>
                        <a:srgbClr val="972121"/>
                      </a:solidFill>
                      <a:prstDash val="solid"/>
                      <a:round/>
                      <a:headEnd type="none" w="med" len="med"/>
                      <a:tailEnd type="none" w="med" len="med"/>
                    </a:lnT>
                    <a:lnB cmpd="sng" algn="ctr" cap="flat" w="38100">
                      <a:solidFill>
                        <a:srgbClr val="972121"/>
                      </a:solidFill>
                      <a:prstDash val="solid"/>
                      <a:round/>
                      <a:headEnd type="none" w="med" len="med"/>
                      <a:tailEnd type="none" w="med" len="med"/>
                    </a:lnB>
                  </a:tcPr>
                </a:tc>
                <a:tc>
                  <a:txBody>
                    <a:bodyPr anchor="t" rtlCol="false"/>
                    <a:lstStyle/>
                    <a:p>
                      <a:pPr algn="just">
                        <a:lnSpc>
                          <a:spcPts val="2659"/>
                        </a:lnSpc>
                        <a:defRPr/>
                      </a:pPr>
                      <a:r>
                        <a:rPr lang="en-US" sz="1899">
                          <a:solidFill>
                            <a:srgbClr val="000000"/>
                          </a:solidFill>
                          <a:latin typeface="Alatsi"/>
                          <a:ea typeface="Alatsi"/>
                          <a:cs typeface="Alatsi"/>
                          <a:sym typeface="Alatsi"/>
                        </a:rPr>
                        <a:t>Bhavyalakshmi R , B. P. Harish</a:t>
                      </a:r>
                      <a:endParaRPr lang="en-US" sz="1100"/>
                    </a:p>
                  </a:txBody>
                  <a:tcPr marL="190500" marR="190500" marT="190500" marB="190500" anchor="ctr">
                    <a:lnL cmpd="sng" algn="ctr" cap="flat" w="38100">
                      <a:solidFill>
                        <a:srgbClr val="972121"/>
                      </a:solidFill>
                      <a:prstDash val="solid"/>
                      <a:round/>
                      <a:headEnd type="none" w="med" len="med"/>
                      <a:tailEnd type="none" w="med" len="med"/>
                    </a:lnL>
                    <a:lnR cmpd="sng" algn="ctr" cap="flat" w="38100">
                      <a:solidFill>
                        <a:srgbClr val="972121"/>
                      </a:solidFill>
                      <a:prstDash val="solid"/>
                      <a:round/>
                      <a:headEnd type="none" w="med" len="med"/>
                      <a:tailEnd type="none" w="med" len="med"/>
                    </a:lnR>
                    <a:lnT cmpd="sng" algn="ctr" cap="flat" w="38100">
                      <a:solidFill>
                        <a:srgbClr val="972121"/>
                      </a:solidFill>
                      <a:prstDash val="solid"/>
                      <a:round/>
                      <a:headEnd type="none" w="med" len="med"/>
                      <a:tailEnd type="none" w="med" len="med"/>
                    </a:lnT>
                    <a:lnB cmpd="sng" algn="ctr" cap="flat" w="38100">
                      <a:solidFill>
                        <a:srgbClr val="972121"/>
                      </a:solidFill>
                      <a:prstDash val="solid"/>
                      <a:round/>
                      <a:headEnd type="none" w="med" len="med"/>
                      <a:tailEnd type="none" w="med" len="med"/>
                    </a:lnB>
                  </a:tcPr>
                </a:tc>
                <a:tc>
                  <a:txBody>
                    <a:bodyPr anchor="t" rtlCol="false"/>
                    <a:lstStyle/>
                    <a:p>
                      <a:pPr algn="l">
                        <a:lnSpc>
                          <a:spcPts val="2659"/>
                        </a:lnSpc>
                        <a:defRPr/>
                      </a:pPr>
                      <a:r>
                        <a:rPr lang="en-US" sz="1899">
                          <a:solidFill>
                            <a:srgbClr val="000000"/>
                          </a:solidFill>
                          <a:latin typeface="Alatsi"/>
                          <a:ea typeface="Alatsi"/>
                          <a:cs typeface="Alatsi"/>
                          <a:sym typeface="Alatsi"/>
                        </a:rPr>
                        <a:t>Surveillance Robot with Face Recognition using Raspberry Pi</a:t>
                      </a:r>
                      <a:endParaRPr lang="en-US" sz="1100"/>
                    </a:p>
                  </a:txBody>
                  <a:tcPr marL="190500" marR="190500" marT="190500" marB="190500" anchor="ctr">
                    <a:lnL cmpd="sng" algn="ctr" cap="flat" w="38100">
                      <a:solidFill>
                        <a:srgbClr val="972121"/>
                      </a:solidFill>
                      <a:prstDash val="solid"/>
                      <a:round/>
                      <a:headEnd type="none" w="med" len="med"/>
                      <a:tailEnd type="none" w="med" len="med"/>
                    </a:lnL>
                    <a:lnR cmpd="sng" algn="ctr" cap="flat" w="38100">
                      <a:solidFill>
                        <a:srgbClr val="972121"/>
                      </a:solidFill>
                      <a:prstDash val="solid"/>
                      <a:round/>
                      <a:headEnd type="none" w="med" len="med"/>
                      <a:tailEnd type="none" w="med" len="med"/>
                    </a:lnR>
                    <a:lnT cmpd="sng" algn="ctr" cap="flat" w="38100">
                      <a:solidFill>
                        <a:srgbClr val="972121"/>
                      </a:solidFill>
                      <a:prstDash val="solid"/>
                      <a:round/>
                      <a:headEnd type="none" w="med" len="med"/>
                      <a:tailEnd type="none" w="med" len="med"/>
                    </a:lnT>
                    <a:lnB cmpd="sng" algn="ctr" cap="flat" w="38100">
                      <a:solidFill>
                        <a:srgbClr val="972121"/>
                      </a:solidFill>
                      <a:prstDash val="solid"/>
                      <a:round/>
                      <a:headEnd type="none" w="med" len="med"/>
                      <a:tailEnd type="none" w="med" len="med"/>
                    </a:lnB>
                  </a:tcPr>
                </a:tc>
                <a:tc>
                  <a:txBody>
                    <a:bodyPr anchor="t" rtlCol="false"/>
                    <a:lstStyle/>
                    <a:p>
                      <a:pPr algn="just">
                        <a:lnSpc>
                          <a:spcPts val="2659"/>
                        </a:lnSpc>
                        <a:defRPr/>
                      </a:pPr>
                      <a:r>
                        <a:rPr lang="en-US" sz="1899">
                          <a:solidFill>
                            <a:srgbClr val="000000"/>
                          </a:solidFill>
                          <a:latin typeface="Alatsi"/>
                          <a:ea typeface="Alatsi"/>
                          <a:cs typeface="Alatsi"/>
                          <a:sym typeface="Alatsi"/>
                        </a:rPr>
                        <a:t>INTERNATIONAL JOURNAL OF ENGINEERING RESEARCH &amp; TECHNOLOGY (IJERT) </a:t>
                      </a:r>
                      <a:endParaRPr lang="en-US" sz="1100"/>
                    </a:p>
                  </a:txBody>
                  <a:tcPr marL="190500" marR="190500" marT="190500" marB="190500" anchor="ctr">
                    <a:lnL cmpd="sng" algn="ctr" cap="flat" w="38100">
                      <a:solidFill>
                        <a:srgbClr val="972121"/>
                      </a:solidFill>
                      <a:prstDash val="solid"/>
                      <a:round/>
                      <a:headEnd type="none" w="med" len="med"/>
                      <a:tailEnd type="none" w="med" len="med"/>
                    </a:lnL>
                    <a:lnR cmpd="sng" algn="ctr" cap="flat" w="38100">
                      <a:solidFill>
                        <a:srgbClr val="972121"/>
                      </a:solidFill>
                      <a:prstDash val="solid"/>
                      <a:round/>
                      <a:headEnd type="none" w="med" len="med"/>
                      <a:tailEnd type="none" w="med" len="med"/>
                    </a:lnR>
                    <a:lnT cmpd="sng" algn="ctr" cap="flat" w="38100">
                      <a:solidFill>
                        <a:srgbClr val="972121"/>
                      </a:solidFill>
                      <a:prstDash val="solid"/>
                      <a:round/>
                      <a:headEnd type="none" w="med" len="med"/>
                      <a:tailEnd type="none" w="med" len="med"/>
                    </a:lnT>
                    <a:lnB cmpd="sng" algn="ctr" cap="flat" w="38100">
                      <a:solidFill>
                        <a:srgbClr val="972121"/>
                      </a:solidFill>
                      <a:prstDash val="solid"/>
                      <a:round/>
                      <a:headEnd type="none" w="med" len="med"/>
                      <a:tailEnd type="none" w="med" len="med"/>
                    </a:lnB>
                  </a:tcPr>
                </a:tc>
                <a:tc>
                  <a:txBody>
                    <a:bodyPr anchor="t" rtlCol="false"/>
                    <a:lstStyle/>
                    <a:p>
                      <a:pPr algn="just">
                        <a:lnSpc>
                          <a:spcPts val="3219"/>
                        </a:lnSpc>
                        <a:defRPr/>
                      </a:pPr>
                      <a:r>
                        <a:rPr lang="en-US" sz="2299">
                          <a:solidFill>
                            <a:srgbClr val="000000"/>
                          </a:solidFill>
                          <a:latin typeface="Alatsi"/>
                          <a:ea typeface="Alatsi"/>
                          <a:cs typeface="Alatsi"/>
                          <a:sym typeface="Alatsi"/>
                        </a:rPr>
                        <a:t>HaarClassifier, LBPH, SSD, Mobilenet Base Network</a:t>
                      </a:r>
                      <a:endParaRPr lang="en-US" sz="1100"/>
                    </a:p>
                  </a:txBody>
                  <a:tcPr marL="190500" marR="190500" marT="190500" marB="190500" anchor="ctr">
                    <a:lnL cmpd="sng" algn="ctr" cap="flat" w="38100">
                      <a:solidFill>
                        <a:srgbClr val="972121"/>
                      </a:solidFill>
                      <a:prstDash val="solid"/>
                      <a:round/>
                      <a:headEnd type="none" w="med" len="med"/>
                      <a:tailEnd type="none" w="med" len="med"/>
                    </a:lnL>
                    <a:lnR cmpd="sng" algn="ctr" cap="flat" w="38100">
                      <a:solidFill>
                        <a:srgbClr val="972121"/>
                      </a:solidFill>
                      <a:prstDash val="solid"/>
                      <a:round/>
                      <a:headEnd type="none" w="med" len="med"/>
                      <a:tailEnd type="none" w="med" len="med"/>
                    </a:lnR>
                    <a:lnT cmpd="sng" algn="ctr" cap="flat" w="38100">
                      <a:solidFill>
                        <a:srgbClr val="972121"/>
                      </a:solidFill>
                      <a:prstDash val="solid"/>
                      <a:round/>
                      <a:headEnd type="none" w="med" len="med"/>
                      <a:tailEnd type="none" w="med" len="med"/>
                    </a:lnT>
                    <a:lnB cmpd="sng" algn="ctr" cap="flat" w="38100">
                      <a:solidFill>
                        <a:srgbClr val="972121"/>
                      </a:solidFill>
                      <a:prstDash val="solid"/>
                      <a:round/>
                      <a:headEnd type="none" w="med" len="med"/>
                      <a:tailEnd type="none" w="med" len="med"/>
                    </a:lnB>
                  </a:tcPr>
                </a:tc>
              </a:tr>
            </a:tbl>
          </a:graphicData>
        </a:graphic>
      </p:graphicFrame>
      <p:sp>
        <p:nvSpPr>
          <p:cNvPr name="TextBox 16" id="16"/>
          <p:cNvSpPr txBox="true"/>
          <p:nvPr/>
        </p:nvSpPr>
        <p:spPr>
          <a:xfrm rot="0">
            <a:off x="1564423" y="251472"/>
            <a:ext cx="9332841" cy="1450974"/>
          </a:xfrm>
          <a:prstGeom prst="rect">
            <a:avLst/>
          </a:prstGeom>
        </p:spPr>
        <p:txBody>
          <a:bodyPr anchor="t" rtlCol="false" tIns="0" lIns="0" bIns="0" rIns="0">
            <a:spAutoFit/>
          </a:bodyPr>
          <a:lstStyle/>
          <a:p>
            <a:pPr algn="l">
              <a:lnSpc>
                <a:spcPts val="11900"/>
              </a:lnSpc>
            </a:pPr>
            <a:r>
              <a:rPr lang="en-US" sz="8500">
                <a:solidFill>
                  <a:srgbClr val="000000"/>
                </a:solidFill>
                <a:latin typeface="Alatsi"/>
                <a:ea typeface="Alatsi"/>
                <a:cs typeface="Alatsi"/>
                <a:sym typeface="Alatsi"/>
              </a:rPr>
              <a:t>RESEARCH PAPERS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grpSp>
        <p:nvGrpSpPr>
          <p:cNvPr name="Group 2" id="2"/>
          <p:cNvGrpSpPr/>
          <p:nvPr/>
        </p:nvGrpSpPr>
        <p:grpSpPr>
          <a:xfrm rot="0">
            <a:off x="627362" y="0"/>
            <a:ext cx="937061" cy="10287000"/>
            <a:chOff x="0" y="0"/>
            <a:chExt cx="246798" cy="2709333"/>
          </a:xfrm>
        </p:grpSpPr>
        <p:sp>
          <p:nvSpPr>
            <p:cNvPr name="Freeform 3" id="3"/>
            <p:cNvSpPr/>
            <p:nvPr/>
          </p:nvSpPr>
          <p:spPr>
            <a:xfrm flipH="false" flipV="false" rot="0">
              <a:off x="0" y="0"/>
              <a:ext cx="246798" cy="2709333"/>
            </a:xfrm>
            <a:custGeom>
              <a:avLst/>
              <a:gdLst/>
              <a:ahLst/>
              <a:cxnLst/>
              <a:rect r="r" b="b" t="t" l="l"/>
              <a:pathLst>
                <a:path h="2709333" w="246798">
                  <a:moveTo>
                    <a:pt x="0" y="0"/>
                  </a:moveTo>
                  <a:lnTo>
                    <a:pt x="246798" y="0"/>
                  </a:lnTo>
                  <a:lnTo>
                    <a:pt x="246798" y="2709333"/>
                  </a:lnTo>
                  <a:lnTo>
                    <a:pt x="0" y="2709333"/>
                  </a:lnTo>
                  <a:close/>
                </a:path>
              </a:pathLst>
            </a:custGeom>
            <a:solidFill>
              <a:srgbClr val="F6F3EB"/>
            </a:solidFill>
          </p:spPr>
        </p:sp>
        <p:sp>
          <p:nvSpPr>
            <p:cNvPr name="TextBox 4" id="4"/>
            <p:cNvSpPr txBox="true"/>
            <p:nvPr/>
          </p:nvSpPr>
          <p:spPr>
            <a:xfrm>
              <a:off x="0" y="-38100"/>
              <a:ext cx="246798" cy="2747433"/>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5400000">
            <a:off x="-2373736" y="4911090"/>
            <a:ext cx="6882108" cy="464820"/>
          </a:xfrm>
          <a:prstGeom prst="rect">
            <a:avLst/>
          </a:prstGeom>
        </p:spPr>
        <p:txBody>
          <a:bodyPr anchor="t" rtlCol="false" tIns="0" lIns="0" bIns="0" rIns="0">
            <a:spAutoFit/>
          </a:bodyPr>
          <a:lstStyle/>
          <a:p>
            <a:pPr algn="ctr">
              <a:lnSpc>
                <a:spcPts val="3779"/>
              </a:lnSpc>
            </a:pPr>
            <a:r>
              <a:rPr lang="en-US" sz="2700">
                <a:solidFill>
                  <a:srgbClr val="000000"/>
                </a:solidFill>
                <a:latin typeface="Alatsi"/>
                <a:ea typeface="Alatsi"/>
                <a:cs typeface="Alatsi"/>
                <a:sym typeface="Alatsi"/>
              </a:rPr>
              <a:t>CBIT/IT/2024-25/IT1/106 </a:t>
            </a:r>
          </a:p>
        </p:txBody>
      </p:sp>
      <p:sp>
        <p:nvSpPr>
          <p:cNvPr name="AutoShape 6" id="6"/>
          <p:cNvSpPr/>
          <p:nvPr/>
        </p:nvSpPr>
        <p:spPr>
          <a:xfrm flipH="true" flipV="true">
            <a:off x="1085850" y="7289441"/>
            <a:ext cx="5403" cy="2997456"/>
          </a:xfrm>
          <a:prstGeom prst="line">
            <a:avLst/>
          </a:prstGeom>
          <a:ln cap="flat" w="114300">
            <a:solidFill>
              <a:srgbClr val="727D3D"/>
            </a:solidFill>
            <a:prstDash val="solid"/>
            <a:headEnd type="none" len="sm" w="sm"/>
            <a:tailEnd type="none" len="sm" w="sm"/>
          </a:ln>
        </p:spPr>
      </p:sp>
      <p:sp>
        <p:nvSpPr>
          <p:cNvPr name="AutoShape 7" id="7"/>
          <p:cNvSpPr/>
          <p:nvPr/>
        </p:nvSpPr>
        <p:spPr>
          <a:xfrm flipH="true" flipV="true">
            <a:off x="1090490" y="-104525"/>
            <a:ext cx="5403" cy="2997456"/>
          </a:xfrm>
          <a:prstGeom prst="line">
            <a:avLst/>
          </a:prstGeom>
          <a:ln cap="flat" w="114300">
            <a:solidFill>
              <a:srgbClr val="727D3D"/>
            </a:solidFill>
            <a:prstDash val="solid"/>
            <a:headEnd type="none" len="sm" w="sm"/>
            <a:tailEnd type="none" len="sm" w="sm"/>
          </a:ln>
        </p:spPr>
      </p:sp>
      <p:grpSp>
        <p:nvGrpSpPr>
          <p:cNvPr name="Group 8" id="8"/>
          <p:cNvGrpSpPr/>
          <p:nvPr/>
        </p:nvGrpSpPr>
        <p:grpSpPr>
          <a:xfrm rot="0">
            <a:off x="15859155" y="0"/>
            <a:ext cx="1562612" cy="1673225"/>
            <a:chOff x="0" y="0"/>
            <a:chExt cx="2083482" cy="2230967"/>
          </a:xfrm>
        </p:grpSpPr>
        <p:grpSp>
          <p:nvGrpSpPr>
            <p:cNvPr name="Group 9" id="9"/>
            <p:cNvGrpSpPr/>
            <p:nvPr/>
          </p:nvGrpSpPr>
          <p:grpSpPr>
            <a:xfrm rot="0">
              <a:off x="75599" y="0"/>
              <a:ext cx="1932284" cy="2230967"/>
              <a:chOff x="0" y="0"/>
              <a:chExt cx="703982" cy="812800"/>
            </a:xfrm>
          </p:grpSpPr>
          <p:sp>
            <p:nvSpPr>
              <p:cNvPr name="Freeform 10" id="10"/>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727D3D"/>
              </a:solidFill>
            </p:spPr>
          </p:sp>
          <p:sp>
            <p:nvSpPr>
              <p:cNvPr name="TextBox 11" id="11"/>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b="true">
                  <a:solidFill>
                    <a:srgbClr val="000000"/>
                  </a:solidFill>
                  <a:latin typeface="Open Sans Bold"/>
                  <a:ea typeface="Open Sans Bold"/>
                  <a:cs typeface="Open Sans Bold"/>
                  <a:sym typeface="Open Sans Bold"/>
                </a:rPr>
                <a:t>6</a:t>
              </a:r>
            </a:p>
          </p:txBody>
        </p:sp>
      </p:grpSp>
      <p:sp>
        <p:nvSpPr>
          <p:cNvPr name="Freeform 13" id="13"/>
          <p:cNvSpPr/>
          <p:nvPr/>
        </p:nvSpPr>
        <p:spPr>
          <a:xfrm flipH="false" flipV="false" rot="0">
            <a:off x="8147188" y="-1238892"/>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1804788" y="9258300"/>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15" id="15"/>
          <p:cNvGraphicFramePr>
            <a:graphicFrameLocks noGrp="true"/>
          </p:cNvGraphicFramePr>
          <p:nvPr/>
        </p:nvGraphicFramePr>
        <p:xfrm>
          <a:off x="1564423" y="1702446"/>
          <a:ext cx="16256742" cy="8286115"/>
        </p:xfrm>
        <a:graphic>
          <a:graphicData uri="http://schemas.openxmlformats.org/drawingml/2006/table">
            <a:tbl>
              <a:tblPr/>
              <a:tblGrid>
                <a:gridCol w="1069404"/>
                <a:gridCol w="1293594"/>
                <a:gridCol w="2378062"/>
                <a:gridCol w="3261284"/>
                <a:gridCol w="2494093"/>
                <a:gridCol w="5760305"/>
              </a:tblGrid>
              <a:tr h="1186556">
                <a:tc>
                  <a:txBody>
                    <a:bodyPr anchor="t" rtlCol="false"/>
                    <a:lstStyle/>
                    <a:p>
                      <a:pPr algn="just">
                        <a:lnSpc>
                          <a:spcPts val="3219"/>
                        </a:lnSpc>
                        <a:defRPr/>
                      </a:pPr>
                      <a:r>
                        <a:rPr lang="en-US" sz="2299">
                          <a:solidFill>
                            <a:srgbClr val="E9E0D9"/>
                          </a:solidFill>
                          <a:latin typeface="Alatsi"/>
                          <a:ea typeface="Alatsi"/>
                          <a:cs typeface="Alatsi"/>
                          <a:sym typeface="Alatsi"/>
                        </a:rPr>
                        <a:t>s. no.</a:t>
                      </a:r>
                      <a:endParaRPr lang="en-US" sz="1100"/>
                    </a:p>
                  </a:txBody>
                  <a:tcPr marL="190500" marR="190500" marT="190500" marB="190500" anchor="ctr">
                    <a:lnL cmpd="sng" algn="ctr" cap="flat" w="38100">
                      <a:solidFill>
                        <a:srgbClr val="972121"/>
                      </a:solidFill>
                      <a:prstDash val="solid"/>
                      <a:round/>
                      <a:headEnd type="none" w="med" len="med"/>
                      <a:tailEnd type="none" w="med" len="med"/>
                    </a:lnL>
                    <a:lnR cmpd="sng" algn="ctr" cap="flat" w="38100">
                      <a:solidFill>
                        <a:srgbClr val="972121"/>
                      </a:solidFill>
                      <a:prstDash val="solid"/>
                      <a:round/>
                      <a:headEnd type="none" w="med" len="med"/>
                      <a:tailEnd type="none" w="med" len="med"/>
                    </a:lnR>
                    <a:lnT cmpd="sng" algn="ctr" cap="flat" w="38100">
                      <a:solidFill>
                        <a:srgbClr val="972121"/>
                      </a:solidFill>
                      <a:prstDash val="solid"/>
                      <a:round/>
                      <a:headEnd type="none" w="med" len="med"/>
                      <a:tailEnd type="none" w="med" len="med"/>
                    </a:lnT>
                    <a:lnB cmpd="sng" algn="ctr" cap="flat" w="38100">
                      <a:solidFill>
                        <a:srgbClr val="972121"/>
                      </a:solidFill>
                      <a:prstDash val="solid"/>
                      <a:round/>
                      <a:headEnd type="none" w="med" len="med"/>
                      <a:tailEnd type="none" w="med" len="med"/>
                    </a:lnB>
                    <a:solidFill>
                      <a:srgbClr val="A06A14"/>
                    </a:solidFill>
                  </a:tcPr>
                </a:tc>
                <a:tc>
                  <a:txBody>
                    <a:bodyPr anchor="t" rtlCol="false"/>
                    <a:lstStyle/>
                    <a:p>
                      <a:pPr algn="just">
                        <a:lnSpc>
                          <a:spcPts val="4059"/>
                        </a:lnSpc>
                        <a:defRPr/>
                      </a:pPr>
                      <a:r>
                        <a:rPr lang="en-US" sz="2899">
                          <a:solidFill>
                            <a:srgbClr val="E9E0D9"/>
                          </a:solidFill>
                          <a:latin typeface="Alatsi"/>
                          <a:ea typeface="Alatsi"/>
                          <a:cs typeface="Alatsi"/>
                          <a:sym typeface="Alatsi"/>
                        </a:rPr>
                        <a:t>year</a:t>
                      </a:r>
                      <a:endParaRPr lang="en-US" sz="1100"/>
                    </a:p>
                  </a:txBody>
                  <a:tcPr marL="190500" marR="190500" marT="190500" marB="190500" anchor="ctr">
                    <a:lnL cmpd="sng" algn="ctr" cap="flat" w="38100">
                      <a:solidFill>
                        <a:srgbClr val="972121"/>
                      </a:solidFill>
                      <a:prstDash val="solid"/>
                      <a:round/>
                      <a:headEnd type="none" w="med" len="med"/>
                      <a:tailEnd type="none" w="med" len="med"/>
                    </a:lnL>
                    <a:lnR cmpd="sng" algn="ctr" cap="flat" w="38100">
                      <a:solidFill>
                        <a:srgbClr val="972121"/>
                      </a:solidFill>
                      <a:prstDash val="solid"/>
                      <a:round/>
                      <a:headEnd type="none" w="med" len="med"/>
                      <a:tailEnd type="none" w="med" len="med"/>
                    </a:lnR>
                    <a:lnT cmpd="sng" algn="ctr" cap="flat" w="38100">
                      <a:solidFill>
                        <a:srgbClr val="972121"/>
                      </a:solidFill>
                      <a:prstDash val="solid"/>
                      <a:round/>
                      <a:headEnd type="none" w="med" len="med"/>
                      <a:tailEnd type="none" w="med" len="med"/>
                    </a:lnT>
                    <a:lnB cmpd="sng" algn="ctr" cap="flat" w="38100">
                      <a:solidFill>
                        <a:srgbClr val="972121"/>
                      </a:solidFill>
                      <a:prstDash val="solid"/>
                      <a:round/>
                      <a:headEnd type="none" w="med" len="med"/>
                      <a:tailEnd type="none" w="med" len="med"/>
                    </a:lnB>
                    <a:solidFill>
                      <a:srgbClr val="A06A14"/>
                    </a:solidFill>
                  </a:tcPr>
                </a:tc>
                <a:tc>
                  <a:txBody>
                    <a:bodyPr anchor="t" rtlCol="false"/>
                    <a:lstStyle/>
                    <a:p>
                      <a:pPr algn="just">
                        <a:lnSpc>
                          <a:spcPts val="4059"/>
                        </a:lnSpc>
                        <a:defRPr/>
                      </a:pPr>
                      <a:r>
                        <a:rPr lang="en-US" sz="2899">
                          <a:solidFill>
                            <a:srgbClr val="E9E0D9"/>
                          </a:solidFill>
                          <a:latin typeface="Alatsi"/>
                          <a:ea typeface="Alatsi"/>
                          <a:cs typeface="Alatsi"/>
                          <a:sym typeface="Alatsi"/>
                        </a:rPr>
                        <a:t>Authors </a:t>
                      </a:r>
                      <a:endParaRPr lang="en-US" sz="1100"/>
                    </a:p>
                  </a:txBody>
                  <a:tcPr marL="190500" marR="190500" marT="190500" marB="190500" anchor="ctr">
                    <a:lnL cmpd="sng" algn="ctr" cap="flat" w="38100">
                      <a:solidFill>
                        <a:srgbClr val="972121"/>
                      </a:solidFill>
                      <a:prstDash val="solid"/>
                      <a:round/>
                      <a:headEnd type="none" w="med" len="med"/>
                      <a:tailEnd type="none" w="med" len="med"/>
                    </a:lnL>
                    <a:lnR cmpd="sng" algn="ctr" cap="flat" w="38100">
                      <a:solidFill>
                        <a:srgbClr val="972121"/>
                      </a:solidFill>
                      <a:prstDash val="solid"/>
                      <a:round/>
                      <a:headEnd type="none" w="med" len="med"/>
                      <a:tailEnd type="none" w="med" len="med"/>
                    </a:lnR>
                    <a:lnT cmpd="sng" algn="ctr" cap="flat" w="38100">
                      <a:solidFill>
                        <a:srgbClr val="972121"/>
                      </a:solidFill>
                      <a:prstDash val="solid"/>
                      <a:round/>
                      <a:headEnd type="none" w="med" len="med"/>
                      <a:tailEnd type="none" w="med" len="med"/>
                    </a:lnT>
                    <a:lnB cmpd="sng" algn="ctr" cap="flat" w="38100">
                      <a:solidFill>
                        <a:srgbClr val="972121"/>
                      </a:solidFill>
                      <a:prstDash val="solid"/>
                      <a:round/>
                      <a:headEnd type="none" w="med" len="med"/>
                      <a:tailEnd type="none" w="med" len="med"/>
                    </a:lnB>
                    <a:solidFill>
                      <a:srgbClr val="A06A14"/>
                    </a:solidFill>
                  </a:tcPr>
                </a:tc>
                <a:tc>
                  <a:txBody>
                    <a:bodyPr anchor="t" rtlCol="false"/>
                    <a:lstStyle/>
                    <a:p>
                      <a:pPr algn="just">
                        <a:lnSpc>
                          <a:spcPts val="4059"/>
                        </a:lnSpc>
                        <a:defRPr/>
                      </a:pPr>
                      <a:r>
                        <a:rPr lang="en-US" sz="2899">
                          <a:solidFill>
                            <a:srgbClr val="E9E0D9"/>
                          </a:solidFill>
                          <a:latin typeface="Alatsi"/>
                          <a:ea typeface="Alatsi"/>
                          <a:cs typeface="Alatsi"/>
                          <a:sym typeface="Alatsi"/>
                        </a:rPr>
                        <a:t>Title</a:t>
                      </a:r>
                      <a:endParaRPr lang="en-US" sz="1100"/>
                    </a:p>
                  </a:txBody>
                  <a:tcPr marL="190500" marR="190500" marT="190500" marB="190500" anchor="ctr">
                    <a:lnL cmpd="sng" algn="ctr" cap="flat" w="38100">
                      <a:solidFill>
                        <a:srgbClr val="972121"/>
                      </a:solidFill>
                      <a:prstDash val="solid"/>
                      <a:round/>
                      <a:headEnd type="none" w="med" len="med"/>
                      <a:tailEnd type="none" w="med" len="med"/>
                    </a:lnL>
                    <a:lnR cmpd="sng" algn="ctr" cap="flat" w="38100">
                      <a:solidFill>
                        <a:srgbClr val="972121"/>
                      </a:solidFill>
                      <a:prstDash val="solid"/>
                      <a:round/>
                      <a:headEnd type="none" w="med" len="med"/>
                      <a:tailEnd type="none" w="med" len="med"/>
                    </a:lnR>
                    <a:lnT cmpd="sng" algn="ctr" cap="flat" w="38100">
                      <a:solidFill>
                        <a:srgbClr val="972121"/>
                      </a:solidFill>
                      <a:prstDash val="solid"/>
                      <a:round/>
                      <a:headEnd type="none" w="med" len="med"/>
                      <a:tailEnd type="none" w="med" len="med"/>
                    </a:lnT>
                    <a:lnB cmpd="sng" algn="ctr" cap="flat" w="38100">
                      <a:solidFill>
                        <a:srgbClr val="972121"/>
                      </a:solidFill>
                      <a:prstDash val="solid"/>
                      <a:round/>
                      <a:headEnd type="none" w="med" len="med"/>
                      <a:tailEnd type="none" w="med" len="med"/>
                    </a:lnB>
                    <a:solidFill>
                      <a:srgbClr val="A06A14"/>
                    </a:solidFill>
                  </a:tcPr>
                </a:tc>
                <a:tc>
                  <a:txBody>
                    <a:bodyPr anchor="t" rtlCol="false"/>
                    <a:lstStyle/>
                    <a:p>
                      <a:pPr algn="just">
                        <a:lnSpc>
                          <a:spcPts val="4059"/>
                        </a:lnSpc>
                        <a:defRPr/>
                      </a:pPr>
                      <a:r>
                        <a:rPr lang="en-US" sz="2899">
                          <a:solidFill>
                            <a:srgbClr val="E9E0D9"/>
                          </a:solidFill>
                          <a:latin typeface="Alatsi"/>
                          <a:ea typeface="Alatsi"/>
                          <a:cs typeface="Alatsi"/>
                          <a:sym typeface="Alatsi"/>
                        </a:rPr>
                        <a:t>Journal</a:t>
                      </a:r>
                      <a:endParaRPr lang="en-US" sz="1100"/>
                    </a:p>
                  </a:txBody>
                  <a:tcPr marL="190500" marR="190500" marT="190500" marB="190500" anchor="ctr">
                    <a:lnL cmpd="sng" algn="ctr" cap="flat" w="38100">
                      <a:solidFill>
                        <a:srgbClr val="972121"/>
                      </a:solidFill>
                      <a:prstDash val="solid"/>
                      <a:round/>
                      <a:headEnd type="none" w="med" len="med"/>
                      <a:tailEnd type="none" w="med" len="med"/>
                    </a:lnL>
                    <a:lnR cmpd="sng" algn="ctr" cap="flat" w="38100">
                      <a:solidFill>
                        <a:srgbClr val="972121"/>
                      </a:solidFill>
                      <a:prstDash val="solid"/>
                      <a:round/>
                      <a:headEnd type="none" w="med" len="med"/>
                      <a:tailEnd type="none" w="med" len="med"/>
                    </a:lnR>
                    <a:lnT cmpd="sng" algn="ctr" cap="flat" w="38100">
                      <a:solidFill>
                        <a:srgbClr val="972121"/>
                      </a:solidFill>
                      <a:prstDash val="solid"/>
                      <a:round/>
                      <a:headEnd type="none" w="med" len="med"/>
                      <a:tailEnd type="none" w="med" len="med"/>
                    </a:lnT>
                    <a:lnB cmpd="sng" algn="ctr" cap="flat" w="38100">
                      <a:solidFill>
                        <a:srgbClr val="972121"/>
                      </a:solidFill>
                      <a:prstDash val="solid"/>
                      <a:round/>
                      <a:headEnd type="none" w="med" len="med"/>
                      <a:tailEnd type="none" w="med" len="med"/>
                    </a:lnB>
                    <a:solidFill>
                      <a:srgbClr val="A06A14"/>
                    </a:solidFill>
                  </a:tcPr>
                </a:tc>
                <a:tc>
                  <a:txBody>
                    <a:bodyPr anchor="t" rtlCol="false"/>
                    <a:lstStyle/>
                    <a:p>
                      <a:pPr algn="just">
                        <a:lnSpc>
                          <a:spcPts val="4059"/>
                        </a:lnSpc>
                        <a:defRPr/>
                      </a:pPr>
                      <a:r>
                        <a:rPr lang="en-US" sz="2899">
                          <a:solidFill>
                            <a:srgbClr val="E9E0D9"/>
                          </a:solidFill>
                          <a:latin typeface="Alatsi"/>
                          <a:ea typeface="Alatsi"/>
                          <a:cs typeface="Alatsi"/>
                          <a:sym typeface="Alatsi"/>
                        </a:rPr>
                        <a:t>Insights</a:t>
                      </a:r>
                      <a:endParaRPr lang="en-US" sz="1100"/>
                    </a:p>
                  </a:txBody>
                  <a:tcPr marL="190500" marR="190500" marT="190500" marB="190500" anchor="ctr">
                    <a:lnL cmpd="sng" algn="ctr" cap="flat" w="38100">
                      <a:solidFill>
                        <a:srgbClr val="972121"/>
                      </a:solidFill>
                      <a:prstDash val="solid"/>
                      <a:round/>
                      <a:headEnd type="none" w="med" len="med"/>
                      <a:tailEnd type="none" w="med" len="med"/>
                    </a:lnL>
                    <a:lnR cmpd="sng" algn="ctr" cap="flat" w="38100">
                      <a:solidFill>
                        <a:srgbClr val="972121"/>
                      </a:solidFill>
                      <a:prstDash val="solid"/>
                      <a:round/>
                      <a:headEnd type="none" w="med" len="med"/>
                      <a:tailEnd type="none" w="med" len="med"/>
                    </a:lnR>
                    <a:lnT cmpd="sng" algn="ctr" cap="flat" w="38100">
                      <a:solidFill>
                        <a:srgbClr val="972121"/>
                      </a:solidFill>
                      <a:prstDash val="solid"/>
                      <a:round/>
                      <a:headEnd type="none" w="med" len="med"/>
                      <a:tailEnd type="none" w="med" len="med"/>
                    </a:lnT>
                    <a:lnB cmpd="sng" algn="ctr" cap="flat" w="38100">
                      <a:solidFill>
                        <a:srgbClr val="972121"/>
                      </a:solidFill>
                      <a:prstDash val="solid"/>
                      <a:round/>
                      <a:headEnd type="none" w="med" len="med"/>
                      <a:tailEnd type="none" w="med" len="med"/>
                    </a:lnB>
                    <a:solidFill>
                      <a:srgbClr val="A06A14"/>
                    </a:solidFill>
                  </a:tcPr>
                </a:tc>
              </a:tr>
              <a:tr h="2588095">
                <a:tc>
                  <a:txBody>
                    <a:bodyPr anchor="t" rtlCol="false"/>
                    <a:lstStyle/>
                    <a:p>
                      <a:pPr algn="just">
                        <a:lnSpc>
                          <a:spcPts val="2659"/>
                        </a:lnSpc>
                        <a:defRPr/>
                      </a:pPr>
                      <a:r>
                        <a:rPr lang="en-US" sz="1899">
                          <a:solidFill>
                            <a:srgbClr val="000000"/>
                          </a:solidFill>
                          <a:latin typeface="Alatsi"/>
                          <a:ea typeface="Alatsi"/>
                          <a:cs typeface="Alatsi"/>
                          <a:sym typeface="Alatsi"/>
                        </a:rPr>
                        <a:t>3</a:t>
                      </a:r>
                      <a:endParaRPr lang="en-US" sz="1100"/>
                    </a:p>
                  </a:txBody>
                  <a:tcPr marL="190500" marR="190500" marT="190500" marB="190500" anchor="ctr">
                    <a:lnL cmpd="sng" algn="ctr" cap="flat" w="38100">
                      <a:solidFill>
                        <a:srgbClr val="972121"/>
                      </a:solidFill>
                      <a:prstDash val="solid"/>
                      <a:round/>
                      <a:headEnd type="none" w="med" len="med"/>
                      <a:tailEnd type="none" w="med" len="med"/>
                    </a:lnL>
                    <a:lnR cmpd="sng" algn="ctr" cap="flat" w="38100">
                      <a:solidFill>
                        <a:srgbClr val="972121"/>
                      </a:solidFill>
                      <a:prstDash val="solid"/>
                      <a:round/>
                      <a:headEnd type="none" w="med" len="med"/>
                      <a:tailEnd type="none" w="med" len="med"/>
                    </a:lnR>
                    <a:lnT cmpd="sng" algn="ctr" cap="flat" w="38100">
                      <a:solidFill>
                        <a:srgbClr val="972121"/>
                      </a:solidFill>
                      <a:prstDash val="solid"/>
                      <a:round/>
                      <a:headEnd type="none" w="med" len="med"/>
                      <a:tailEnd type="none" w="med" len="med"/>
                    </a:lnT>
                    <a:lnB cmpd="sng" algn="ctr" cap="flat" w="38100">
                      <a:solidFill>
                        <a:srgbClr val="972121"/>
                      </a:solidFill>
                      <a:prstDash val="solid"/>
                      <a:round/>
                      <a:headEnd type="none" w="med" len="med"/>
                      <a:tailEnd type="none" w="med" len="med"/>
                    </a:lnB>
                  </a:tcPr>
                </a:tc>
                <a:tc>
                  <a:txBody>
                    <a:bodyPr anchor="t" rtlCol="false"/>
                    <a:lstStyle/>
                    <a:p>
                      <a:pPr algn="just">
                        <a:lnSpc>
                          <a:spcPts val="2659"/>
                        </a:lnSpc>
                        <a:defRPr/>
                      </a:pPr>
                      <a:r>
                        <a:rPr lang="en-US" sz="1899">
                          <a:solidFill>
                            <a:srgbClr val="000000"/>
                          </a:solidFill>
                          <a:latin typeface="Alatsi"/>
                          <a:ea typeface="Alatsi"/>
                          <a:cs typeface="Alatsi"/>
                          <a:sym typeface="Alatsi"/>
                        </a:rPr>
                        <a:t>2022</a:t>
                      </a:r>
                      <a:endParaRPr lang="en-US" sz="1100"/>
                    </a:p>
                  </a:txBody>
                  <a:tcPr marL="190500" marR="190500" marT="190500" marB="190500" anchor="ctr">
                    <a:lnL cmpd="sng" algn="ctr" cap="flat" w="38100">
                      <a:solidFill>
                        <a:srgbClr val="972121"/>
                      </a:solidFill>
                      <a:prstDash val="solid"/>
                      <a:round/>
                      <a:headEnd type="none" w="med" len="med"/>
                      <a:tailEnd type="none" w="med" len="med"/>
                    </a:lnL>
                    <a:lnR cmpd="sng" algn="ctr" cap="flat" w="38100">
                      <a:solidFill>
                        <a:srgbClr val="972121"/>
                      </a:solidFill>
                      <a:prstDash val="solid"/>
                      <a:round/>
                      <a:headEnd type="none" w="med" len="med"/>
                      <a:tailEnd type="none" w="med" len="med"/>
                    </a:lnR>
                    <a:lnT cmpd="sng" algn="ctr" cap="flat" w="38100">
                      <a:solidFill>
                        <a:srgbClr val="972121"/>
                      </a:solidFill>
                      <a:prstDash val="solid"/>
                      <a:round/>
                      <a:headEnd type="none" w="med" len="med"/>
                      <a:tailEnd type="none" w="med" len="med"/>
                    </a:lnT>
                    <a:lnB cmpd="sng" algn="ctr" cap="flat" w="38100">
                      <a:solidFill>
                        <a:srgbClr val="972121"/>
                      </a:solidFill>
                      <a:prstDash val="solid"/>
                      <a:round/>
                      <a:headEnd type="none" w="med" len="med"/>
                      <a:tailEnd type="none" w="med" len="med"/>
                    </a:lnB>
                  </a:tcPr>
                </a:tc>
                <a:tc>
                  <a:txBody>
                    <a:bodyPr anchor="t" rtlCol="false"/>
                    <a:lstStyle/>
                    <a:p>
                      <a:pPr algn="just">
                        <a:lnSpc>
                          <a:spcPts val="2659"/>
                        </a:lnSpc>
                        <a:defRPr/>
                      </a:pPr>
                      <a:r>
                        <a:rPr lang="en-US" sz="1899">
                          <a:solidFill>
                            <a:srgbClr val="000000"/>
                          </a:solidFill>
                          <a:latin typeface="Alatsi"/>
                          <a:ea typeface="Alatsi"/>
                          <a:cs typeface="Alatsi"/>
                          <a:sym typeface="Alatsi"/>
                        </a:rPr>
                        <a:t>T. Guo, T. Zhang, E. Lim, M. López-Benítez, F. Ma and L. Yu,</a:t>
                      </a:r>
                      <a:r>
                        <a:rPr lang="en-US" sz="1899">
                          <a:solidFill>
                            <a:srgbClr val="000000"/>
                          </a:solidFill>
                          <a:latin typeface="Alatsi"/>
                          <a:ea typeface="Alatsi"/>
                          <a:cs typeface="Alatsi"/>
                          <a:sym typeface="Alatsi"/>
                        </a:rPr>
                        <a:t> </a:t>
                      </a:r>
                      <a:endParaRPr lang="en-US" sz="1100"/>
                    </a:p>
                  </a:txBody>
                  <a:tcPr marL="190500" marR="190500" marT="190500" marB="190500" anchor="ctr">
                    <a:lnL cmpd="sng" algn="ctr" cap="flat" w="38100">
                      <a:solidFill>
                        <a:srgbClr val="972121"/>
                      </a:solidFill>
                      <a:prstDash val="solid"/>
                      <a:round/>
                      <a:headEnd type="none" w="med" len="med"/>
                      <a:tailEnd type="none" w="med" len="med"/>
                    </a:lnL>
                    <a:lnR cmpd="sng" algn="ctr" cap="flat" w="38100">
                      <a:solidFill>
                        <a:srgbClr val="972121"/>
                      </a:solidFill>
                      <a:prstDash val="solid"/>
                      <a:round/>
                      <a:headEnd type="none" w="med" len="med"/>
                      <a:tailEnd type="none" w="med" len="med"/>
                    </a:lnR>
                    <a:lnT cmpd="sng" algn="ctr" cap="flat" w="38100">
                      <a:solidFill>
                        <a:srgbClr val="972121"/>
                      </a:solidFill>
                      <a:prstDash val="solid"/>
                      <a:round/>
                      <a:headEnd type="none" w="med" len="med"/>
                      <a:tailEnd type="none" w="med" len="med"/>
                    </a:lnT>
                    <a:lnB cmpd="sng" algn="ctr" cap="flat" w="38100">
                      <a:solidFill>
                        <a:srgbClr val="972121"/>
                      </a:solidFill>
                      <a:prstDash val="solid"/>
                      <a:round/>
                      <a:headEnd type="none" w="med" len="med"/>
                      <a:tailEnd type="none" w="med" len="med"/>
                    </a:lnB>
                  </a:tcPr>
                </a:tc>
                <a:tc>
                  <a:txBody>
                    <a:bodyPr anchor="t" rtlCol="false"/>
                    <a:lstStyle/>
                    <a:p>
                      <a:pPr algn="just">
                        <a:lnSpc>
                          <a:spcPts val="2659"/>
                        </a:lnSpc>
                        <a:defRPr/>
                      </a:pPr>
                      <a:r>
                        <a:rPr lang="en-US" sz="1899">
                          <a:solidFill>
                            <a:srgbClr val="000000"/>
                          </a:solidFill>
                          <a:latin typeface="Alatsi"/>
                          <a:ea typeface="Alatsi"/>
                          <a:cs typeface="Alatsi"/>
                          <a:sym typeface="Alatsi"/>
                        </a:rPr>
                        <a:t>A Review of Wavelet Analysis and Its Applications:Challenges and Opportunities</a:t>
                      </a:r>
                      <a:endParaRPr lang="en-US" sz="1100"/>
                    </a:p>
                  </a:txBody>
                  <a:tcPr marL="190500" marR="190500" marT="190500" marB="190500" anchor="ctr">
                    <a:lnL cmpd="sng" algn="ctr" cap="flat" w="38100">
                      <a:solidFill>
                        <a:srgbClr val="972121"/>
                      </a:solidFill>
                      <a:prstDash val="solid"/>
                      <a:round/>
                      <a:headEnd type="none" w="med" len="med"/>
                      <a:tailEnd type="none" w="med" len="med"/>
                    </a:lnL>
                    <a:lnR cmpd="sng" algn="ctr" cap="flat" w="38100">
                      <a:solidFill>
                        <a:srgbClr val="972121"/>
                      </a:solidFill>
                      <a:prstDash val="solid"/>
                      <a:round/>
                      <a:headEnd type="none" w="med" len="med"/>
                      <a:tailEnd type="none" w="med" len="med"/>
                    </a:lnR>
                    <a:lnT cmpd="sng" algn="ctr" cap="flat" w="38100">
                      <a:solidFill>
                        <a:srgbClr val="972121"/>
                      </a:solidFill>
                      <a:prstDash val="solid"/>
                      <a:round/>
                      <a:headEnd type="none" w="med" len="med"/>
                      <a:tailEnd type="none" w="med" len="med"/>
                    </a:lnT>
                    <a:lnB cmpd="sng" algn="ctr" cap="flat" w="38100">
                      <a:solidFill>
                        <a:srgbClr val="972121"/>
                      </a:solidFill>
                      <a:prstDash val="solid"/>
                      <a:round/>
                      <a:headEnd type="none" w="med" len="med"/>
                      <a:tailEnd type="none" w="med" len="med"/>
                    </a:lnB>
                  </a:tcPr>
                </a:tc>
                <a:tc>
                  <a:txBody>
                    <a:bodyPr anchor="t" rtlCol="false"/>
                    <a:lstStyle/>
                    <a:p>
                      <a:pPr algn="just">
                        <a:lnSpc>
                          <a:spcPts val="2659"/>
                        </a:lnSpc>
                        <a:defRPr/>
                      </a:pPr>
                      <a:r>
                        <a:rPr lang="en-US" sz="1899">
                          <a:solidFill>
                            <a:srgbClr val="000000"/>
                          </a:solidFill>
                          <a:latin typeface="Alatsi"/>
                          <a:ea typeface="Alatsi"/>
                          <a:cs typeface="Alatsi"/>
                          <a:sym typeface="Alatsi"/>
                        </a:rPr>
                        <a:t>IEEE Access</a:t>
                      </a:r>
                      <a:endParaRPr lang="en-US" sz="1100"/>
                    </a:p>
                  </a:txBody>
                  <a:tcPr marL="190500" marR="190500" marT="190500" marB="190500" anchor="ctr">
                    <a:lnL cmpd="sng" algn="ctr" cap="flat" w="38100">
                      <a:solidFill>
                        <a:srgbClr val="972121"/>
                      </a:solidFill>
                      <a:prstDash val="solid"/>
                      <a:round/>
                      <a:headEnd type="none" w="med" len="med"/>
                      <a:tailEnd type="none" w="med" len="med"/>
                    </a:lnL>
                    <a:lnR cmpd="sng" algn="ctr" cap="flat" w="38100">
                      <a:solidFill>
                        <a:srgbClr val="972121"/>
                      </a:solidFill>
                      <a:prstDash val="solid"/>
                      <a:round/>
                      <a:headEnd type="none" w="med" len="med"/>
                      <a:tailEnd type="none" w="med" len="med"/>
                    </a:lnR>
                    <a:lnT cmpd="sng" algn="ctr" cap="flat" w="38100">
                      <a:solidFill>
                        <a:srgbClr val="972121"/>
                      </a:solidFill>
                      <a:prstDash val="solid"/>
                      <a:round/>
                      <a:headEnd type="none" w="med" len="med"/>
                      <a:tailEnd type="none" w="med" len="med"/>
                    </a:lnT>
                    <a:lnB cmpd="sng" algn="ctr" cap="flat" w="38100">
                      <a:solidFill>
                        <a:srgbClr val="972121"/>
                      </a:solidFill>
                      <a:prstDash val="solid"/>
                      <a:round/>
                      <a:headEnd type="none" w="med" len="med"/>
                      <a:tailEnd type="none" w="med" len="med"/>
                    </a:lnB>
                  </a:tcPr>
                </a:tc>
                <a:tc>
                  <a:txBody>
                    <a:bodyPr anchor="t" rtlCol="false"/>
                    <a:lstStyle/>
                    <a:p>
                      <a:pPr algn="just">
                        <a:lnSpc>
                          <a:spcPts val="2939"/>
                        </a:lnSpc>
                        <a:defRPr/>
                      </a:pPr>
                      <a:r>
                        <a:rPr lang="en-US" sz="2099">
                          <a:solidFill>
                            <a:srgbClr val="000000"/>
                          </a:solidFill>
                          <a:latin typeface="Alatsi"/>
                          <a:ea typeface="Alatsi"/>
                          <a:cs typeface="Alatsi"/>
                          <a:sym typeface="Alatsi"/>
                        </a:rPr>
                        <a:t>Rational Wavelet Transform (RWT), Wavelet Neural Networks (WNN), Complex Wavelet Transform (CWT).</a:t>
                      </a:r>
                      <a:endParaRPr lang="en-US" sz="1100"/>
                    </a:p>
                  </a:txBody>
                  <a:tcPr marL="190500" marR="190500" marT="190500" marB="190500" anchor="ctr">
                    <a:lnL cmpd="sng" algn="ctr" cap="flat" w="38100">
                      <a:solidFill>
                        <a:srgbClr val="972121"/>
                      </a:solidFill>
                      <a:prstDash val="solid"/>
                      <a:round/>
                      <a:headEnd type="none" w="med" len="med"/>
                      <a:tailEnd type="none" w="med" len="med"/>
                    </a:lnL>
                    <a:lnR cmpd="sng" algn="ctr" cap="flat" w="38100">
                      <a:solidFill>
                        <a:srgbClr val="972121"/>
                      </a:solidFill>
                      <a:prstDash val="solid"/>
                      <a:round/>
                      <a:headEnd type="none" w="med" len="med"/>
                      <a:tailEnd type="none" w="med" len="med"/>
                    </a:lnR>
                    <a:lnT cmpd="sng" algn="ctr" cap="flat" w="38100">
                      <a:solidFill>
                        <a:srgbClr val="972121"/>
                      </a:solidFill>
                      <a:prstDash val="solid"/>
                      <a:round/>
                      <a:headEnd type="none" w="med" len="med"/>
                      <a:tailEnd type="none" w="med" len="med"/>
                    </a:lnT>
                    <a:lnB cmpd="sng" algn="ctr" cap="flat" w="38100">
                      <a:solidFill>
                        <a:srgbClr val="972121"/>
                      </a:solidFill>
                      <a:prstDash val="solid"/>
                      <a:round/>
                      <a:headEnd type="none" w="med" len="med"/>
                      <a:tailEnd type="none" w="med" len="med"/>
                    </a:lnB>
                  </a:tcPr>
                </a:tc>
              </a:tr>
              <a:tr h="2588095">
                <a:tc>
                  <a:txBody>
                    <a:bodyPr anchor="t" rtlCol="false"/>
                    <a:lstStyle/>
                    <a:p>
                      <a:pPr algn="just">
                        <a:lnSpc>
                          <a:spcPts val="2659"/>
                        </a:lnSpc>
                        <a:defRPr/>
                      </a:pPr>
                      <a:r>
                        <a:rPr lang="en-US" sz="1899">
                          <a:solidFill>
                            <a:srgbClr val="000000"/>
                          </a:solidFill>
                          <a:latin typeface="Alatsi"/>
                          <a:ea typeface="Alatsi"/>
                          <a:cs typeface="Alatsi"/>
                          <a:sym typeface="Alatsi"/>
                        </a:rPr>
                        <a:t>4</a:t>
                      </a:r>
                      <a:endParaRPr lang="en-US" sz="1100"/>
                    </a:p>
                  </a:txBody>
                  <a:tcPr marL="190500" marR="190500" marT="190500" marB="190500" anchor="ctr">
                    <a:lnL cmpd="sng" algn="ctr" cap="flat" w="38100">
                      <a:solidFill>
                        <a:srgbClr val="972121"/>
                      </a:solidFill>
                      <a:prstDash val="solid"/>
                      <a:round/>
                      <a:headEnd type="none" w="med" len="med"/>
                      <a:tailEnd type="none" w="med" len="med"/>
                    </a:lnL>
                    <a:lnR cmpd="sng" algn="ctr" cap="flat" w="38100">
                      <a:solidFill>
                        <a:srgbClr val="972121"/>
                      </a:solidFill>
                      <a:prstDash val="solid"/>
                      <a:round/>
                      <a:headEnd type="none" w="med" len="med"/>
                      <a:tailEnd type="none" w="med" len="med"/>
                    </a:lnR>
                    <a:lnT cmpd="sng" algn="ctr" cap="flat" w="38100">
                      <a:solidFill>
                        <a:srgbClr val="972121"/>
                      </a:solidFill>
                      <a:prstDash val="solid"/>
                      <a:round/>
                      <a:headEnd type="none" w="med" len="med"/>
                      <a:tailEnd type="none" w="med" len="med"/>
                    </a:lnT>
                    <a:lnB cmpd="sng" algn="ctr" cap="flat" w="38100">
                      <a:solidFill>
                        <a:srgbClr val="972121"/>
                      </a:solidFill>
                      <a:prstDash val="solid"/>
                      <a:round/>
                      <a:headEnd type="none" w="med" len="med"/>
                      <a:tailEnd type="none" w="med" len="med"/>
                    </a:lnB>
                  </a:tcPr>
                </a:tc>
                <a:tc>
                  <a:txBody>
                    <a:bodyPr anchor="t" rtlCol="false"/>
                    <a:lstStyle/>
                    <a:p>
                      <a:pPr algn="just">
                        <a:lnSpc>
                          <a:spcPts val="2659"/>
                        </a:lnSpc>
                        <a:defRPr/>
                      </a:pPr>
                      <a:r>
                        <a:rPr lang="en-US" sz="1899">
                          <a:solidFill>
                            <a:srgbClr val="000000"/>
                          </a:solidFill>
                          <a:latin typeface="Alatsi"/>
                          <a:ea typeface="Alatsi"/>
                          <a:cs typeface="Alatsi"/>
                          <a:sym typeface="Alatsi"/>
                        </a:rPr>
                        <a:t>2020</a:t>
                      </a:r>
                      <a:endParaRPr lang="en-US" sz="1100"/>
                    </a:p>
                  </a:txBody>
                  <a:tcPr marL="190500" marR="190500" marT="190500" marB="190500" anchor="ctr">
                    <a:lnL cmpd="sng" algn="ctr" cap="flat" w="38100">
                      <a:solidFill>
                        <a:srgbClr val="972121"/>
                      </a:solidFill>
                      <a:prstDash val="solid"/>
                      <a:round/>
                      <a:headEnd type="none" w="med" len="med"/>
                      <a:tailEnd type="none" w="med" len="med"/>
                    </a:lnL>
                    <a:lnR cmpd="sng" algn="ctr" cap="flat" w="38100">
                      <a:solidFill>
                        <a:srgbClr val="972121"/>
                      </a:solidFill>
                      <a:prstDash val="solid"/>
                      <a:round/>
                      <a:headEnd type="none" w="med" len="med"/>
                      <a:tailEnd type="none" w="med" len="med"/>
                    </a:lnR>
                    <a:lnT cmpd="sng" algn="ctr" cap="flat" w="38100">
                      <a:solidFill>
                        <a:srgbClr val="972121"/>
                      </a:solidFill>
                      <a:prstDash val="solid"/>
                      <a:round/>
                      <a:headEnd type="none" w="med" len="med"/>
                      <a:tailEnd type="none" w="med" len="med"/>
                    </a:lnT>
                    <a:lnB cmpd="sng" algn="ctr" cap="flat" w="38100">
                      <a:solidFill>
                        <a:srgbClr val="972121"/>
                      </a:solidFill>
                      <a:prstDash val="solid"/>
                      <a:round/>
                      <a:headEnd type="none" w="med" len="med"/>
                      <a:tailEnd type="none" w="med" len="med"/>
                    </a:lnB>
                  </a:tcPr>
                </a:tc>
                <a:tc>
                  <a:txBody>
                    <a:bodyPr anchor="t" rtlCol="false"/>
                    <a:lstStyle/>
                    <a:p>
                      <a:pPr algn="just">
                        <a:lnSpc>
                          <a:spcPts val="2659"/>
                        </a:lnSpc>
                        <a:defRPr/>
                      </a:pPr>
                      <a:r>
                        <a:rPr lang="en-US" sz="1899">
                          <a:solidFill>
                            <a:srgbClr val="000000"/>
                          </a:solidFill>
                          <a:latin typeface="Alatsi"/>
                          <a:ea typeface="Alatsi"/>
                          <a:cs typeface="Alatsi"/>
                          <a:sym typeface="Alatsi"/>
                        </a:rPr>
                        <a:t>Subpixel Computer Vision Detection Based on Wavelet Transform</a:t>
                      </a:r>
                      <a:endParaRPr lang="en-US" sz="1100"/>
                    </a:p>
                  </a:txBody>
                  <a:tcPr marL="190500" marR="190500" marT="190500" marB="190500" anchor="ctr">
                    <a:lnL cmpd="sng" algn="ctr" cap="flat" w="38100">
                      <a:solidFill>
                        <a:srgbClr val="972121"/>
                      </a:solidFill>
                      <a:prstDash val="solid"/>
                      <a:round/>
                      <a:headEnd type="none" w="med" len="med"/>
                      <a:tailEnd type="none" w="med" len="med"/>
                    </a:lnL>
                    <a:lnR cmpd="sng" algn="ctr" cap="flat" w="38100">
                      <a:solidFill>
                        <a:srgbClr val="972121"/>
                      </a:solidFill>
                      <a:prstDash val="solid"/>
                      <a:round/>
                      <a:headEnd type="none" w="med" len="med"/>
                      <a:tailEnd type="none" w="med" len="med"/>
                    </a:lnR>
                    <a:lnT cmpd="sng" algn="ctr" cap="flat" w="38100">
                      <a:solidFill>
                        <a:srgbClr val="972121"/>
                      </a:solidFill>
                      <a:prstDash val="solid"/>
                      <a:round/>
                      <a:headEnd type="none" w="med" len="med"/>
                      <a:tailEnd type="none" w="med" len="med"/>
                    </a:lnT>
                    <a:lnB cmpd="sng" algn="ctr" cap="flat" w="38100">
                      <a:solidFill>
                        <a:srgbClr val="972121"/>
                      </a:solidFill>
                      <a:prstDash val="solid"/>
                      <a:round/>
                      <a:headEnd type="none" w="med" len="med"/>
                      <a:tailEnd type="none" w="med" len="med"/>
                    </a:lnB>
                  </a:tcPr>
                </a:tc>
                <a:tc>
                  <a:txBody>
                    <a:bodyPr anchor="t" rtlCol="false"/>
                    <a:lstStyle/>
                    <a:p>
                      <a:pPr algn="l">
                        <a:lnSpc>
                          <a:spcPts val="2659"/>
                        </a:lnSpc>
                        <a:defRPr/>
                      </a:pPr>
                      <a:r>
                        <a:rPr lang="en-US" sz="1899">
                          <a:solidFill>
                            <a:srgbClr val="000000"/>
                          </a:solidFill>
                          <a:latin typeface="Alatsi"/>
                          <a:ea typeface="Alatsi"/>
                          <a:cs typeface="Alatsi"/>
                          <a:sym typeface="Alatsi"/>
                        </a:rPr>
                        <a:t>Subpixel Computer Vision Detection Based on Wavelet Transform</a:t>
                      </a:r>
                      <a:endParaRPr lang="en-US" sz="1100"/>
                    </a:p>
                  </a:txBody>
                  <a:tcPr marL="190500" marR="190500" marT="190500" marB="190500" anchor="ctr">
                    <a:lnL cmpd="sng" algn="ctr" cap="flat" w="38100">
                      <a:solidFill>
                        <a:srgbClr val="972121"/>
                      </a:solidFill>
                      <a:prstDash val="solid"/>
                      <a:round/>
                      <a:headEnd type="none" w="med" len="med"/>
                      <a:tailEnd type="none" w="med" len="med"/>
                    </a:lnL>
                    <a:lnR cmpd="sng" algn="ctr" cap="flat" w="38100">
                      <a:solidFill>
                        <a:srgbClr val="972121"/>
                      </a:solidFill>
                      <a:prstDash val="solid"/>
                      <a:round/>
                      <a:headEnd type="none" w="med" len="med"/>
                      <a:tailEnd type="none" w="med" len="med"/>
                    </a:lnR>
                    <a:lnT cmpd="sng" algn="ctr" cap="flat" w="38100">
                      <a:solidFill>
                        <a:srgbClr val="972121"/>
                      </a:solidFill>
                      <a:prstDash val="solid"/>
                      <a:round/>
                      <a:headEnd type="none" w="med" len="med"/>
                      <a:tailEnd type="none" w="med" len="med"/>
                    </a:lnT>
                    <a:lnB cmpd="sng" algn="ctr" cap="flat" w="38100">
                      <a:solidFill>
                        <a:srgbClr val="972121"/>
                      </a:solidFill>
                      <a:prstDash val="solid"/>
                      <a:round/>
                      <a:headEnd type="none" w="med" len="med"/>
                      <a:tailEnd type="none" w="med" len="med"/>
                    </a:lnB>
                  </a:tcPr>
                </a:tc>
                <a:tc>
                  <a:txBody>
                    <a:bodyPr anchor="t" rtlCol="false"/>
                    <a:lstStyle/>
                    <a:p>
                      <a:pPr algn="l">
                        <a:lnSpc>
                          <a:spcPts val="2659"/>
                        </a:lnSpc>
                        <a:defRPr/>
                      </a:pPr>
                      <a:r>
                        <a:rPr lang="en-US" sz="1899">
                          <a:solidFill>
                            <a:srgbClr val="000000"/>
                          </a:solidFill>
                          <a:latin typeface="Alatsi"/>
                          <a:ea typeface="Alatsi"/>
                          <a:cs typeface="Alatsi"/>
                          <a:sym typeface="Alatsi"/>
                        </a:rPr>
                        <a:t>IEEE Access</a:t>
                      </a:r>
                      <a:endParaRPr lang="en-US" sz="1100"/>
                    </a:p>
                  </a:txBody>
                  <a:tcPr marL="190500" marR="190500" marT="190500" marB="190500" anchor="ctr">
                    <a:lnL cmpd="sng" algn="ctr" cap="flat" w="38100">
                      <a:solidFill>
                        <a:srgbClr val="972121"/>
                      </a:solidFill>
                      <a:prstDash val="solid"/>
                      <a:round/>
                      <a:headEnd type="none" w="med" len="med"/>
                      <a:tailEnd type="none" w="med" len="med"/>
                    </a:lnL>
                    <a:lnR cmpd="sng" algn="ctr" cap="flat" w="38100">
                      <a:solidFill>
                        <a:srgbClr val="972121"/>
                      </a:solidFill>
                      <a:prstDash val="solid"/>
                      <a:round/>
                      <a:headEnd type="none" w="med" len="med"/>
                      <a:tailEnd type="none" w="med" len="med"/>
                    </a:lnR>
                    <a:lnT cmpd="sng" algn="ctr" cap="flat" w="38100">
                      <a:solidFill>
                        <a:srgbClr val="972121"/>
                      </a:solidFill>
                      <a:prstDash val="solid"/>
                      <a:round/>
                      <a:headEnd type="none" w="med" len="med"/>
                      <a:tailEnd type="none" w="med" len="med"/>
                    </a:lnT>
                    <a:lnB cmpd="sng" algn="ctr" cap="flat" w="38100">
                      <a:solidFill>
                        <a:srgbClr val="972121"/>
                      </a:solidFill>
                      <a:prstDash val="solid"/>
                      <a:round/>
                      <a:headEnd type="none" w="med" len="med"/>
                      <a:tailEnd type="none" w="med" len="med"/>
                    </a:lnB>
                  </a:tcPr>
                </a:tc>
                <a:tc>
                  <a:txBody>
                    <a:bodyPr anchor="t" rtlCol="false"/>
                    <a:lstStyle/>
                    <a:p>
                      <a:pPr algn="l">
                        <a:lnSpc>
                          <a:spcPts val="2939"/>
                        </a:lnSpc>
                        <a:defRPr/>
                      </a:pPr>
                      <a:r>
                        <a:rPr lang="en-US" sz="2099" b="true">
                          <a:solidFill>
                            <a:srgbClr val="000000"/>
                          </a:solidFill>
                          <a:latin typeface="Arimo Bold"/>
                          <a:ea typeface="Arimo Bold"/>
                          <a:cs typeface="Arimo Bold"/>
                          <a:sym typeface="Arimo Bold"/>
                        </a:rPr>
                        <a:t>Dual-tree dual-density wavelet transform,Quantum denoising algorithm</a:t>
                      </a:r>
                      <a:endParaRPr lang="en-US" sz="1100"/>
                    </a:p>
                  </a:txBody>
                  <a:tcPr marL="190500" marR="190500" marT="190500" marB="190500" anchor="ctr">
                    <a:lnL cmpd="sng" algn="ctr" cap="flat" w="38100">
                      <a:solidFill>
                        <a:srgbClr val="972121"/>
                      </a:solidFill>
                      <a:prstDash val="solid"/>
                      <a:round/>
                      <a:headEnd type="none" w="med" len="med"/>
                      <a:tailEnd type="none" w="med" len="med"/>
                    </a:lnL>
                    <a:lnR cmpd="sng" algn="ctr" cap="flat" w="38100">
                      <a:solidFill>
                        <a:srgbClr val="972121"/>
                      </a:solidFill>
                      <a:prstDash val="solid"/>
                      <a:round/>
                      <a:headEnd type="none" w="med" len="med"/>
                      <a:tailEnd type="none" w="med" len="med"/>
                    </a:lnR>
                    <a:lnT cmpd="sng" algn="ctr" cap="flat" w="38100">
                      <a:solidFill>
                        <a:srgbClr val="972121"/>
                      </a:solidFill>
                      <a:prstDash val="solid"/>
                      <a:round/>
                      <a:headEnd type="none" w="med" len="med"/>
                      <a:tailEnd type="none" w="med" len="med"/>
                    </a:lnT>
                    <a:lnB cmpd="sng" algn="ctr" cap="flat" w="38100">
                      <a:solidFill>
                        <a:srgbClr val="972121"/>
                      </a:solidFill>
                      <a:prstDash val="solid"/>
                      <a:round/>
                      <a:headEnd type="none" w="med" len="med"/>
                      <a:tailEnd type="none" w="med" len="med"/>
                    </a:lnB>
                  </a:tcPr>
                </a:tc>
              </a:tr>
              <a:tr h="1923369">
                <a:tc>
                  <a:txBody>
                    <a:bodyPr anchor="t" rtlCol="false"/>
                    <a:lstStyle/>
                    <a:p>
                      <a:pPr algn="just">
                        <a:lnSpc>
                          <a:spcPts val="2659"/>
                        </a:lnSpc>
                        <a:defRPr/>
                      </a:pPr>
                      <a:r>
                        <a:rPr lang="en-US" sz="1899">
                          <a:solidFill>
                            <a:srgbClr val="000000"/>
                          </a:solidFill>
                          <a:latin typeface="Alatsi"/>
                          <a:ea typeface="Alatsi"/>
                          <a:cs typeface="Alatsi"/>
                          <a:sym typeface="Alatsi"/>
                        </a:rPr>
                        <a:t>5</a:t>
                      </a:r>
                      <a:endParaRPr lang="en-US" sz="1100"/>
                    </a:p>
                  </a:txBody>
                  <a:tcPr marL="190500" marR="190500" marT="190500" marB="190500" anchor="ctr">
                    <a:lnL cmpd="sng" algn="ctr" cap="flat" w="38100">
                      <a:solidFill>
                        <a:srgbClr val="972121"/>
                      </a:solidFill>
                      <a:prstDash val="solid"/>
                      <a:round/>
                      <a:headEnd type="none" w="med" len="med"/>
                      <a:tailEnd type="none" w="med" len="med"/>
                    </a:lnL>
                    <a:lnR cmpd="sng" algn="ctr" cap="flat" w="38100">
                      <a:solidFill>
                        <a:srgbClr val="972121"/>
                      </a:solidFill>
                      <a:prstDash val="solid"/>
                      <a:round/>
                      <a:headEnd type="none" w="med" len="med"/>
                      <a:tailEnd type="none" w="med" len="med"/>
                    </a:lnR>
                    <a:lnT cmpd="sng" algn="ctr" cap="flat" w="38100">
                      <a:solidFill>
                        <a:srgbClr val="972121"/>
                      </a:solidFill>
                      <a:prstDash val="solid"/>
                      <a:round/>
                      <a:headEnd type="none" w="med" len="med"/>
                      <a:tailEnd type="none" w="med" len="med"/>
                    </a:lnT>
                    <a:lnB cmpd="sng" algn="ctr" cap="flat" w="38100">
                      <a:solidFill>
                        <a:srgbClr val="972121"/>
                      </a:solidFill>
                      <a:prstDash val="solid"/>
                      <a:round/>
                      <a:headEnd type="none" w="med" len="med"/>
                      <a:tailEnd type="none" w="med" len="med"/>
                    </a:lnB>
                  </a:tcPr>
                </a:tc>
                <a:tc>
                  <a:txBody>
                    <a:bodyPr anchor="t" rtlCol="false"/>
                    <a:lstStyle/>
                    <a:p>
                      <a:pPr algn="just">
                        <a:lnSpc>
                          <a:spcPts val="2659"/>
                        </a:lnSpc>
                        <a:defRPr/>
                      </a:pPr>
                      <a:r>
                        <a:rPr lang="en-US" sz="1899">
                          <a:solidFill>
                            <a:srgbClr val="000000"/>
                          </a:solidFill>
                          <a:latin typeface="Alatsi"/>
                          <a:ea typeface="Alatsi"/>
                          <a:cs typeface="Alatsi"/>
                          <a:sym typeface="Alatsi"/>
                        </a:rPr>
                        <a:t>2022</a:t>
                      </a:r>
                      <a:endParaRPr lang="en-US" sz="1100"/>
                    </a:p>
                  </a:txBody>
                  <a:tcPr marL="190500" marR="190500" marT="190500" marB="190500" anchor="ctr">
                    <a:lnL cmpd="sng" algn="ctr" cap="flat" w="38100">
                      <a:solidFill>
                        <a:srgbClr val="972121"/>
                      </a:solidFill>
                      <a:prstDash val="solid"/>
                      <a:round/>
                      <a:headEnd type="none" w="med" len="med"/>
                      <a:tailEnd type="none" w="med" len="med"/>
                    </a:lnL>
                    <a:lnR cmpd="sng" algn="ctr" cap="flat" w="38100">
                      <a:solidFill>
                        <a:srgbClr val="972121"/>
                      </a:solidFill>
                      <a:prstDash val="solid"/>
                      <a:round/>
                      <a:headEnd type="none" w="med" len="med"/>
                      <a:tailEnd type="none" w="med" len="med"/>
                    </a:lnR>
                    <a:lnT cmpd="sng" algn="ctr" cap="flat" w="38100">
                      <a:solidFill>
                        <a:srgbClr val="972121"/>
                      </a:solidFill>
                      <a:prstDash val="solid"/>
                      <a:round/>
                      <a:headEnd type="none" w="med" len="med"/>
                      <a:tailEnd type="none" w="med" len="med"/>
                    </a:lnT>
                    <a:lnB cmpd="sng" algn="ctr" cap="flat" w="38100">
                      <a:solidFill>
                        <a:srgbClr val="972121"/>
                      </a:solidFill>
                      <a:prstDash val="solid"/>
                      <a:round/>
                      <a:headEnd type="none" w="med" len="med"/>
                      <a:tailEnd type="none" w="med" len="med"/>
                    </a:lnB>
                  </a:tcPr>
                </a:tc>
                <a:tc>
                  <a:txBody>
                    <a:bodyPr anchor="t" rtlCol="false"/>
                    <a:lstStyle/>
                    <a:p>
                      <a:pPr algn="just">
                        <a:lnSpc>
                          <a:spcPts val="2659"/>
                        </a:lnSpc>
                        <a:defRPr/>
                      </a:pPr>
                      <a:r>
                        <a:rPr lang="en-US" sz="1899">
                          <a:solidFill>
                            <a:srgbClr val="000000"/>
                          </a:solidFill>
                          <a:latin typeface="Alatsi"/>
                          <a:ea typeface="Alatsi"/>
                          <a:cs typeface="Alatsi"/>
                          <a:sym typeface="Alatsi"/>
                        </a:rPr>
                        <a:t>D. Ali, I. Touqir, A. M. Siddiqui, J. Malik and M. Imran, </a:t>
                      </a:r>
                      <a:endParaRPr lang="en-US" sz="1100"/>
                    </a:p>
                  </a:txBody>
                  <a:tcPr marL="190500" marR="190500" marT="190500" marB="190500" anchor="ctr">
                    <a:lnL cmpd="sng" algn="ctr" cap="flat" w="38100">
                      <a:solidFill>
                        <a:srgbClr val="972121"/>
                      </a:solidFill>
                      <a:prstDash val="solid"/>
                      <a:round/>
                      <a:headEnd type="none" w="med" len="med"/>
                      <a:tailEnd type="none" w="med" len="med"/>
                    </a:lnL>
                    <a:lnR cmpd="sng" algn="ctr" cap="flat" w="38100">
                      <a:solidFill>
                        <a:srgbClr val="972121"/>
                      </a:solidFill>
                      <a:prstDash val="solid"/>
                      <a:round/>
                      <a:headEnd type="none" w="med" len="med"/>
                      <a:tailEnd type="none" w="med" len="med"/>
                    </a:lnR>
                    <a:lnT cmpd="sng" algn="ctr" cap="flat" w="38100">
                      <a:solidFill>
                        <a:srgbClr val="972121"/>
                      </a:solidFill>
                      <a:prstDash val="solid"/>
                      <a:round/>
                      <a:headEnd type="none" w="med" len="med"/>
                      <a:tailEnd type="none" w="med" len="med"/>
                    </a:lnT>
                    <a:lnB cmpd="sng" algn="ctr" cap="flat" w="38100">
                      <a:solidFill>
                        <a:srgbClr val="972121"/>
                      </a:solidFill>
                      <a:prstDash val="solid"/>
                      <a:round/>
                      <a:headEnd type="none" w="med" len="med"/>
                      <a:tailEnd type="none" w="med" len="med"/>
                    </a:lnB>
                  </a:tcPr>
                </a:tc>
                <a:tc>
                  <a:txBody>
                    <a:bodyPr anchor="t" rtlCol="false"/>
                    <a:lstStyle/>
                    <a:p>
                      <a:pPr algn="just">
                        <a:lnSpc>
                          <a:spcPts val="2659"/>
                        </a:lnSpc>
                        <a:defRPr/>
                      </a:pPr>
                      <a:r>
                        <a:rPr lang="en-US" sz="1899">
                          <a:solidFill>
                            <a:srgbClr val="000000"/>
                          </a:solidFill>
                          <a:latin typeface="Alatsi"/>
                          <a:ea typeface="Alatsi"/>
                          <a:cs typeface="Alatsi"/>
                          <a:sym typeface="Alatsi"/>
                        </a:rPr>
                        <a:t>Face Recognition System Based on Four State Hidden Markov Model</a:t>
                      </a:r>
                      <a:endParaRPr lang="en-US" sz="1100"/>
                    </a:p>
                  </a:txBody>
                  <a:tcPr marL="190500" marR="190500" marT="190500" marB="190500" anchor="ctr">
                    <a:lnL cmpd="sng" algn="ctr" cap="flat" w="38100">
                      <a:solidFill>
                        <a:srgbClr val="972121"/>
                      </a:solidFill>
                      <a:prstDash val="solid"/>
                      <a:round/>
                      <a:headEnd type="none" w="med" len="med"/>
                      <a:tailEnd type="none" w="med" len="med"/>
                    </a:lnL>
                    <a:lnR cmpd="sng" algn="ctr" cap="flat" w="38100">
                      <a:solidFill>
                        <a:srgbClr val="972121"/>
                      </a:solidFill>
                      <a:prstDash val="solid"/>
                      <a:round/>
                      <a:headEnd type="none" w="med" len="med"/>
                      <a:tailEnd type="none" w="med" len="med"/>
                    </a:lnR>
                    <a:lnT cmpd="sng" algn="ctr" cap="flat" w="38100">
                      <a:solidFill>
                        <a:srgbClr val="972121"/>
                      </a:solidFill>
                      <a:prstDash val="solid"/>
                      <a:round/>
                      <a:headEnd type="none" w="med" len="med"/>
                      <a:tailEnd type="none" w="med" len="med"/>
                    </a:lnT>
                    <a:lnB cmpd="sng" algn="ctr" cap="flat" w="38100">
                      <a:solidFill>
                        <a:srgbClr val="972121"/>
                      </a:solidFill>
                      <a:prstDash val="solid"/>
                      <a:round/>
                      <a:headEnd type="none" w="med" len="med"/>
                      <a:tailEnd type="none" w="med" len="med"/>
                    </a:lnB>
                  </a:tcPr>
                </a:tc>
                <a:tc>
                  <a:txBody>
                    <a:bodyPr anchor="t" rtlCol="false"/>
                    <a:lstStyle/>
                    <a:p>
                      <a:pPr algn="just">
                        <a:lnSpc>
                          <a:spcPts val="2659"/>
                        </a:lnSpc>
                        <a:defRPr/>
                      </a:pPr>
                      <a:r>
                        <a:rPr lang="en-US" sz="1899">
                          <a:solidFill>
                            <a:srgbClr val="000000"/>
                          </a:solidFill>
                          <a:latin typeface="Alatsi"/>
                          <a:ea typeface="Alatsi"/>
                          <a:cs typeface="Alatsi"/>
                          <a:sym typeface="Alatsi"/>
                        </a:rPr>
                        <a:t>IEEE Access</a:t>
                      </a:r>
                      <a:endParaRPr lang="en-US" sz="1100"/>
                    </a:p>
                  </a:txBody>
                  <a:tcPr marL="190500" marR="190500" marT="190500" marB="190500" anchor="ctr">
                    <a:lnL cmpd="sng" algn="ctr" cap="flat" w="38100">
                      <a:solidFill>
                        <a:srgbClr val="972121"/>
                      </a:solidFill>
                      <a:prstDash val="solid"/>
                      <a:round/>
                      <a:headEnd type="none" w="med" len="med"/>
                      <a:tailEnd type="none" w="med" len="med"/>
                    </a:lnL>
                    <a:lnR cmpd="sng" algn="ctr" cap="flat" w="38100">
                      <a:solidFill>
                        <a:srgbClr val="972121"/>
                      </a:solidFill>
                      <a:prstDash val="solid"/>
                      <a:round/>
                      <a:headEnd type="none" w="med" len="med"/>
                      <a:tailEnd type="none" w="med" len="med"/>
                    </a:lnR>
                    <a:lnT cmpd="sng" algn="ctr" cap="flat" w="38100">
                      <a:solidFill>
                        <a:srgbClr val="972121"/>
                      </a:solidFill>
                      <a:prstDash val="solid"/>
                      <a:round/>
                      <a:headEnd type="none" w="med" len="med"/>
                      <a:tailEnd type="none" w="med" len="med"/>
                    </a:lnT>
                    <a:lnB cmpd="sng" algn="ctr" cap="flat" w="38100">
                      <a:solidFill>
                        <a:srgbClr val="972121"/>
                      </a:solidFill>
                      <a:prstDash val="solid"/>
                      <a:round/>
                      <a:headEnd type="none" w="med" len="med"/>
                      <a:tailEnd type="none" w="med" len="med"/>
                    </a:lnB>
                  </a:tcPr>
                </a:tc>
                <a:tc>
                  <a:txBody>
                    <a:bodyPr anchor="t" rtlCol="false"/>
                    <a:lstStyle/>
                    <a:p>
                      <a:pPr algn="just">
                        <a:lnSpc>
                          <a:spcPts val="2939"/>
                        </a:lnSpc>
                        <a:defRPr/>
                      </a:pPr>
                      <a:r>
                        <a:rPr lang="en-US" sz="2099">
                          <a:solidFill>
                            <a:srgbClr val="000000"/>
                          </a:solidFill>
                          <a:latin typeface="Alatsi"/>
                          <a:ea typeface="Alatsi"/>
                          <a:cs typeface="Alatsi"/>
                          <a:sym typeface="Alatsi"/>
                        </a:rPr>
                        <a:t>Four Sate HMM,</a:t>
                      </a:r>
                      <a:r>
                        <a:rPr lang="en-US" sz="2099">
                          <a:solidFill>
                            <a:srgbClr val="000000"/>
                          </a:solidFill>
                          <a:latin typeface="Alatsi"/>
                          <a:ea typeface="Alatsi"/>
                          <a:cs typeface="Alatsi"/>
                          <a:sym typeface="Alatsi"/>
                        </a:rPr>
                        <a:t>Discrete Wavelet Transform</a:t>
                      </a:r>
                      <a:endParaRPr lang="en-US" sz="1100"/>
                    </a:p>
                  </a:txBody>
                  <a:tcPr marL="190500" marR="190500" marT="190500" marB="190500" anchor="ctr">
                    <a:lnL cmpd="sng" algn="ctr" cap="flat" w="38100">
                      <a:solidFill>
                        <a:srgbClr val="972121"/>
                      </a:solidFill>
                      <a:prstDash val="solid"/>
                      <a:round/>
                      <a:headEnd type="none" w="med" len="med"/>
                      <a:tailEnd type="none" w="med" len="med"/>
                    </a:lnL>
                    <a:lnR cmpd="sng" algn="ctr" cap="flat" w="38100">
                      <a:solidFill>
                        <a:srgbClr val="972121"/>
                      </a:solidFill>
                      <a:prstDash val="solid"/>
                      <a:round/>
                      <a:headEnd type="none" w="med" len="med"/>
                      <a:tailEnd type="none" w="med" len="med"/>
                    </a:lnR>
                    <a:lnT cmpd="sng" algn="ctr" cap="flat" w="38100">
                      <a:solidFill>
                        <a:srgbClr val="972121"/>
                      </a:solidFill>
                      <a:prstDash val="solid"/>
                      <a:round/>
                      <a:headEnd type="none" w="med" len="med"/>
                      <a:tailEnd type="none" w="med" len="med"/>
                    </a:lnT>
                    <a:lnB cmpd="sng" algn="ctr" cap="flat" w="38100">
                      <a:solidFill>
                        <a:srgbClr val="972121"/>
                      </a:solidFill>
                      <a:prstDash val="solid"/>
                      <a:round/>
                      <a:headEnd type="none" w="med" len="med"/>
                      <a:tailEnd type="none" w="med" len="med"/>
                    </a:lnB>
                  </a:tcPr>
                </a:tc>
              </a:tr>
            </a:tbl>
          </a:graphicData>
        </a:graphic>
      </p:graphicFrame>
      <p:sp>
        <p:nvSpPr>
          <p:cNvPr name="TextBox 16" id="16"/>
          <p:cNvSpPr txBox="true"/>
          <p:nvPr/>
        </p:nvSpPr>
        <p:spPr>
          <a:xfrm rot="0">
            <a:off x="1564423" y="251472"/>
            <a:ext cx="9332841" cy="1450974"/>
          </a:xfrm>
          <a:prstGeom prst="rect">
            <a:avLst/>
          </a:prstGeom>
        </p:spPr>
        <p:txBody>
          <a:bodyPr anchor="t" rtlCol="false" tIns="0" lIns="0" bIns="0" rIns="0">
            <a:spAutoFit/>
          </a:bodyPr>
          <a:lstStyle/>
          <a:p>
            <a:pPr algn="l">
              <a:lnSpc>
                <a:spcPts val="11900"/>
              </a:lnSpc>
            </a:pPr>
            <a:r>
              <a:rPr lang="en-US" sz="8500">
                <a:solidFill>
                  <a:srgbClr val="000000"/>
                </a:solidFill>
                <a:latin typeface="Alatsi"/>
                <a:ea typeface="Alatsi"/>
                <a:cs typeface="Alatsi"/>
                <a:sym typeface="Alatsi"/>
              </a:rPr>
              <a:t>RESEARCH PAPERS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764323" y="674688"/>
            <a:ext cx="16230600"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a:ea typeface="Alatsi"/>
                <a:cs typeface="Alatsi"/>
                <a:sym typeface="Alatsi"/>
              </a:rPr>
              <a:t>LITERARY REVIEW</a:t>
            </a:r>
          </a:p>
        </p:txBody>
      </p:sp>
      <p:grpSp>
        <p:nvGrpSpPr>
          <p:cNvPr name="Group 3" id="3"/>
          <p:cNvGrpSpPr/>
          <p:nvPr/>
        </p:nvGrpSpPr>
        <p:grpSpPr>
          <a:xfrm rot="0">
            <a:off x="1742835" y="3047796"/>
            <a:ext cx="1105361" cy="1105361"/>
            <a:chOff x="0" y="0"/>
            <a:chExt cx="1473815" cy="1473815"/>
          </a:xfrm>
        </p:grpSpPr>
        <p:grpSp>
          <p:nvGrpSpPr>
            <p:cNvPr name="Group 4" id="4"/>
            <p:cNvGrpSpPr/>
            <p:nvPr/>
          </p:nvGrpSpPr>
          <p:grpSpPr>
            <a:xfrm rot="0">
              <a:off x="0" y="0"/>
              <a:ext cx="1473815" cy="1473815"/>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72121"/>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0" y="130580"/>
              <a:ext cx="1473815" cy="1117405"/>
            </a:xfrm>
            <a:prstGeom prst="rect">
              <a:avLst/>
            </a:prstGeom>
          </p:spPr>
          <p:txBody>
            <a:bodyPr anchor="t" rtlCol="false" tIns="0" lIns="0" bIns="0" rIns="0">
              <a:spAutoFit/>
            </a:bodyPr>
            <a:lstStyle/>
            <a:p>
              <a:pPr algn="ctr">
                <a:lnSpc>
                  <a:spcPts val="7048"/>
                </a:lnSpc>
              </a:pPr>
              <a:r>
                <a:rPr lang="en-US" sz="5034">
                  <a:solidFill>
                    <a:srgbClr val="E9E0D9"/>
                  </a:solidFill>
                  <a:latin typeface="Alatsi"/>
                  <a:ea typeface="Alatsi"/>
                  <a:cs typeface="Alatsi"/>
                  <a:sym typeface="Alatsi"/>
                </a:rPr>
                <a:t>1</a:t>
              </a:r>
            </a:p>
          </p:txBody>
        </p:sp>
      </p:grpSp>
      <p:sp>
        <p:nvSpPr>
          <p:cNvPr name="TextBox 8" id="8"/>
          <p:cNvSpPr txBox="true"/>
          <p:nvPr/>
        </p:nvSpPr>
        <p:spPr>
          <a:xfrm rot="0">
            <a:off x="3026608" y="2826256"/>
            <a:ext cx="12832547" cy="1481766"/>
          </a:xfrm>
          <a:prstGeom prst="rect">
            <a:avLst/>
          </a:prstGeom>
        </p:spPr>
        <p:txBody>
          <a:bodyPr anchor="t" rtlCol="false" tIns="0" lIns="0" bIns="0" rIns="0">
            <a:spAutoFit/>
          </a:bodyPr>
          <a:lstStyle/>
          <a:p>
            <a:pPr algn="just">
              <a:lnSpc>
                <a:spcPts val="3902"/>
              </a:lnSpc>
            </a:pPr>
            <a:r>
              <a:rPr lang="en-US" sz="2787">
                <a:solidFill>
                  <a:srgbClr val="000000"/>
                </a:solidFill>
                <a:latin typeface="Alatsi"/>
                <a:ea typeface="Alatsi"/>
                <a:cs typeface="Alatsi"/>
                <a:sym typeface="Alatsi"/>
              </a:rPr>
              <a:t>Current implementations of IoT-based facial recognition systems, while leveraging deep learning techniques, encounter significant challenges in terms of accuracy and scalability, particularly when integrated with devices like the Raspberry Pi.</a:t>
            </a:r>
          </a:p>
        </p:txBody>
      </p:sp>
      <p:sp>
        <p:nvSpPr>
          <p:cNvPr name="TextBox 9" id="9"/>
          <p:cNvSpPr txBox="true"/>
          <p:nvPr/>
        </p:nvSpPr>
        <p:spPr>
          <a:xfrm rot="0">
            <a:off x="2760841" y="4632852"/>
            <a:ext cx="13098315" cy="4486270"/>
          </a:xfrm>
          <a:prstGeom prst="rect">
            <a:avLst/>
          </a:prstGeom>
        </p:spPr>
        <p:txBody>
          <a:bodyPr anchor="t" rtlCol="false" tIns="0" lIns="0" bIns="0" rIns="0">
            <a:spAutoFit/>
          </a:bodyPr>
          <a:lstStyle/>
          <a:p>
            <a:pPr algn="just" marL="615872" indent="-307936" lvl="1">
              <a:lnSpc>
                <a:spcPts val="3993"/>
              </a:lnSpc>
              <a:buFont typeface="Arial"/>
              <a:buChar char="•"/>
            </a:pPr>
            <a:r>
              <a:rPr lang="en-US" sz="2852">
                <a:solidFill>
                  <a:srgbClr val="000000"/>
                </a:solidFill>
                <a:latin typeface="Alatsi"/>
                <a:ea typeface="Alatsi"/>
                <a:cs typeface="Alatsi"/>
                <a:sym typeface="Alatsi"/>
              </a:rPr>
              <a:t>Accu</a:t>
            </a:r>
            <a:r>
              <a:rPr lang="en-US" sz="2852">
                <a:solidFill>
                  <a:srgbClr val="000000"/>
                </a:solidFill>
                <a:latin typeface="Alatsi"/>
                <a:ea typeface="Alatsi"/>
                <a:cs typeface="Alatsi"/>
                <a:sym typeface="Alatsi"/>
              </a:rPr>
              <a:t>racy Issues: Existing models often struggle to deliver real-time, high-accuracy face recognition on resource-constrained devices such as Raspberry Pi.</a:t>
            </a:r>
          </a:p>
          <a:p>
            <a:pPr algn="just" marL="615872" indent="-307936" lvl="1">
              <a:lnSpc>
                <a:spcPts val="3993"/>
              </a:lnSpc>
              <a:buFont typeface="Arial"/>
              <a:buChar char="•"/>
            </a:pPr>
            <a:r>
              <a:rPr lang="en-US" sz="2852">
                <a:solidFill>
                  <a:srgbClr val="000000"/>
                </a:solidFill>
                <a:latin typeface="Alatsi"/>
                <a:ea typeface="Alatsi"/>
                <a:cs typeface="Alatsi"/>
                <a:sym typeface="Alatsi"/>
              </a:rPr>
              <a:t>Wavelet Neural Networks: There is a notable lack of research focused on optimizing wavelet-based neural networks for efficient operation on edge devices.</a:t>
            </a:r>
          </a:p>
          <a:p>
            <a:pPr algn="just" marL="615872" indent="-307936" lvl="1">
              <a:lnSpc>
                <a:spcPts val="3993"/>
              </a:lnSpc>
              <a:buFont typeface="Arial"/>
              <a:buChar char="•"/>
            </a:pPr>
            <a:r>
              <a:rPr lang="en-US" sz="2852">
                <a:solidFill>
                  <a:srgbClr val="000000"/>
                </a:solidFill>
                <a:latin typeface="Alatsi"/>
                <a:ea typeface="Alatsi"/>
                <a:cs typeface="Alatsi"/>
                <a:sym typeface="Alatsi"/>
              </a:rPr>
              <a:t>Scalability Challenges: Scaling IoT systems to support secure and efficient identity recognition remains a pressing concern.</a:t>
            </a:r>
          </a:p>
          <a:p>
            <a:pPr algn="just" marL="615872" indent="-307936" lvl="1">
              <a:lnSpc>
                <a:spcPts val="3993"/>
              </a:lnSpc>
              <a:buFont typeface="Arial"/>
              <a:buChar char="•"/>
            </a:pPr>
            <a:r>
              <a:rPr lang="en-US" sz="2852">
                <a:solidFill>
                  <a:srgbClr val="000000"/>
                </a:solidFill>
                <a:latin typeface="Alatsi"/>
                <a:ea typeface="Alatsi"/>
                <a:cs typeface="Alatsi"/>
                <a:sym typeface="Alatsi"/>
              </a:rPr>
              <a:t>Integration: There is insufficient practical implementation i IoT technologies that effectively support real-time face recognition.</a:t>
            </a:r>
          </a:p>
        </p:txBody>
      </p:sp>
      <p:grpSp>
        <p:nvGrpSpPr>
          <p:cNvPr name="Group 10" id="10"/>
          <p:cNvGrpSpPr/>
          <p:nvPr/>
        </p:nvGrpSpPr>
        <p:grpSpPr>
          <a:xfrm rot="0">
            <a:off x="627362" y="0"/>
            <a:ext cx="937061" cy="10287000"/>
            <a:chOff x="0" y="0"/>
            <a:chExt cx="246798" cy="2709333"/>
          </a:xfrm>
        </p:grpSpPr>
        <p:sp>
          <p:nvSpPr>
            <p:cNvPr name="Freeform 11" id="11"/>
            <p:cNvSpPr/>
            <p:nvPr/>
          </p:nvSpPr>
          <p:spPr>
            <a:xfrm flipH="false" flipV="false" rot="0">
              <a:off x="0" y="0"/>
              <a:ext cx="246798" cy="2709333"/>
            </a:xfrm>
            <a:custGeom>
              <a:avLst/>
              <a:gdLst/>
              <a:ahLst/>
              <a:cxnLst/>
              <a:rect r="r" b="b" t="t" l="l"/>
              <a:pathLst>
                <a:path h="2709333" w="246798">
                  <a:moveTo>
                    <a:pt x="0" y="0"/>
                  </a:moveTo>
                  <a:lnTo>
                    <a:pt x="246798" y="0"/>
                  </a:lnTo>
                  <a:lnTo>
                    <a:pt x="246798" y="2709333"/>
                  </a:lnTo>
                  <a:lnTo>
                    <a:pt x="0" y="2709333"/>
                  </a:lnTo>
                  <a:close/>
                </a:path>
              </a:pathLst>
            </a:custGeom>
            <a:solidFill>
              <a:srgbClr val="F6F3EB"/>
            </a:solidFill>
          </p:spPr>
        </p:sp>
        <p:sp>
          <p:nvSpPr>
            <p:cNvPr name="TextBox 12" id="12"/>
            <p:cNvSpPr txBox="true"/>
            <p:nvPr/>
          </p:nvSpPr>
          <p:spPr>
            <a:xfrm>
              <a:off x="0" y="-38100"/>
              <a:ext cx="246798" cy="2747433"/>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5400000">
            <a:off x="-2373736" y="4911090"/>
            <a:ext cx="6882108" cy="464820"/>
          </a:xfrm>
          <a:prstGeom prst="rect">
            <a:avLst/>
          </a:prstGeom>
        </p:spPr>
        <p:txBody>
          <a:bodyPr anchor="t" rtlCol="false" tIns="0" lIns="0" bIns="0" rIns="0">
            <a:spAutoFit/>
          </a:bodyPr>
          <a:lstStyle/>
          <a:p>
            <a:pPr algn="ctr">
              <a:lnSpc>
                <a:spcPts val="3779"/>
              </a:lnSpc>
            </a:pPr>
            <a:r>
              <a:rPr lang="en-US" sz="2700">
                <a:solidFill>
                  <a:srgbClr val="000000"/>
                </a:solidFill>
                <a:latin typeface="Alatsi"/>
                <a:ea typeface="Alatsi"/>
                <a:cs typeface="Alatsi"/>
                <a:sym typeface="Alatsi"/>
              </a:rPr>
              <a:t>CBIT/IT/2024-25/IT1/106 </a:t>
            </a:r>
          </a:p>
        </p:txBody>
      </p:sp>
      <p:sp>
        <p:nvSpPr>
          <p:cNvPr name="AutoShape 14" id="14"/>
          <p:cNvSpPr/>
          <p:nvPr/>
        </p:nvSpPr>
        <p:spPr>
          <a:xfrm flipH="true" flipV="true">
            <a:off x="1085850" y="7289441"/>
            <a:ext cx="5403" cy="2997456"/>
          </a:xfrm>
          <a:prstGeom prst="line">
            <a:avLst/>
          </a:prstGeom>
          <a:ln cap="flat" w="114300">
            <a:solidFill>
              <a:srgbClr val="727D3D"/>
            </a:solidFill>
            <a:prstDash val="solid"/>
            <a:headEnd type="none" len="sm" w="sm"/>
            <a:tailEnd type="none" len="sm" w="sm"/>
          </a:ln>
        </p:spPr>
      </p:sp>
      <p:sp>
        <p:nvSpPr>
          <p:cNvPr name="AutoShape 15" id="15"/>
          <p:cNvSpPr/>
          <p:nvPr/>
        </p:nvSpPr>
        <p:spPr>
          <a:xfrm flipH="true" flipV="true">
            <a:off x="1090490" y="-104525"/>
            <a:ext cx="5403" cy="2997456"/>
          </a:xfrm>
          <a:prstGeom prst="line">
            <a:avLst/>
          </a:prstGeom>
          <a:ln cap="flat" w="114300">
            <a:solidFill>
              <a:srgbClr val="727D3D"/>
            </a:solidFill>
            <a:prstDash val="solid"/>
            <a:headEnd type="none" len="sm" w="sm"/>
            <a:tailEnd type="none" len="sm" w="sm"/>
          </a:ln>
        </p:spPr>
      </p:sp>
      <p:grpSp>
        <p:nvGrpSpPr>
          <p:cNvPr name="Group 16" id="16"/>
          <p:cNvGrpSpPr/>
          <p:nvPr/>
        </p:nvGrpSpPr>
        <p:grpSpPr>
          <a:xfrm rot="0">
            <a:off x="15859155" y="0"/>
            <a:ext cx="1562612" cy="1673225"/>
            <a:chOff x="0" y="0"/>
            <a:chExt cx="2083482" cy="2230967"/>
          </a:xfrm>
        </p:grpSpPr>
        <p:grpSp>
          <p:nvGrpSpPr>
            <p:cNvPr name="Group 17" id="17"/>
            <p:cNvGrpSpPr/>
            <p:nvPr/>
          </p:nvGrpSpPr>
          <p:grpSpPr>
            <a:xfrm rot="0">
              <a:off x="75599" y="0"/>
              <a:ext cx="1932284" cy="2230967"/>
              <a:chOff x="0" y="0"/>
              <a:chExt cx="703982" cy="812800"/>
            </a:xfrm>
          </p:grpSpPr>
          <p:sp>
            <p:nvSpPr>
              <p:cNvPr name="Freeform 18" id="18"/>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727D3D"/>
              </a:solidFill>
            </p:spPr>
          </p:sp>
          <p:sp>
            <p:nvSpPr>
              <p:cNvPr name="TextBox 19" id="19"/>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b="true">
                  <a:solidFill>
                    <a:srgbClr val="000000"/>
                  </a:solidFill>
                  <a:latin typeface="Open Sans Bold"/>
                  <a:ea typeface="Open Sans Bold"/>
                  <a:cs typeface="Open Sans Bold"/>
                  <a:sym typeface="Open Sans Bold"/>
                </a:rPr>
                <a:t>7</a:t>
              </a:r>
            </a:p>
          </p:txBody>
        </p:sp>
      </p:grpSp>
      <p:sp>
        <p:nvSpPr>
          <p:cNvPr name="Freeform 21" id="21"/>
          <p:cNvSpPr/>
          <p:nvPr/>
        </p:nvSpPr>
        <p:spPr>
          <a:xfrm flipH="false" flipV="false" rot="0">
            <a:off x="9944100" y="9048108"/>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false" flipV="false" rot="0">
            <a:off x="1564423" y="-1641171"/>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2808516" y="1027208"/>
            <a:ext cx="10451219" cy="1450976"/>
          </a:xfrm>
          <a:prstGeom prst="rect">
            <a:avLst/>
          </a:prstGeom>
        </p:spPr>
        <p:txBody>
          <a:bodyPr anchor="t" rtlCol="false" tIns="0" lIns="0" bIns="0" rIns="0">
            <a:spAutoFit/>
          </a:bodyPr>
          <a:lstStyle/>
          <a:p>
            <a:pPr algn="l">
              <a:lnSpc>
                <a:spcPts val="11899"/>
              </a:lnSpc>
            </a:pPr>
            <a:r>
              <a:rPr lang="en-US" sz="8499">
                <a:solidFill>
                  <a:srgbClr val="000000"/>
                </a:solidFill>
                <a:latin typeface="Alatsi"/>
                <a:ea typeface="Alatsi"/>
                <a:cs typeface="Alatsi"/>
                <a:sym typeface="Alatsi"/>
              </a:rPr>
              <a:t>EXISTING SYSTEM</a:t>
            </a:r>
          </a:p>
        </p:txBody>
      </p:sp>
      <p:grpSp>
        <p:nvGrpSpPr>
          <p:cNvPr name="Group 3" id="3"/>
          <p:cNvGrpSpPr/>
          <p:nvPr/>
        </p:nvGrpSpPr>
        <p:grpSpPr>
          <a:xfrm rot="0">
            <a:off x="11013184" y="4296350"/>
            <a:ext cx="5894475" cy="3594285"/>
            <a:chOff x="0" y="0"/>
            <a:chExt cx="1552454" cy="946643"/>
          </a:xfrm>
        </p:grpSpPr>
        <p:sp>
          <p:nvSpPr>
            <p:cNvPr name="Freeform 4" id="4"/>
            <p:cNvSpPr/>
            <p:nvPr/>
          </p:nvSpPr>
          <p:spPr>
            <a:xfrm flipH="false" flipV="false" rot="0">
              <a:off x="0" y="0"/>
              <a:ext cx="1552454" cy="946643"/>
            </a:xfrm>
            <a:custGeom>
              <a:avLst/>
              <a:gdLst/>
              <a:ahLst/>
              <a:cxnLst/>
              <a:rect r="r" b="b" t="t" l="l"/>
              <a:pathLst>
                <a:path h="946643" w="1552454">
                  <a:moveTo>
                    <a:pt x="66984" y="0"/>
                  </a:moveTo>
                  <a:lnTo>
                    <a:pt x="1485470" y="0"/>
                  </a:lnTo>
                  <a:cubicBezTo>
                    <a:pt x="1522464" y="0"/>
                    <a:pt x="1552454" y="29990"/>
                    <a:pt x="1552454" y="66984"/>
                  </a:cubicBezTo>
                  <a:lnTo>
                    <a:pt x="1552454" y="879659"/>
                  </a:lnTo>
                  <a:cubicBezTo>
                    <a:pt x="1552454" y="897424"/>
                    <a:pt x="1545397" y="914462"/>
                    <a:pt x="1532835" y="927024"/>
                  </a:cubicBezTo>
                  <a:cubicBezTo>
                    <a:pt x="1520273" y="939586"/>
                    <a:pt x="1503235" y="946643"/>
                    <a:pt x="1485470" y="946643"/>
                  </a:cubicBezTo>
                  <a:lnTo>
                    <a:pt x="66984" y="946643"/>
                  </a:lnTo>
                  <a:cubicBezTo>
                    <a:pt x="49219" y="946643"/>
                    <a:pt x="32181" y="939586"/>
                    <a:pt x="19619" y="927024"/>
                  </a:cubicBezTo>
                  <a:cubicBezTo>
                    <a:pt x="7057" y="914462"/>
                    <a:pt x="0" y="897424"/>
                    <a:pt x="0" y="879659"/>
                  </a:cubicBezTo>
                  <a:lnTo>
                    <a:pt x="0" y="66984"/>
                  </a:lnTo>
                  <a:cubicBezTo>
                    <a:pt x="0" y="49219"/>
                    <a:pt x="7057" y="32181"/>
                    <a:pt x="19619" y="19619"/>
                  </a:cubicBezTo>
                  <a:cubicBezTo>
                    <a:pt x="32181" y="7057"/>
                    <a:pt x="49219" y="0"/>
                    <a:pt x="66984" y="0"/>
                  </a:cubicBezTo>
                  <a:close/>
                </a:path>
              </a:pathLst>
            </a:custGeom>
            <a:solidFill>
              <a:srgbClr val="972121"/>
            </a:solidFill>
          </p:spPr>
        </p:sp>
        <p:sp>
          <p:nvSpPr>
            <p:cNvPr name="TextBox 5" id="5"/>
            <p:cNvSpPr txBox="true"/>
            <p:nvPr/>
          </p:nvSpPr>
          <p:spPr>
            <a:xfrm>
              <a:off x="0" y="-38100"/>
              <a:ext cx="1552454" cy="984743"/>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1115979" y="4477325"/>
            <a:ext cx="5267237" cy="3124322"/>
          </a:xfrm>
          <a:prstGeom prst="rect">
            <a:avLst/>
          </a:prstGeom>
        </p:spPr>
        <p:txBody>
          <a:bodyPr anchor="t" rtlCol="false" tIns="0" lIns="0" bIns="0" rIns="0">
            <a:spAutoFit/>
          </a:bodyPr>
          <a:lstStyle/>
          <a:p>
            <a:pPr algn="just" marL="646662" indent="-323331" lvl="1">
              <a:lnSpc>
                <a:spcPts val="4193"/>
              </a:lnSpc>
              <a:buFont typeface="Arial"/>
              <a:buChar char="•"/>
            </a:pPr>
            <a:r>
              <a:rPr lang="en-US" sz="2995">
                <a:solidFill>
                  <a:srgbClr val="E9E0D9"/>
                </a:solidFill>
                <a:latin typeface="Alatsi"/>
                <a:ea typeface="Alatsi"/>
                <a:cs typeface="Alatsi"/>
                <a:sym typeface="Alatsi"/>
              </a:rPr>
              <a:t>Haar Cascade Classifier can struggle with varied conditions.</a:t>
            </a:r>
          </a:p>
          <a:p>
            <a:pPr algn="just" marL="646662" indent="-323331" lvl="1">
              <a:lnSpc>
                <a:spcPts val="4193"/>
              </a:lnSpc>
              <a:buFont typeface="Arial"/>
              <a:buChar char="•"/>
            </a:pPr>
            <a:r>
              <a:rPr lang="en-US" sz="2995">
                <a:solidFill>
                  <a:srgbClr val="E9E0D9"/>
                </a:solidFill>
                <a:latin typeface="Alatsi"/>
                <a:ea typeface="Alatsi"/>
                <a:cs typeface="Alatsi"/>
                <a:sym typeface="Alatsi"/>
              </a:rPr>
              <a:t>Low LBPH may falter with lighting changes and facial variations.</a:t>
            </a:r>
          </a:p>
        </p:txBody>
      </p:sp>
      <p:sp>
        <p:nvSpPr>
          <p:cNvPr name="TextBox 7" id="7"/>
          <p:cNvSpPr txBox="true"/>
          <p:nvPr/>
        </p:nvSpPr>
        <p:spPr>
          <a:xfrm rot="0">
            <a:off x="11013184" y="3713920"/>
            <a:ext cx="1963222" cy="553855"/>
          </a:xfrm>
          <a:prstGeom prst="rect">
            <a:avLst/>
          </a:prstGeom>
        </p:spPr>
        <p:txBody>
          <a:bodyPr anchor="t" rtlCol="false" tIns="0" lIns="0" bIns="0" rIns="0">
            <a:spAutoFit/>
          </a:bodyPr>
          <a:lstStyle/>
          <a:p>
            <a:pPr algn="l">
              <a:lnSpc>
                <a:spcPts val="4647"/>
              </a:lnSpc>
            </a:pPr>
            <a:r>
              <a:rPr lang="en-US" sz="3319">
                <a:solidFill>
                  <a:srgbClr val="E9E0D9"/>
                </a:solidFill>
                <a:latin typeface="Alatsi"/>
                <a:ea typeface="Alatsi"/>
                <a:cs typeface="Alatsi"/>
                <a:sym typeface="Alatsi"/>
              </a:rPr>
              <a:t>Drawbacks</a:t>
            </a:r>
          </a:p>
        </p:txBody>
      </p:sp>
      <p:sp>
        <p:nvSpPr>
          <p:cNvPr name="TextBox 8" id="8"/>
          <p:cNvSpPr txBox="true"/>
          <p:nvPr/>
        </p:nvSpPr>
        <p:spPr>
          <a:xfrm rot="0">
            <a:off x="2808516" y="3760304"/>
            <a:ext cx="7543671" cy="4158726"/>
          </a:xfrm>
          <a:prstGeom prst="rect">
            <a:avLst/>
          </a:prstGeom>
        </p:spPr>
        <p:txBody>
          <a:bodyPr anchor="t" rtlCol="false" tIns="0" lIns="0" bIns="0" rIns="0">
            <a:spAutoFit/>
          </a:bodyPr>
          <a:lstStyle/>
          <a:p>
            <a:pPr algn="just">
              <a:lnSpc>
                <a:spcPts val="3700"/>
              </a:lnSpc>
            </a:pPr>
            <a:r>
              <a:rPr lang="en-US" sz="2642">
                <a:solidFill>
                  <a:srgbClr val="000000"/>
                </a:solidFill>
                <a:latin typeface="Alatsi"/>
                <a:ea typeface="Alatsi"/>
                <a:cs typeface="Alatsi"/>
                <a:sym typeface="Alatsi"/>
              </a:rPr>
              <a:t>The existing system focuses on real-time facial recognition in a mobile surveillance system</a:t>
            </a:r>
          </a:p>
          <a:p>
            <a:pPr algn="just">
              <a:lnSpc>
                <a:spcPts val="3700"/>
              </a:lnSpc>
            </a:pPr>
          </a:p>
          <a:p>
            <a:pPr algn="just">
              <a:lnSpc>
                <a:spcPts val="3700"/>
              </a:lnSpc>
            </a:pPr>
            <a:r>
              <a:rPr lang="en-US" sz="2642">
                <a:solidFill>
                  <a:srgbClr val="000000"/>
                </a:solidFill>
                <a:latin typeface="Alatsi"/>
                <a:ea typeface="Alatsi"/>
                <a:cs typeface="Alatsi"/>
                <a:sym typeface="Alatsi"/>
              </a:rPr>
              <a:t>Algorithms:</a:t>
            </a:r>
          </a:p>
          <a:p>
            <a:pPr algn="just" marL="570599" indent="-285299" lvl="1">
              <a:lnSpc>
                <a:spcPts val="3700"/>
              </a:lnSpc>
              <a:buFont typeface="Arial"/>
              <a:buChar char="•"/>
            </a:pPr>
            <a:r>
              <a:rPr lang="en-US" sz="2642">
                <a:solidFill>
                  <a:srgbClr val="000000"/>
                </a:solidFill>
                <a:latin typeface="Alatsi"/>
                <a:ea typeface="Alatsi"/>
                <a:cs typeface="Alatsi"/>
                <a:sym typeface="Alatsi"/>
              </a:rPr>
              <a:t>Haar Cascade Classifier: Detects faces by identifying patterns in images.</a:t>
            </a:r>
          </a:p>
          <a:p>
            <a:pPr algn="just" marL="570599" indent="-285299" lvl="1">
              <a:lnSpc>
                <a:spcPts val="3700"/>
              </a:lnSpc>
              <a:buFont typeface="Arial"/>
              <a:buChar char="•"/>
            </a:pPr>
            <a:r>
              <a:rPr lang="en-US" sz="2642">
                <a:solidFill>
                  <a:srgbClr val="000000"/>
                </a:solidFill>
                <a:latin typeface="Alatsi"/>
                <a:ea typeface="Alatsi"/>
                <a:cs typeface="Alatsi"/>
                <a:sym typeface="Alatsi"/>
              </a:rPr>
              <a:t>LBPH(Local Binary Pattern Histogram): Recognizes faces by comparing local binary patterns in image histograms</a:t>
            </a:r>
          </a:p>
        </p:txBody>
      </p:sp>
      <p:sp>
        <p:nvSpPr>
          <p:cNvPr name="TextBox 9" id="9"/>
          <p:cNvSpPr txBox="true"/>
          <p:nvPr/>
        </p:nvSpPr>
        <p:spPr>
          <a:xfrm rot="-5400000">
            <a:off x="-2373736" y="4911090"/>
            <a:ext cx="6882108" cy="464820"/>
          </a:xfrm>
          <a:prstGeom prst="rect">
            <a:avLst/>
          </a:prstGeom>
        </p:spPr>
        <p:txBody>
          <a:bodyPr anchor="t" rtlCol="false" tIns="0" lIns="0" bIns="0" rIns="0">
            <a:spAutoFit/>
          </a:bodyPr>
          <a:lstStyle/>
          <a:p>
            <a:pPr algn="ctr">
              <a:lnSpc>
                <a:spcPts val="3779"/>
              </a:lnSpc>
            </a:pPr>
            <a:r>
              <a:rPr lang="en-US" sz="2700">
                <a:solidFill>
                  <a:srgbClr val="000000"/>
                </a:solidFill>
                <a:latin typeface="Alatsi"/>
                <a:ea typeface="Alatsi"/>
                <a:cs typeface="Alatsi"/>
                <a:sym typeface="Alatsi"/>
              </a:rPr>
              <a:t>CBIT/IT/2024-25/IT1/106 </a:t>
            </a:r>
          </a:p>
        </p:txBody>
      </p:sp>
      <p:sp>
        <p:nvSpPr>
          <p:cNvPr name="AutoShape 10" id="10"/>
          <p:cNvSpPr/>
          <p:nvPr/>
        </p:nvSpPr>
        <p:spPr>
          <a:xfrm flipH="true" flipV="true">
            <a:off x="1090490" y="-104525"/>
            <a:ext cx="5403" cy="2997456"/>
          </a:xfrm>
          <a:prstGeom prst="line">
            <a:avLst/>
          </a:prstGeom>
          <a:ln cap="flat" w="114300">
            <a:solidFill>
              <a:srgbClr val="727D3D"/>
            </a:solidFill>
            <a:prstDash val="solid"/>
            <a:headEnd type="none" len="sm" w="sm"/>
            <a:tailEnd type="none" len="sm" w="sm"/>
          </a:ln>
        </p:spPr>
      </p:sp>
      <p:sp>
        <p:nvSpPr>
          <p:cNvPr name="AutoShape 11" id="11"/>
          <p:cNvSpPr/>
          <p:nvPr/>
        </p:nvSpPr>
        <p:spPr>
          <a:xfrm flipH="true" flipV="true">
            <a:off x="1085850" y="7289441"/>
            <a:ext cx="5403" cy="2997456"/>
          </a:xfrm>
          <a:prstGeom prst="line">
            <a:avLst/>
          </a:prstGeom>
          <a:ln cap="flat" w="114300">
            <a:solidFill>
              <a:srgbClr val="727D3D"/>
            </a:solidFill>
            <a:prstDash val="solid"/>
            <a:headEnd type="none" len="sm" w="sm"/>
            <a:tailEnd type="none" len="sm" w="sm"/>
          </a:ln>
        </p:spPr>
      </p:sp>
      <p:grpSp>
        <p:nvGrpSpPr>
          <p:cNvPr name="Group 12" id="12"/>
          <p:cNvGrpSpPr/>
          <p:nvPr/>
        </p:nvGrpSpPr>
        <p:grpSpPr>
          <a:xfrm rot="0">
            <a:off x="15859155" y="0"/>
            <a:ext cx="1562612" cy="1673225"/>
            <a:chOff x="0" y="0"/>
            <a:chExt cx="2083482" cy="2230967"/>
          </a:xfrm>
        </p:grpSpPr>
        <p:grpSp>
          <p:nvGrpSpPr>
            <p:cNvPr name="Group 13" id="13"/>
            <p:cNvGrpSpPr/>
            <p:nvPr/>
          </p:nvGrpSpPr>
          <p:grpSpPr>
            <a:xfrm rot="0">
              <a:off x="75599" y="0"/>
              <a:ext cx="1932284" cy="2230967"/>
              <a:chOff x="0" y="0"/>
              <a:chExt cx="703982" cy="812800"/>
            </a:xfrm>
          </p:grpSpPr>
          <p:sp>
            <p:nvSpPr>
              <p:cNvPr name="Freeform 14" id="14"/>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727D3D"/>
              </a:solidFill>
            </p:spPr>
          </p:sp>
          <p:sp>
            <p:nvSpPr>
              <p:cNvPr name="TextBox 15" id="15"/>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b="true">
                  <a:solidFill>
                    <a:srgbClr val="000000"/>
                  </a:solidFill>
                  <a:latin typeface="Open Sans Bold"/>
                  <a:ea typeface="Open Sans Bold"/>
                  <a:cs typeface="Open Sans Bold"/>
                  <a:sym typeface="Open Sans Bold"/>
                </a:rPr>
                <a:t>8</a:t>
              </a:r>
            </a:p>
          </p:txBody>
        </p:sp>
      </p:grpSp>
      <p:sp>
        <p:nvSpPr>
          <p:cNvPr name="Freeform 17" id="17"/>
          <p:cNvSpPr/>
          <p:nvPr/>
        </p:nvSpPr>
        <p:spPr>
          <a:xfrm flipH="false" flipV="false" rot="0">
            <a:off x="7512165" y="-1553858"/>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892058" y="9258300"/>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grpSp>
        <p:nvGrpSpPr>
          <p:cNvPr name="Group 2" id="2"/>
          <p:cNvGrpSpPr/>
          <p:nvPr/>
        </p:nvGrpSpPr>
        <p:grpSpPr>
          <a:xfrm rot="0">
            <a:off x="10360418" y="3760398"/>
            <a:ext cx="6451136" cy="4351989"/>
            <a:chOff x="0" y="0"/>
            <a:chExt cx="1699065" cy="1146203"/>
          </a:xfrm>
        </p:grpSpPr>
        <p:sp>
          <p:nvSpPr>
            <p:cNvPr name="Freeform 3" id="3"/>
            <p:cNvSpPr/>
            <p:nvPr/>
          </p:nvSpPr>
          <p:spPr>
            <a:xfrm flipH="false" flipV="false" rot="0">
              <a:off x="0" y="0"/>
              <a:ext cx="1699065" cy="1146203"/>
            </a:xfrm>
            <a:custGeom>
              <a:avLst/>
              <a:gdLst/>
              <a:ahLst/>
              <a:cxnLst/>
              <a:rect r="r" b="b" t="t" l="l"/>
              <a:pathLst>
                <a:path h="1146203" w="1699065">
                  <a:moveTo>
                    <a:pt x="61204" y="0"/>
                  </a:moveTo>
                  <a:lnTo>
                    <a:pt x="1637860" y="0"/>
                  </a:lnTo>
                  <a:cubicBezTo>
                    <a:pt x="1671662" y="0"/>
                    <a:pt x="1699065" y="27402"/>
                    <a:pt x="1699065" y="61204"/>
                  </a:cubicBezTo>
                  <a:lnTo>
                    <a:pt x="1699065" y="1084998"/>
                  </a:lnTo>
                  <a:cubicBezTo>
                    <a:pt x="1699065" y="1101231"/>
                    <a:pt x="1692616" y="1116798"/>
                    <a:pt x="1681138" y="1128276"/>
                  </a:cubicBezTo>
                  <a:cubicBezTo>
                    <a:pt x="1669660" y="1139754"/>
                    <a:pt x="1654093" y="1146203"/>
                    <a:pt x="1637860" y="1146203"/>
                  </a:cubicBezTo>
                  <a:lnTo>
                    <a:pt x="61204" y="1146203"/>
                  </a:lnTo>
                  <a:cubicBezTo>
                    <a:pt x="27402" y="1146203"/>
                    <a:pt x="0" y="1118801"/>
                    <a:pt x="0" y="1084998"/>
                  </a:cubicBezTo>
                  <a:lnTo>
                    <a:pt x="0" y="61204"/>
                  </a:lnTo>
                  <a:cubicBezTo>
                    <a:pt x="0" y="27402"/>
                    <a:pt x="27402" y="0"/>
                    <a:pt x="61204" y="0"/>
                  </a:cubicBezTo>
                  <a:close/>
                </a:path>
              </a:pathLst>
            </a:custGeom>
            <a:solidFill>
              <a:srgbClr val="972121"/>
            </a:solidFill>
          </p:spPr>
        </p:sp>
        <p:sp>
          <p:nvSpPr>
            <p:cNvPr name="TextBox 4" id="4"/>
            <p:cNvSpPr txBox="true"/>
            <p:nvPr/>
          </p:nvSpPr>
          <p:spPr>
            <a:xfrm>
              <a:off x="0" y="-38100"/>
              <a:ext cx="1699065" cy="1184303"/>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0685170" y="3931848"/>
            <a:ext cx="5801632" cy="3957955"/>
          </a:xfrm>
          <a:prstGeom prst="rect">
            <a:avLst/>
          </a:prstGeom>
        </p:spPr>
        <p:txBody>
          <a:bodyPr anchor="t" rtlCol="false" tIns="0" lIns="0" bIns="0" rIns="0">
            <a:spAutoFit/>
          </a:bodyPr>
          <a:lstStyle/>
          <a:p>
            <a:pPr algn="l" marL="604519" indent="-302260" lvl="1">
              <a:lnSpc>
                <a:spcPts val="3919"/>
              </a:lnSpc>
              <a:buFont typeface="Arial"/>
              <a:buChar char="•"/>
            </a:pPr>
            <a:r>
              <a:rPr lang="en-US" sz="2799">
                <a:solidFill>
                  <a:srgbClr val="E9E0D9"/>
                </a:solidFill>
                <a:latin typeface="Alatsi"/>
                <a:ea typeface="Alatsi"/>
                <a:cs typeface="Alatsi"/>
                <a:sym typeface="Alatsi"/>
              </a:rPr>
              <a:t>The system applies wavelet-based transformations (O, T, L, I) to grayscale images, selecting the best transformation using L1 normalization. </a:t>
            </a:r>
          </a:p>
          <a:p>
            <a:pPr algn="l" marL="604519" indent="-302260" lvl="1">
              <a:lnSpc>
                <a:spcPts val="3919"/>
              </a:lnSpc>
              <a:buFont typeface="Arial"/>
              <a:buChar char="•"/>
            </a:pPr>
            <a:r>
              <a:rPr lang="en-US" sz="2799">
                <a:solidFill>
                  <a:srgbClr val="E9E0D9"/>
                </a:solidFill>
                <a:latin typeface="Alatsi"/>
                <a:ea typeface="Alatsi"/>
                <a:cs typeface="Alatsi"/>
                <a:sym typeface="Alatsi"/>
              </a:rPr>
              <a:t>Extracted features can be used for prediction using SSIM and LBPH</a:t>
            </a:r>
          </a:p>
        </p:txBody>
      </p:sp>
      <p:sp>
        <p:nvSpPr>
          <p:cNvPr name="TextBox 6" id="6"/>
          <p:cNvSpPr txBox="true"/>
          <p:nvPr/>
        </p:nvSpPr>
        <p:spPr>
          <a:xfrm rot="0">
            <a:off x="10360418" y="3177968"/>
            <a:ext cx="3733205" cy="553855"/>
          </a:xfrm>
          <a:prstGeom prst="rect">
            <a:avLst/>
          </a:prstGeom>
        </p:spPr>
        <p:txBody>
          <a:bodyPr anchor="t" rtlCol="false" tIns="0" lIns="0" bIns="0" rIns="0">
            <a:spAutoFit/>
          </a:bodyPr>
          <a:lstStyle/>
          <a:p>
            <a:pPr algn="l">
              <a:lnSpc>
                <a:spcPts val="4647"/>
              </a:lnSpc>
            </a:pPr>
            <a:r>
              <a:rPr lang="en-US" sz="3319">
                <a:solidFill>
                  <a:srgbClr val="E9E0D9"/>
                </a:solidFill>
                <a:latin typeface="Alatsi"/>
                <a:ea typeface="Alatsi"/>
                <a:cs typeface="Alatsi"/>
                <a:sym typeface="Alatsi"/>
              </a:rPr>
              <a:t>Possible Algorithms:</a:t>
            </a:r>
          </a:p>
        </p:txBody>
      </p:sp>
      <p:sp>
        <p:nvSpPr>
          <p:cNvPr name="TextBox 7" id="7"/>
          <p:cNvSpPr txBox="true"/>
          <p:nvPr/>
        </p:nvSpPr>
        <p:spPr>
          <a:xfrm rot="0">
            <a:off x="2808516" y="2934594"/>
            <a:ext cx="6697545" cy="6011484"/>
          </a:xfrm>
          <a:prstGeom prst="rect">
            <a:avLst/>
          </a:prstGeom>
        </p:spPr>
        <p:txBody>
          <a:bodyPr anchor="t" rtlCol="false" tIns="0" lIns="0" bIns="0" rIns="0">
            <a:spAutoFit/>
          </a:bodyPr>
          <a:lstStyle/>
          <a:p>
            <a:pPr algn="just">
              <a:lnSpc>
                <a:spcPts val="3700"/>
              </a:lnSpc>
            </a:pPr>
            <a:r>
              <a:rPr lang="en-US" sz="2642">
                <a:solidFill>
                  <a:srgbClr val="000000"/>
                </a:solidFill>
                <a:latin typeface="Alatsi"/>
                <a:ea typeface="Alatsi"/>
                <a:cs typeface="Alatsi"/>
                <a:sym typeface="Alatsi"/>
              </a:rPr>
              <a:t>The proposed system leverages wavelet neural networks to enhance face detection and recognition, utilizing wavelet transforms to capture both spatial and frequency information for improved accuracy and robustness.</a:t>
            </a:r>
          </a:p>
          <a:p>
            <a:pPr algn="just" marL="570599" indent="-285299" lvl="1">
              <a:lnSpc>
                <a:spcPts val="3700"/>
              </a:lnSpc>
              <a:buFont typeface="Arial"/>
              <a:buChar char="•"/>
            </a:pPr>
            <a:r>
              <a:rPr lang="en-US" sz="2642">
                <a:solidFill>
                  <a:srgbClr val="000000"/>
                </a:solidFill>
                <a:latin typeface="Alatsi"/>
                <a:ea typeface="Alatsi"/>
                <a:cs typeface="Alatsi"/>
                <a:sym typeface="Alatsi"/>
              </a:rPr>
              <a:t>Better detection and recognition under varying conditions like lighting and pose changes.</a:t>
            </a:r>
          </a:p>
          <a:p>
            <a:pPr algn="just" marL="570599" indent="-285299" lvl="1">
              <a:lnSpc>
                <a:spcPts val="3700"/>
              </a:lnSpc>
              <a:buFont typeface="Arial"/>
              <a:buChar char="•"/>
            </a:pPr>
            <a:r>
              <a:rPr lang="en-US" sz="2642">
                <a:solidFill>
                  <a:srgbClr val="000000"/>
                </a:solidFill>
                <a:latin typeface="Alatsi"/>
                <a:ea typeface="Alatsi"/>
                <a:cs typeface="Alatsi"/>
                <a:sym typeface="Alatsi"/>
              </a:rPr>
              <a:t>Wavelet transforms decompose images into different frequency components, allowing for more effective filtering of noise and irrelevant data.</a:t>
            </a:r>
          </a:p>
        </p:txBody>
      </p:sp>
      <p:sp>
        <p:nvSpPr>
          <p:cNvPr name="TextBox 8" id="8"/>
          <p:cNvSpPr txBox="true"/>
          <p:nvPr/>
        </p:nvSpPr>
        <p:spPr>
          <a:xfrm rot="-5400000">
            <a:off x="-2373736" y="4911090"/>
            <a:ext cx="6882108" cy="464820"/>
          </a:xfrm>
          <a:prstGeom prst="rect">
            <a:avLst/>
          </a:prstGeom>
        </p:spPr>
        <p:txBody>
          <a:bodyPr anchor="t" rtlCol="false" tIns="0" lIns="0" bIns="0" rIns="0">
            <a:spAutoFit/>
          </a:bodyPr>
          <a:lstStyle/>
          <a:p>
            <a:pPr algn="ctr">
              <a:lnSpc>
                <a:spcPts val="3779"/>
              </a:lnSpc>
            </a:pPr>
            <a:r>
              <a:rPr lang="en-US" sz="2700">
                <a:solidFill>
                  <a:srgbClr val="000000"/>
                </a:solidFill>
                <a:latin typeface="Alatsi"/>
                <a:ea typeface="Alatsi"/>
                <a:cs typeface="Alatsi"/>
                <a:sym typeface="Alatsi"/>
              </a:rPr>
              <a:t>CBIT/IT/2024-25/IT1/106 </a:t>
            </a:r>
          </a:p>
        </p:txBody>
      </p:sp>
      <p:sp>
        <p:nvSpPr>
          <p:cNvPr name="AutoShape 9" id="9"/>
          <p:cNvSpPr/>
          <p:nvPr/>
        </p:nvSpPr>
        <p:spPr>
          <a:xfrm flipH="true" flipV="true">
            <a:off x="1090490" y="-104525"/>
            <a:ext cx="5403" cy="2997456"/>
          </a:xfrm>
          <a:prstGeom prst="line">
            <a:avLst/>
          </a:prstGeom>
          <a:ln cap="flat" w="114300">
            <a:solidFill>
              <a:srgbClr val="727D3D"/>
            </a:solidFill>
            <a:prstDash val="solid"/>
            <a:headEnd type="none" len="sm" w="sm"/>
            <a:tailEnd type="none" len="sm" w="sm"/>
          </a:ln>
        </p:spPr>
      </p:sp>
      <p:sp>
        <p:nvSpPr>
          <p:cNvPr name="AutoShape 10" id="10"/>
          <p:cNvSpPr/>
          <p:nvPr/>
        </p:nvSpPr>
        <p:spPr>
          <a:xfrm flipH="true" flipV="true">
            <a:off x="1085850" y="7289441"/>
            <a:ext cx="5403" cy="2997456"/>
          </a:xfrm>
          <a:prstGeom prst="line">
            <a:avLst/>
          </a:prstGeom>
          <a:ln cap="flat" w="114300">
            <a:solidFill>
              <a:srgbClr val="727D3D"/>
            </a:solidFill>
            <a:prstDash val="solid"/>
            <a:headEnd type="none" len="sm" w="sm"/>
            <a:tailEnd type="none" len="sm" w="sm"/>
          </a:ln>
        </p:spPr>
      </p:sp>
      <p:grpSp>
        <p:nvGrpSpPr>
          <p:cNvPr name="Group 11" id="11"/>
          <p:cNvGrpSpPr/>
          <p:nvPr/>
        </p:nvGrpSpPr>
        <p:grpSpPr>
          <a:xfrm rot="0">
            <a:off x="15915855" y="0"/>
            <a:ext cx="1449213" cy="1673225"/>
            <a:chOff x="0" y="0"/>
            <a:chExt cx="703982" cy="812800"/>
          </a:xfrm>
        </p:grpSpPr>
        <p:sp>
          <p:nvSpPr>
            <p:cNvPr name="Freeform 12" id="12"/>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727D3D"/>
            </a:solidFill>
          </p:spPr>
        </p:sp>
        <p:sp>
          <p:nvSpPr>
            <p:cNvPr name="TextBox 13" id="13"/>
            <p:cNvSpPr txBox="true"/>
            <p:nvPr/>
          </p:nvSpPr>
          <p:spPr>
            <a:xfrm>
              <a:off x="0" y="-104775"/>
              <a:ext cx="703982" cy="790575"/>
            </a:xfrm>
            <a:prstGeom prst="rect">
              <a:avLst/>
            </a:prstGeom>
          </p:spPr>
          <p:txBody>
            <a:bodyPr anchor="ctr" rtlCol="false" tIns="50800" lIns="50800" bIns="50800" rIns="50800"/>
            <a:lstStyle/>
            <a:p>
              <a:pPr algn="ctr">
                <a:lnSpc>
                  <a:spcPts val="6719"/>
                </a:lnSpc>
              </a:pPr>
              <a:r>
                <a:rPr lang="en-US" sz="4799">
                  <a:solidFill>
                    <a:srgbClr val="000000"/>
                  </a:solidFill>
                  <a:latin typeface="Abhaya Libre"/>
                  <a:ea typeface="Abhaya Libre"/>
                  <a:cs typeface="Abhaya Libre"/>
                  <a:sym typeface="Abhaya Libre"/>
                </a:rPr>
                <a:t>9</a:t>
              </a:r>
            </a:p>
          </p:txBody>
        </p:sp>
      </p:grpSp>
      <p:sp>
        <p:nvSpPr>
          <p:cNvPr name="Freeform 14" id="14"/>
          <p:cNvSpPr/>
          <p:nvPr/>
        </p:nvSpPr>
        <p:spPr>
          <a:xfrm flipH="false" flipV="false" rot="0">
            <a:off x="7512165" y="-1553858"/>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892058" y="9048108"/>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6" id="16"/>
          <p:cNvGrpSpPr/>
          <p:nvPr/>
        </p:nvGrpSpPr>
        <p:grpSpPr>
          <a:xfrm rot="0">
            <a:off x="15859155" y="0"/>
            <a:ext cx="1562612" cy="1673225"/>
            <a:chOff x="0" y="0"/>
            <a:chExt cx="2083482" cy="2230967"/>
          </a:xfrm>
        </p:grpSpPr>
        <p:grpSp>
          <p:nvGrpSpPr>
            <p:cNvPr name="Group 17" id="17"/>
            <p:cNvGrpSpPr/>
            <p:nvPr/>
          </p:nvGrpSpPr>
          <p:grpSpPr>
            <a:xfrm rot="0">
              <a:off x="75599" y="0"/>
              <a:ext cx="1932284" cy="2230967"/>
              <a:chOff x="0" y="0"/>
              <a:chExt cx="703982" cy="812800"/>
            </a:xfrm>
          </p:grpSpPr>
          <p:sp>
            <p:nvSpPr>
              <p:cNvPr name="Freeform 18" id="18"/>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727D3D"/>
              </a:solidFill>
            </p:spPr>
          </p:sp>
          <p:sp>
            <p:nvSpPr>
              <p:cNvPr name="TextBox 19" id="19"/>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b="true">
                  <a:solidFill>
                    <a:srgbClr val="000000"/>
                  </a:solidFill>
                  <a:latin typeface="Open Sans Bold"/>
                  <a:ea typeface="Open Sans Bold"/>
                  <a:cs typeface="Open Sans Bold"/>
                  <a:sym typeface="Open Sans Bold"/>
                </a:rPr>
                <a:t>9</a:t>
              </a:r>
            </a:p>
          </p:txBody>
        </p:sp>
      </p:grpSp>
      <p:sp>
        <p:nvSpPr>
          <p:cNvPr name="TextBox 21" id="21"/>
          <p:cNvSpPr txBox="true"/>
          <p:nvPr/>
        </p:nvSpPr>
        <p:spPr>
          <a:xfrm rot="0">
            <a:off x="2542944" y="927605"/>
            <a:ext cx="10451219" cy="1450976"/>
          </a:xfrm>
          <a:prstGeom prst="rect">
            <a:avLst/>
          </a:prstGeom>
        </p:spPr>
        <p:txBody>
          <a:bodyPr anchor="t" rtlCol="false" tIns="0" lIns="0" bIns="0" rIns="0">
            <a:spAutoFit/>
          </a:bodyPr>
          <a:lstStyle/>
          <a:p>
            <a:pPr algn="l">
              <a:lnSpc>
                <a:spcPts val="11899"/>
              </a:lnSpc>
            </a:pPr>
            <a:r>
              <a:rPr lang="en-US" sz="8499">
                <a:solidFill>
                  <a:srgbClr val="000000"/>
                </a:solidFill>
                <a:latin typeface="Alatsi"/>
                <a:ea typeface="Alatsi"/>
                <a:cs typeface="Alatsi"/>
                <a:sym typeface="Alatsi"/>
              </a:rPr>
              <a:t>PROPOSED SYSTEM</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1028700" y="866775"/>
            <a:ext cx="16230600"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a:ea typeface="Alatsi"/>
                <a:cs typeface="Alatsi"/>
                <a:sym typeface="Alatsi"/>
              </a:rPr>
              <a:t>REQUIREMENTS</a:t>
            </a:r>
          </a:p>
        </p:txBody>
      </p:sp>
      <p:sp>
        <p:nvSpPr>
          <p:cNvPr name="TextBox 3" id="3"/>
          <p:cNvSpPr txBox="true"/>
          <p:nvPr/>
        </p:nvSpPr>
        <p:spPr>
          <a:xfrm rot="0">
            <a:off x="5702946" y="8800282"/>
            <a:ext cx="6882108" cy="464820"/>
          </a:xfrm>
          <a:prstGeom prst="rect">
            <a:avLst/>
          </a:prstGeom>
        </p:spPr>
        <p:txBody>
          <a:bodyPr anchor="t" rtlCol="false" tIns="0" lIns="0" bIns="0" rIns="0">
            <a:spAutoFit/>
          </a:bodyPr>
          <a:lstStyle/>
          <a:p>
            <a:pPr algn="ctr">
              <a:lnSpc>
                <a:spcPts val="3779"/>
              </a:lnSpc>
            </a:pPr>
            <a:r>
              <a:rPr lang="en-US" sz="2700">
                <a:solidFill>
                  <a:srgbClr val="000000"/>
                </a:solidFill>
                <a:latin typeface="Alatsi"/>
                <a:ea typeface="Alatsi"/>
                <a:cs typeface="Alatsi"/>
                <a:sym typeface="Alatsi"/>
              </a:rPr>
              <a:t>CBIT/IT/2024-25/IT1/106 </a:t>
            </a:r>
          </a:p>
        </p:txBody>
      </p:sp>
      <p:sp>
        <p:nvSpPr>
          <p:cNvPr name="Freeform 4" id="4"/>
          <p:cNvSpPr/>
          <p:nvPr/>
        </p:nvSpPr>
        <p:spPr>
          <a:xfrm flipH="false" flipV="false" rot="0">
            <a:off x="13417488" y="6142174"/>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2021606" y="3891701"/>
            <a:ext cx="7362681" cy="2747256"/>
            <a:chOff x="0" y="0"/>
            <a:chExt cx="9816907" cy="3663008"/>
          </a:xfrm>
        </p:grpSpPr>
        <p:grpSp>
          <p:nvGrpSpPr>
            <p:cNvPr name="Group 6" id="6"/>
            <p:cNvGrpSpPr/>
            <p:nvPr/>
          </p:nvGrpSpPr>
          <p:grpSpPr>
            <a:xfrm rot="0">
              <a:off x="0" y="0"/>
              <a:ext cx="9816907" cy="3663008"/>
              <a:chOff x="0" y="0"/>
              <a:chExt cx="1939142" cy="723557"/>
            </a:xfrm>
          </p:grpSpPr>
          <p:sp>
            <p:nvSpPr>
              <p:cNvPr name="Freeform 7" id="7"/>
              <p:cNvSpPr/>
              <p:nvPr/>
            </p:nvSpPr>
            <p:spPr>
              <a:xfrm flipH="false" flipV="false" rot="0">
                <a:off x="0" y="0"/>
                <a:ext cx="1939142" cy="723557"/>
              </a:xfrm>
              <a:custGeom>
                <a:avLst/>
                <a:gdLst/>
                <a:ahLst/>
                <a:cxnLst/>
                <a:rect r="r" b="b" t="t" l="l"/>
                <a:pathLst>
                  <a:path h="723557" w="1939142">
                    <a:moveTo>
                      <a:pt x="53627" y="0"/>
                    </a:moveTo>
                    <a:lnTo>
                      <a:pt x="1885515" y="0"/>
                    </a:lnTo>
                    <a:cubicBezTo>
                      <a:pt x="1915133" y="0"/>
                      <a:pt x="1939142" y="24010"/>
                      <a:pt x="1939142" y="53627"/>
                    </a:cubicBezTo>
                    <a:lnTo>
                      <a:pt x="1939142" y="669930"/>
                    </a:lnTo>
                    <a:cubicBezTo>
                      <a:pt x="1939142" y="684153"/>
                      <a:pt x="1933492" y="697793"/>
                      <a:pt x="1923435" y="707850"/>
                    </a:cubicBezTo>
                    <a:cubicBezTo>
                      <a:pt x="1913378" y="717907"/>
                      <a:pt x="1899738" y="723557"/>
                      <a:pt x="1885515" y="723557"/>
                    </a:cubicBezTo>
                    <a:lnTo>
                      <a:pt x="53627" y="723557"/>
                    </a:lnTo>
                    <a:cubicBezTo>
                      <a:pt x="24010" y="723557"/>
                      <a:pt x="0" y="699548"/>
                      <a:pt x="0" y="669930"/>
                    </a:cubicBezTo>
                    <a:lnTo>
                      <a:pt x="0" y="53627"/>
                    </a:lnTo>
                    <a:cubicBezTo>
                      <a:pt x="0" y="39404"/>
                      <a:pt x="5650" y="25764"/>
                      <a:pt x="15707" y="15707"/>
                    </a:cubicBezTo>
                    <a:cubicBezTo>
                      <a:pt x="25764" y="5650"/>
                      <a:pt x="39404" y="0"/>
                      <a:pt x="53627" y="0"/>
                    </a:cubicBezTo>
                    <a:close/>
                  </a:path>
                </a:pathLst>
              </a:custGeom>
              <a:solidFill>
                <a:srgbClr val="972121"/>
              </a:solidFill>
            </p:spPr>
          </p:sp>
          <p:sp>
            <p:nvSpPr>
              <p:cNvPr name="TextBox 8" id="8"/>
              <p:cNvSpPr txBox="true"/>
              <p:nvPr/>
            </p:nvSpPr>
            <p:spPr>
              <a:xfrm>
                <a:off x="0" y="-38100"/>
                <a:ext cx="1939142" cy="761657"/>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175935" y="1625991"/>
              <a:ext cx="7332169" cy="1409488"/>
            </a:xfrm>
            <a:prstGeom prst="rect">
              <a:avLst/>
            </a:prstGeom>
          </p:spPr>
          <p:txBody>
            <a:bodyPr anchor="t" rtlCol="false" tIns="0" lIns="0" bIns="0" rIns="0">
              <a:spAutoFit/>
            </a:bodyPr>
            <a:lstStyle/>
            <a:p>
              <a:pPr algn="l" marL="669289" indent="-334645" lvl="1">
                <a:lnSpc>
                  <a:spcPts val="4339"/>
                </a:lnSpc>
                <a:buFont typeface="Arial"/>
                <a:buChar char="•"/>
              </a:pPr>
              <a:r>
                <a:rPr lang="en-US" sz="3099">
                  <a:solidFill>
                    <a:srgbClr val="E9E0D9"/>
                  </a:solidFill>
                  <a:latin typeface="Alatsi"/>
                  <a:ea typeface="Alatsi"/>
                  <a:cs typeface="Alatsi"/>
                  <a:sym typeface="Alatsi"/>
                </a:rPr>
                <a:t>Lan</a:t>
              </a:r>
              <a:r>
                <a:rPr lang="en-US" sz="3099">
                  <a:solidFill>
                    <a:srgbClr val="E9E0D9"/>
                  </a:solidFill>
                  <a:latin typeface="Alatsi"/>
                  <a:ea typeface="Alatsi"/>
                  <a:cs typeface="Alatsi"/>
                  <a:sym typeface="Alatsi"/>
                </a:rPr>
                <a:t>guage: Python 3</a:t>
              </a:r>
              <a:r>
                <a:rPr lang="en-US" sz="3099">
                  <a:solidFill>
                    <a:srgbClr val="E9E0D9"/>
                  </a:solidFill>
                  <a:latin typeface="Alatsi"/>
                  <a:ea typeface="Alatsi"/>
                  <a:cs typeface="Alatsi"/>
                  <a:sym typeface="Alatsi"/>
                </a:rPr>
                <a:t> </a:t>
              </a:r>
            </a:p>
            <a:p>
              <a:pPr algn="l" marL="669289" indent="-334645" lvl="1">
                <a:lnSpc>
                  <a:spcPts val="4339"/>
                </a:lnSpc>
                <a:buFont typeface="Arial"/>
                <a:buChar char="•"/>
              </a:pPr>
              <a:r>
                <a:rPr lang="en-US" sz="3099">
                  <a:solidFill>
                    <a:srgbClr val="E9E0D9"/>
                  </a:solidFill>
                  <a:latin typeface="Alatsi"/>
                  <a:ea typeface="Alatsi"/>
                  <a:cs typeface="Alatsi"/>
                  <a:sym typeface="Alatsi"/>
                </a:rPr>
                <a:t>IDE: VS Code / Google Colab</a:t>
              </a:r>
            </a:p>
          </p:txBody>
        </p:sp>
        <p:sp>
          <p:nvSpPr>
            <p:cNvPr name="TextBox 10" id="10"/>
            <p:cNvSpPr txBox="true"/>
            <p:nvPr/>
          </p:nvSpPr>
          <p:spPr>
            <a:xfrm rot="0">
              <a:off x="1816453" y="408082"/>
              <a:ext cx="5170976" cy="880533"/>
            </a:xfrm>
            <a:prstGeom prst="rect">
              <a:avLst/>
            </a:prstGeom>
          </p:spPr>
          <p:txBody>
            <a:bodyPr anchor="t" rtlCol="false" tIns="0" lIns="0" bIns="0" rIns="0">
              <a:spAutoFit/>
            </a:bodyPr>
            <a:lstStyle/>
            <a:p>
              <a:pPr algn="l">
                <a:lnSpc>
                  <a:spcPts val="5599"/>
                </a:lnSpc>
              </a:pPr>
              <a:r>
                <a:rPr lang="en-US" sz="3999">
                  <a:solidFill>
                    <a:srgbClr val="E9E0D9"/>
                  </a:solidFill>
                  <a:latin typeface="Alatsi"/>
                  <a:ea typeface="Alatsi"/>
                  <a:cs typeface="Alatsi"/>
                  <a:sym typeface="Alatsi"/>
                </a:rPr>
                <a:t>Software</a:t>
              </a:r>
            </a:p>
          </p:txBody>
        </p:sp>
        <p:grpSp>
          <p:nvGrpSpPr>
            <p:cNvPr name="Group 11" id="11"/>
            <p:cNvGrpSpPr/>
            <p:nvPr/>
          </p:nvGrpSpPr>
          <p:grpSpPr>
            <a:xfrm rot="0">
              <a:off x="486655" y="541809"/>
              <a:ext cx="689280" cy="68928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F3EB"/>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sp>
        <p:nvSpPr>
          <p:cNvPr name="AutoShape 14" id="14"/>
          <p:cNvSpPr/>
          <p:nvPr/>
        </p:nvSpPr>
        <p:spPr>
          <a:xfrm>
            <a:off x="-260599" y="9061267"/>
            <a:ext cx="7105264" cy="19050"/>
          </a:xfrm>
          <a:prstGeom prst="line">
            <a:avLst/>
          </a:prstGeom>
          <a:ln cap="flat" w="114300">
            <a:solidFill>
              <a:srgbClr val="727D3D"/>
            </a:solidFill>
            <a:prstDash val="solid"/>
            <a:headEnd type="none" len="sm" w="sm"/>
            <a:tailEnd type="none" len="sm" w="sm"/>
          </a:ln>
        </p:spPr>
      </p:sp>
      <p:sp>
        <p:nvSpPr>
          <p:cNvPr name="AutoShape 15" id="15"/>
          <p:cNvSpPr/>
          <p:nvPr/>
        </p:nvSpPr>
        <p:spPr>
          <a:xfrm>
            <a:off x="11430169" y="9061267"/>
            <a:ext cx="7105264" cy="19050"/>
          </a:xfrm>
          <a:prstGeom prst="line">
            <a:avLst/>
          </a:prstGeom>
          <a:ln cap="flat" w="114300">
            <a:solidFill>
              <a:srgbClr val="727D3D"/>
            </a:solidFill>
            <a:prstDash val="solid"/>
            <a:headEnd type="none" len="sm" w="sm"/>
            <a:tailEnd type="none" len="sm" w="sm"/>
          </a:ln>
        </p:spPr>
      </p:sp>
      <p:grpSp>
        <p:nvGrpSpPr>
          <p:cNvPr name="Group 16" id="16"/>
          <p:cNvGrpSpPr/>
          <p:nvPr/>
        </p:nvGrpSpPr>
        <p:grpSpPr>
          <a:xfrm rot="0">
            <a:off x="15915855" y="0"/>
            <a:ext cx="1449213" cy="1673225"/>
            <a:chOff x="0" y="0"/>
            <a:chExt cx="703982" cy="812800"/>
          </a:xfrm>
        </p:grpSpPr>
        <p:sp>
          <p:nvSpPr>
            <p:cNvPr name="Freeform 17" id="17"/>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727D3D"/>
            </a:solidFill>
          </p:spPr>
        </p:sp>
        <p:sp>
          <p:nvSpPr>
            <p:cNvPr name="TextBox 18" id="18"/>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Freeform 19" id="19"/>
          <p:cNvSpPr/>
          <p:nvPr/>
        </p:nvSpPr>
        <p:spPr>
          <a:xfrm flipH="false" flipV="false" rot="0">
            <a:off x="-2243137" y="-402279"/>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0" id="20"/>
          <p:cNvGrpSpPr/>
          <p:nvPr/>
        </p:nvGrpSpPr>
        <p:grpSpPr>
          <a:xfrm rot="0">
            <a:off x="15859155" y="0"/>
            <a:ext cx="1562612" cy="1673225"/>
            <a:chOff x="0" y="0"/>
            <a:chExt cx="2083482" cy="2230967"/>
          </a:xfrm>
        </p:grpSpPr>
        <p:grpSp>
          <p:nvGrpSpPr>
            <p:cNvPr name="Group 21" id="21"/>
            <p:cNvGrpSpPr/>
            <p:nvPr/>
          </p:nvGrpSpPr>
          <p:grpSpPr>
            <a:xfrm rot="0">
              <a:off x="75599" y="0"/>
              <a:ext cx="1932284" cy="2230967"/>
              <a:chOff x="0" y="0"/>
              <a:chExt cx="703982" cy="812800"/>
            </a:xfrm>
          </p:grpSpPr>
          <p:sp>
            <p:nvSpPr>
              <p:cNvPr name="Freeform 22" id="22"/>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727D3D"/>
              </a:solidFill>
            </p:spPr>
          </p:sp>
          <p:sp>
            <p:nvSpPr>
              <p:cNvPr name="TextBox 23" id="23"/>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b="true">
                  <a:solidFill>
                    <a:srgbClr val="000000"/>
                  </a:solidFill>
                  <a:latin typeface="Open Sans Bold"/>
                  <a:ea typeface="Open Sans Bold"/>
                  <a:cs typeface="Open Sans Bold"/>
                  <a:sym typeface="Open Sans Bold"/>
                </a:rPr>
                <a:t>10</a:t>
              </a:r>
            </a:p>
          </p:txBody>
        </p:sp>
      </p:grpSp>
      <p:grpSp>
        <p:nvGrpSpPr>
          <p:cNvPr name="Group 25" id="25"/>
          <p:cNvGrpSpPr/>
          <p:nvPr/>
        </p:nvGrpSpPr>
        <p:grpSpPr>
          <a:xfrm rot="0">
            <a:off x="9702973" y="3036233"/>
            <a:ext cx="6528599" cy="4458191"/>
            <a:chOff x="0" y="0"/>
            <a:chExt cx="1719467" cy="1174174"/>
          </a:xfrm>
        </p:grpSpPr>
        <p:sp>
          <p:nvSpPr>
            <p:cNvPr name="Freeform 26" id="26"/>
            <p:cNvSpPr/>
            <p:nvPr/>
          </p:nvSpPr>
          <p:spPr>
            <a:xfrm flipH="false" flipV="false" rot="0">
              <a:off x="0" y="0"/>
              <a:ext cx="1719467" cy="1174174"/>
            </a:xfrm>
            <a:custGeom>
              <a:avLst/>
              <a:gdLst/>
              <a:ahLst/>
              <a:cxnLst/>
              <a:rect r="r" b="b" t="t" l="l"/>
              <a:pathLst>
                <a:path h="1174174" w="1719467">
                  <a:moveTo>
                    <a:pt x="60478" y="0"/>
                  </a:moveTo>
                  <a:lnTo>
                    <a:pt x="1658988" y="0"/>
                  </a:lnTo>
                  <a:cubicBezTo>
                    <a:pt x="1692390" y="0"/>
                    <a:pt x="1719467" y="27077"/>
                    <a:pt x="1719467" y="60478"/>
                  </a:cubicBezTo>
                  <a:lnTo>
                    <a:pt x="1719467" y="1113696"/>
                  </a:lnTo>
                  <a:cubicBezTo>
                    <a:pt x="1719467" y="1129735"/>
                    <a:pt x="1713095" y="1145118"/>
                    <a:pt x="1701753" y="1156460"/>
                  </a:cubicBezTo>
                  <a:cubicBezTo>
                    <a:pt x="1690411" y="1167802"/>
                    <a:pt x="1675028" y="1174174"/>
                    <a:pt x="1658988" y="1174174"/>
                  </a:cubicBezTo>
                  <a:lnTo>
                    <a:pt x="60478" y="1174174"/>
                  </a:lnTo>
                  <a:cubicBezTo>
                    <a:pt x="44438" y="1174174"/>
                    <a:pt x="29056" y="1167802"/>
                    <a:pt x="17714" y="1156460"/>
                  </a:cubicBezTo>
                  <a:cubicBezTo>
                    <a:pt x="6372" y="1145118"/>
                    <a:pt x="0" y="1129735"/>
                    <a:pt x="0" y="1113696"/>
                  </a:cubicBezTo>
                  <a:lnTo>
                    <a:pt x="0" y="60478"/>
                  </a:lnTo>
                  <a:cubicBezTo>
                    <a:pt x="0" y="44438"/>
                    <a:pt x="6372" y="29056"/>
                    <a:pt x="17714" y="17714"/>
                  </a:cubicBezTo>
                  <a:cubicBezTo>
                    <a:pt x="29056" y="6372"/>
                    <a:pt x="44438" y="0"/>
                    <a:pt x="60478" y="0"/>
                  </a:cubicBezTo>
                  <a:close/>
                </a:path>
              </a:pathLst>
            </a:custGeom>
            <a:solidFill>
              <a:srgbClr val="972121"/>
            </a:solidFill>
          </p:spPr>
        </p:sp>
        <p:sp>
          <p:nvSpPr>
            <p:cNvPr name="TextBox 27" id="27"/>
            <p:cNvSpPr txBox="true"/>
            <p:nvPr/>
          </p:nvSpPr>
          <p:spPr>
            <a:xfrm>
              <a:off x="0" y="-38100"/>
              <a:ext cx="1719467" cy="1212274"/>
            </a:xfrm>
            <a:prstGeom prst="rect">
              <a:avLst/>
            </a:prstGeom>
          </p:spPr>
          <p:txBody>
            <a:bodyPr anchor="ctr" rtlCol="false" tIns="50800" lIns="50800" bIns="50800" rIns="50800"/>
            <a:lstStyle/>
            <a:p>
              <a:pPr algn="ctr">
                <a:lnSpc>
                  <a:spcPts val="2659"/>
                </a:lnSpc>
              </a:pPr>
            </a:p>
          </p:txBody>
        </p:sp>
      </p:grpSp>
      <p:sp>
        <p:nvSpPr>
          <p:cNvPr name="TextBox 28" id="28"/>
          <p:cNvSpPr txBox="true"/>
          <p:nvPr/>
        </p:nvSpPr>
        <p:spPr>
          <a:xfrm rot="0">
            <a:off x="10221350" y="3276656"/>
            <a:ext cx="5499127" cy="3788410"/>
          </a:xfrm>
          <a:prstGeom prst="rect">
            <a:avLst/>
          </a:prstGeom>
        </p:spPr>
        <p:txBody>
          <a:bodyPr anchor="t" rtlCol="false" tIns="0" lIns="0" bIns="0" rIns="0">
            <a:spAutoFit/>
          </a:bodyPr>
          <a:lstStyle/>
          <a:p>
            <a:pPr algn="l">
              <a:lnSpc>
                <a:spcPts val="4339"/>
              </a:lnSpc>
            </a:pPr>
            <a:r>
              <a:rPr lang="en-US" sz="3099">
                <a:solidFill>
                  <a:srgbClr val="E9E0D9"/>
                </a:solidFill>
                <a:latin typeface="Alatsi"/>
                <a:ea typeface="Alatsi"/>
                <a:cs typeface="Alatsi"/>
                <a:sym typeface="Alatsi"/>
              </a:rPr>
              <a:t>Libraries:</a:t>
            </a:r>
          </a:p>
          <a:p>
            <a:pPr algn="l" marL="669289" indent="-334645" lvl="1">
              <a:lnSpc>
                <a:spcPts val="4339"/>
              </a:lnSpc>
              <a:buFont typeface="Arial"/>
              <a:buChar char="•"/>
            </a:pPr>
            <a:r>
              <a:rPr lang="en-US" sz="3099">
                <a:solidFill>
                  <a:srgbClr val="E9E0D9"/>
                </a:solidFill>
                <a:latin typeface="Alatsi"/>
                <a:ea typeface="Alatsi"/>
                <a:cs typeface="Alatsi"/>
                <a:sym typeface="Alatsi"/>
              </a:rPr>
              <a:t>OpenCV – Image processing</a:t>
            </a:r>
          </a:p>
          <a:p>
            <a:pPr algn="l" marL="669289" indent="-334645" lvl="1">
              <a:lnSpc>
                <a:spcPts val="4339"/>
              </a:lnSpc>
              <a:buFont typeface="Arial"/>
              <a:buChar char="•"/>
            </a:pPr>
            <a:r>
              <a:rPr lang="en-US" sz="3099">
                <a:solidFill>
                  <a:srgbClr val="E9E0D9"/>
                </a:solidFill>
                <a:latin typeface="Alatsi"/>
                <a:ea typeface="Alatsi"/>
                <a:cs typeface="Alatsi"/>
                <a:sym typeface="Alatsi"/>
              </a:rPr>
              <a:t>MediaPipe – Face landmarks</a:t>
            </a:r>
          </a:p>
          <a:p>
            <a:pPr algn="l" marL="669289" indent="-334645" lvl="1">
              <a:lnSpc>
                <a:spcPts val="4339"/>
              </a:lnSpc>
              <a:buFont typeface="Arial"/>
              <a:buChar char="•"/>
            </a:pPr>
            <a:r>
              <a:rPr lang="en-US" sz="3099">
                <a:solidFill>
                  <a:srgbClr val="E9E0D9"/>
                </a:solidFill>
                <a:latin typeface="Alatsi"/>
                <a:ea typeface="Alatsi"/>
                <a:cs typeface="Alatsi"/>
                <a:sym typeface="Alatsi"/>
              </a:rPr>
              <a:t>NumPy, Pandas – Data handling</a:t>
            </a:r>
          </a:p>
          <a:p>
            <a:pPr algn="l" marL="669289" indent="-334645" lvl="1">
              <a:lnSpc>
                <a:spcPts val="4339"/>
              </a:lnSpc>
              <a:buFont typeface="Arial"/>
              <a:buChar char="•"/>
            </a:pPr>
            <a:r>
              <a:rPr lang="en-US" sz="3099">
                <a:solidFill>
                  <a:srgbClr val="E9E0D9"/>
                </a:solidFill>
                <a:latin typeface="Alatsi"/>
                <a:ea typeface="Alatsi"/>
                <a:cs typeface="Alatsi"/>
                <a:sym typeface="Alatsi"/>
              </a:rPr>
              <a:t>Scikit-learn – Evaluation</a:t>
            </a:r>
          </a:p>
          <a:p>
            <a:pPr algn="l" marL="669289" indent="-334645" lvl="1">
              <a:lnSpc>
                <a:spcPts val="4339"/>
              </a:lnSpc>
              <a:buFont typeface="Arial"/>
              <a:buChar char="•"/>
            </a:pPr>
            <a:r>
              <a:rPr lang="en-US" sz="3099">
                <a:solidFill>
                  <a:srgbClr val="E9E0D9"/>
                </a:solidFill>
                <a:latin typeface="Alatsi"/>
                <a:ea typeface="Alatsi"/>
                <a:cs typeface="Alatsi"/>
                <a:sym typeface="Alatsi"/>
              </a:rPr>
              <a:t>Matplotlib – Visualization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5702946" y="8800282"/>
            <a:ext cx="6882108" cy="464820"/>
          </a:xfrm>
          <a:prstGeom prst="rect">
            <a:avLst/>
          </a:prstGeom>
        </p:spPr>
        <p:txBody>
          <a:bodyPr anchor="t" rtlCol="false" tIns="0" lIns="0" bIns="0" rIns="0">
            <a:spAutoFit/>
          </a:bodyPr>
          <a:lstStyle/>
          <a:p>
            <a:pPr algn="ctr">
              <a:lnSpc>
                <a:spcPts val="3779"/>
              </a:lnSpc>
            </a:pPr>
            <a:r>
              <a:rPr lang="en-US" sz="2700">
                <a:solidFill>
                  <a:srgbClr val="000000"/>
                </a:solidFill>
                <a:latin typeface="Alatsi"/>
                <a:ea typeface="Alatsi"/>
                <a:cs typeface="Alatsi"/>
                <a:sym typeface="Alatsi"/>
              </a:rPr>
              <a:t>CBIT/IT/2024-25/IT1/106 </a:t>
            </a:r>
          </a:p>
        </p:txBody>
      </p:sp>
      <p:sp>
        <p:nvSpPr>
          <p:cNvPr name="AutoShape 3" id="3"/>
          <p:cNvSpPr/>
          <p:nvPr/>
        </p:nvSpPr>
        <p:spPr>
          <a:xfrm>
            <a:off x="-260599" y="9061267"/>
            <a:ext cx="7105264" cy="19050"/>
          </a:xfrm>
          <a:prstGeom prst="line">
            <a:avLst/>
          </a:prstGeom>
          <a:ln cap="flat" w="114300">
            <a:solidFill>
              <a:srgbClr val="727D3D"/>
            </a:solidFill>
            <a:prstDash val="solid"/>
            <a:headEnd type="none" len="sm" w="sm"/>
            <a:tailEnd type="none" len="sm" w="sm"/>
          </a:ln>
        </p:spPr>
      </p:sp>
      <p:sp>
        <p:nvSpPr>
          <p:cNvPr name="AutoShape 4" id="4"/>
          <p:cNvSpPr/>
          <p:nvPr/>
        </p:nvSpPr>
        <p:spPr>
          <a:xfrm>
            <a:off x="11430169" y="9061267"/>
            <a:ext cx="7105264" cy="19050"/>
          </a:xfrm>
          <a:prstGeom prst="line">
            <a:avLst/>
          </a:prstGeom>
          <a:ln cap="flat" w="114300">
            <a:solidFill>
              <a:srgbClr val="727D3D"/>
            </a:solidFill>
            <a:prstDash val="solid"/>
            <a:headEnd type="none" len="sm" w="sm"/>
            <a:tailEnd type="none" len="sm" w="sm"/>
          </a:ln>
        </p:spPr>
      </p:sp>
      <p:grpSp>
        <p:nvGrpSpPr>
          <p:cNvPr name="Group 5" id="5"/>
          <p:cNvGrpSpPr/>
          <p:nvPr/>
        </p:nvGrpSpPr>
        <p:grpSpPr>
          <a:xfrm rot="0">
            <a:off x="15859155" y="0"/>
            <a:ext cx="1562612" cy="1673225"/>
            <a:chOff x="0" y="0"/>
            <a:chExt cx="2083482" cy="2230967"/>
          </a:xfrm>
        </p:grpSpPr>
        <p:grpSp>
          <p:nvGrpSpPr>
            <p:cNvPr name="Group 6" id="6"/>
            <p:cNvGrpSpPr/>
            <p:nvPr/>
          </p:nvGrpSpPr>
          <p:grpSpPr>
            <a:xfrm rot="0">
              <a:off x="75599" y="0"/>
              <a:ext cx="1932284" cy="2230967"/>
              <a:chOff x="0" y="0"/>
              <a:chExt cx="703982" cy="812800"/>
            </a:xfrm>
          </p:grpSpPr>
          <p:sp>
            <p:nvSpPr>
              <p:cNvPr name="Freeform 7" id="7"/>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727D3D"/>
              </a:solidFill>
            </p:spPr>
          </p:sp>
          <p:sp>
            <p:nvSpPr>
              <p:cNvPr name="TextBox 8" id="8"/>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b="true">
                  <a:solidFill>
                    <a:srgbClr val="000000"/>
                  </a:solidFill>
                  <a:latin typeface="Open Sans Bold"/>
                  <a:ea typeface="Open Sans Bold"/>
                  <a:cs typeface="Open Sans Bold"/>
                  <a:sym typeface="Open Sans Bold"/>
                </a:rPr>
                <a:t>11</a:t>
              </a:r>
            </a:p>
          </p:txBody>
        </p:sp>
      </p:grpSp>
      <p:sp>
        <p:nvSpPr>
          <p:cNvPr name="Freeform 10" id="10"/>
          <p:cNvSpPr/>
          <p:nvPr/>
        </p:nvSpPr>
        <p:spPr>
          <a:xfrm flipH="false" flipV="false" rot="0">
            <a:off x="14982801" y="6379649"/>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648907" y="-402279"/>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6988321" y="364433"/>
            <a:ext cx="8286675" cy="7996642"/>
          </a:xfrm>
          <a:custGeom>
            <a:avLst/>
            <a:gdLst/>
            <a:ahLst/>
            <a:cxnLst/>
            <a:rect r="r" b="b" t="t" l="l"/>
            <a:pathLst>
              <a:path h="7996642" w="8286675">
                <a:moveTo>
                  <a:pt x="0" y="0"/>
                </a:moveTo>
                <a:lnTo>
                  <a:pt x="8286675" y="0"/>
                </a:lnTo>
                <a:lnTo>
                  <a:pt x="8286675" y="7996641"/>
                </a:lnTo>
                <a:lnTo>
                  <a:pt x="0" y="7996641"/>
                </a:lnTo>
                <a:lnTo>
                  <a:pt x="0" y="0"/>
                </a:lnTo>
                <a:close/>
              </a:path>
            </a:pathLst>
          </a:custGeom>
          <a:blipFill>
            <a:blip r:embed="rId4"/>
            <a:stretch>
              <a:fillRect l="0" t="0" r="0" b="0"/>
            </a:stretch>
          </a:blipFill>
        </p:spPr>
      </p:sp>
      <p:sp>
        <p:nvSpPr>
          <p:cNvPr name="TextBox 13" id="13"/>
          <p:cNvSpPr txBox="true"/>
          <p:nvPr/>
        </p:nvSpPr>
        <p:spPr>
          <a:xfrm rot="0">
            <a:off x="0" y="2313250"/>
            <a:ext cx="5702946" cy="980375"/>
          </a:xfrm>
          <a:prstGeom prst="rect">
            <a:avLst/>
          </a:prstGeom>
        </p:spPr>
        <p:txBody>
          <a:bodyPr anchor="t" rtlCol="false" tIns="0" lIns="0" bIns="0" rIns="0">
            <a:spAutoFit/>
          </a:bodyPr>
          <a:lstStyle/>
          <a:p>
            <a:pPr algn="ctr">
              <a:lnSpc>
                <a:spcPts val="8083"/>
              </a:lnSpc>
            </a:pPr>
            <a:r>
              <a:rPr lang="en-US" sz="5773">
                <a:solidFill>
                  <a:srgbClr val="000000"/>
                </a:solidFill>
                <a:latin typeface="Alatsi"/>
                <a:ea typeface="Alatsi"/>
                <a:cs typeface="Alatsi"/>
                <a:sym typeface="Alatsi"/>
              </a:rPr>
              <a:t>METHODOLOGY</a:t>
            </a:r>
          </a:p>
        </p:txBody>
      </p:sp>
      <p:sp>
        <p:nvSpPr>
          <p:cNvPr name="TextBox 14" id="14"/>
          <p:cNvSpPr txBox="true"/>
          <p:nvPr/>
        </p:nvSpPr>
        <p:spPr>
          <a:xfrm rot="0">
            <a:off x="442558" y="3835770"/>
            <a:ext cx="5093552" cy="3997976"/>
          </a:xfrm>
          <a:prstGeom prst="rect">
            <a:avLst/>
          </a:prstGeom>
        </p:spPr>
        <p:txBody>
          <a:bodyPr anchor="t" rtlCol="false" tIns="0" lIns="0" bIns="0" rIns="0">
            <a:spAutoFit/>
          </a:bodyPr>
          <a:lstStyle/>
          <a:p>
            <a:pPr algn="ctr">
              <a:lnSpc>
                <a:spcPts val="2650"/>
              </a:lnSpc>
              <a:spcBef>
                <a:spcPct val="0"/>
              </a:spcBef>
            </a:pPr>
            <a:r>
              <a:rPr lang="en-US" sz="1893">
                <a:solidFill>
                  <a:srgbClr val="000000"/>
                </a:solidFill>
                <a:latin typeface="Alatsi"/>
                <a:ea typeface="Alatsi"/>
                <a:cs typeface="Alatsi"/>
                <a:sym typeface="Alatsi"/>
              </a:rPr>
              <a:t>256×256 Image</a:t>
            </a:r>
          </a:p>
          <a:p>
            <a:pPr algn="ctr">
              <a:lnSpc>
                <a:spcPts val="2650"/>
              </a:lnSpc>
              <a:spcBef>
                <a:spcPct val="0"/>
              </a:spcBef>
            </a:pPr>
            <a:r>
              <a:rPr lang="en-US" sz="1893">
                <a:solidFill>
                  <a:srgbClr val="000000"/>
                </a:solidFill>
                <a:latin typeface="Alatsi"/>
                <a:ea typeface="Alatsi"/>
                <a:cs typeface="Alatsi"/>
                <a:sym typeface="Alatsi"/>
              </a:rPr>
              <a:t>⬇</a:t>
            </a:r>
          </a:p>
          <a:p>
            <a:pPr algn="ctr">
              <a:lnSpc>
                <a:spcPts val="2650"/>
              </a:lnSpc>
              <a:spcBef>
                <a:spcPct val="0"/>
              </a:spcBef>
            </a:pPr>
            <a:r>
              <a:rPr lang="en-US" sz="1893">
                <a:solidFill>
                  <a:srgbClr val="000000"/>
                </a:solidFill>
                <a:latin typeface="Alatsi"/>
                <a:ea typeface="Alatsi"/>
                <a:cs typeface="Alatsi"/>
                <a:sym typeface="Alatsi"/>
              </a:rPr>
              <a:t>Divide into 4×4 Blocks</a:t>
            </a:r>
          </a:p>
          <a:p>
            <a:pPr algn="ctr">
              <a:lnSpc>
                <a:spcPts val="2650"/>
              </a:lnSpc>
              <a:spcBef>
                <a:spcPct val="0"/>
              </a:spcBef>
            </a:pPr>
            <a:r>
              <a:rPr lang="en-US" sz="1893">
                <a:solidFill>
                  <a:srgbClr val="000000"/>
                </a:solidFill>
                <a:latin typeface="Alatsi"/>
                <a:ea typeface="Alatsi"/>
                <a:cs typeface="Alatsi"/>
                <a:sym typeface="Alatsi"/>
              </a:rPr>
              <a:t>⬇</a:t>
            </a:r>
          </a:p>
          <a:p>
            <a:pPr algn="ctr">
              <a:lnSpc>
                <a:spcPts val="2650"/>
              </a:lnSpc>
              <a:spcBef>
                <a:spcPct val="0"/>
              </a:spcBef>
            </a:pPr>
            <a:r>
              <a:rPr lang="en-US" sz="1893">
                <a:solidFill>
                  <a:srgbClr val="000000"/>
                </a:solidFill>
                <a:latin typeface="Alatsi"/>
                <a:ea typeface="Alatsi"/>
                <a:cs typeface="Alatsi"/>
                <a:sym typeface="Alatsi"/>
              </a:rPr>
              <a:t>Apply Tetrolet Transform </a:t>
            </a:r>
          </a:p>
          <a:p>
            <a:pPr algn="ctr">
              <a:lnSpc>
                <a:spcPts val="2650"/>
              </a:lnSpc>
              <a:spcBef>
                <a:spcPct val="0"/>
              </a:spcBef>
            </a:pPr>
            <a:r>
              <a:rPr lang="en-US" sz="1893">
                <a:solidFill>
                  <a:srgbClr val="000000"/>
                </a:solidFill>
                <a:latin typeface="Alatsi"/>
                <a:ea typeface="Alatsi"/>
                <a:cs typeface="Alatsi"/>
                <a:sym typeface="Alatsi"/>
              </a:rPr>
              <a:t>(Rearrange pixels in 4×4 block)</a:t>
            </a:r>
          </a:p>
          <a:p>
            <a:pPr algn="ctr">
              <a:lnSpc>
                <a:spcPts val="2650"/>
              </a:lnSpc>
              <a:spcBef>
                <a:spcPct val="0"/>
              </a:spcBef>
            </a:pPr>
            <a:r>
              <a:rPr lang="en-US" sz="1893">
                <a:solidFill>
                  <a:srgbClr val="000000"/>
                </a:solidFill>
                <a:latin typeface="Alatsi"/>
                <a:ea typeface="Alatsi"/>
                <a:cs typeface="Alatsi"/>
                <a:sym typeface="Alatsi"/>
              </a:rPr>
              <a:t>⬇</a:t>
            </a:r>
          </a:p>
          <a:p>
            <a:pPr algn="ctr">
              <a:lnSpc>
                <a:spcPts val="2650"/>
              </a:lnSpc>
              <a:spcBef>
                <a:spcPct val="0"/>
              </a:spcBef>
            </a:pPr>
            <a:r>
              <a:rPr lang="en-US" sz="1893">
                <a:solidFill>
                  <a:srgbClr val="000000"/>
                </a:solidFill>
                <a:latin typeface="Alatsi"/>
                <a:ea typeface="Alatsi"/>
                <a:cs typeface="Alatsi"/>
                <a:sym typeface="Alatsi"/>
              </a:rPr>
              <a:t>Split 4×4 into four 2×2 Sub-Blocks</a:t>
            </a:r>
          </a:p>
          <a:p>
            <a:pPr algn="ctr">
              <a:lnSpc>
                <a:spcPts val="2650"/>
              </a:lnSpc>
              <a:spcBef>
                <a:spcPct val="0"/>
              </a:spcBef>
            </a:pPr>
            <a:r>
              <a:rPr lang="en-US" sz="1893">
                <a:solidFill>
                  <a:srgbClr val="000000"/>
                </a:solidFill>
                <a:latin typeface="Alatsi"/>
                <a:ea typeface="Alatsi"/>
                <a:cs typeface="Alatsi"/>
                <a:sym typeface="Alatsi"/>
              </a:rPr>
              <a:t>⬇</a:t>
            </a:r>
          </a:p>
          <a:p>
            <a:pPr algn="ctr">
              <a:lnSpc>
                <a:spcPts val="2650"/>
              </a:lnSpc>
              <a:spcBef>
                <a:spcPct val="0"/>
              </a:spcBef>
            </a:pPr>
            <a:r>
              <a:rPr lang="en-US" sz="1893">
                <a:solidFill>
                  <a:srgbClr val="000000"/>
                </a:solidFill>
                <a:latin typeface="Alatsi"/>
                <a:ea typeface="Alatsi"/>
                <a:cs typeface="Alatsi"/>
                <a:sym typeface="Alatsi"/>
              </a:rPr>
              <a:t>Feature Extraction (4 values per sub-block)</a:t>
            </a:r>
          </a:p>
          <a:p>
            <a:pPr algn="ctr">
              <a:lnSpc>
                <a:spcPts val="2650"/>
              </a:lnSpc>
              <a:spcBef>
                <a:spcPct val="0"/>
              </a:spcBef>
            </a:pPr>
            <a:r>
              <a:rPr lang="en-US" sz="1893">
                <a:solidFill>
                  <a:srgbClr val="000000"/>
                </a:solidFill>
                <a:latin typeface="Alatsi"/>
                <a:ea typeface="Alatsi"/>
                <a:cs typeface="Alatsi"/>
                <a:sym typeface="Alatsi"/>
              </a:rPr>
              <a:t>⬇</a:t>
            </a:r>
          </a:p>
          <a:p>
            <a:pPr algn="ctr">
              <a:lnSpc>
                <a:spcPts val="2650"/>
              </a:lnSpc>
              <a:spcBef>
                <a:spcPct val="0"/>
              </a:spcBef>
            </a:pPr>
            <a:r>
              <a:rPr lang="en-US" sz="1893">
                <a:solidFill>
                  <a:srgbClr val="000000"/>
                </a:solidFill>
                <a:latin typeface="Alatsi"/>
                <a:ea typeface="Alatsi"/>
                <a:cs typeface="Alatsi"/>
                <a:sym typeface="Alatsi"/>
              </a:rPr>
              <a:t>Generate Final Feature Matrix</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5702946" y="8800282"/>
            <a:ext cx="6882108" cy="464820"/>
          </a:xfrm>
          <a:prstGeom prst="rect">
            <a:avLst/>
          </a:prstGeom>
        </p:spPr>
        <p:txBody>
          <a:bodyPr anchor="t" rtlCol="false" tIns="0" lIns="0" bIns="0" rIns="0">
            <a:spAutoFit/>
          </a:bodyPr>
          <a:lstStyle/>
          <a:p>
            <a:pPr algn="ctr">
              <a:lnSpc>
                <a:spcPts val="3779"/>
              </a:lnSpc>
            </a:pPr>
            <a:r>
              <a:rPr lang="en-US" sz="2700">
                <a:solidFill>
                  <a:srgbClr val="000000"/>
                </a:solidFill>
                <a:latin typeface="Alatsi"/>
                <a:ea typeface="Alatsi"/>
                <a:cs typeface="Alatsi"/>
                <a:sym typeface="Alatsi"/>
              </a:rPr>
              <a:t>CBIT/IT/2024-25/IT1/106 </a:t>
            </a:r>
          </a:p>
        </p:txBody>
      </p:sp>
      <p:sp>
        <p:nvSpPr>
          <p:cNvPr name="AutoShape 3" id="3"/>
          <p:cNvSpPr/>
          <p:nvPr/>
        </p:nvSpPr>
        <p:spPr>
          <a:xfrm>
            <a:off x="-260599" y="9061267"/>
            <a:ext cx="7105264" cy="19050"/>
          </a:xfrm>
          <a:prstGeom prst="line">
            <a:avLst/>
          </a:prstGeom>
          <a:ln cap="flat" w="114300">
            <a:solidFill>
              <a:srgbClr val="727D3D"/>
            </a:solidFill>
            <a:prstDash val="solid"/>
            <a:headEnd type="none" len="sm" w="sm"/>
            <a:tailEnd type="none" len="sm" w="sm"/>
          </a:ln>
        </p:spPr>
      </p:sp>
      <p:sp>
        <p:nvSpPr>
          <p:cNvPr name="AutoShape 4" id="4"/>
          <p:cNvSpPr/>
          <p:nvPr/>
        </p:nvSpPr>
        <p:spPr>
          <a:xfrm>
            <a:off x="11430169" y="9061267"/>
            <a:ext cx="7105264" cy="19050"/>
          </a:xfrm>
          <a:prstGeom prst="line">
            <a:avLst/>
          </a:prstGeom>
          <a:ln cap="flat" w="114300">
            <a:solidFill>
              <a:srgbClr val="727D3D"/>
            </a:solidFill>
            <a:prstDash val="solid"/>
            <a:headEnd type="none" len="sm" w="sm"/>
            <a:tailEnd type="none" len="sm" w="sm"/>
          </a:ln>
        </p:spPr>
      </p:sp>
      <p:grpSp>
        <p:nvGrpSpPr>
          <p:cNvPr name="Group 5" id="5"/>
          <p:cNvGrpSpPr/>
          <p:nvPr/>
        </p:nvGrpSpPr>
        <p:grpSpPr>
          <a:xfrm rot="0">
            <a:off x="15859155" y="0"/>
            <a:ext cx="1562612" cy="1673225"/>
            <a:chOff x="0" y="0"/>
            <a:chExt cx="2083482" cy="2230967"/>
          </a:xfrm>
        </p:grpSpPr>
        <p:grpSp>
          <p:nvGrpSpPr>
            <p:cNvPr name="Group 6" id="6"/>
            <p:cNvGrpSpPr/>
            <p:nvPr/>
          </p:nvGrpSpPr>
          <p:grpSpPr>
            <a:xfrm rot="0">
              <a:off x="75599" y="0"/>
              <a:ext cx="1932284" cy="2230967"/>
              <a:chOff x="0" y="0"/>
              <a:chExt cx="703982" cy="812800"/>
            </a:xfrm>
          </p:grpSpPr>
          <p:sp>
            <p:nvSpPr>
              <p:cNvPr name="Freeform 7" id="7"/>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727D3D"/>
              </a:solidFill>
            </p:spPr>
          </p:sp>
          <p:sp>
            <p:nvSpPr>
              <p:cNvPr name="TextBox 8" id="8"/>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b="true">
                  <a:solidFill>
                    <a:srgbClr val="000000"/>
                  </a:solidFill>
                  <a:latin typeface="Open Sans Bold"/>
                  <a:ea typeface="Open Sans Bold"/>
                  <a:cs typeface="Open Sans Bold"/>
                  <a:sym typeface="Open Sans Bold"/>
                </a:rPr>
                <a:t>12</a:t>
              </a:r>
            </a:p>
          </p:txBody>
        </p:sp>
      </p:grpSp>
      <p:sp>
        <p:nvSpPr>
          <p:cNvPr name="TextBox 10" id="10"/>
          <p:cNvSpPr txBox="true"/>
          <p:nvPr/>
        </p:nvSpPr>
        <p:spPr>
          <a:xfrm rot="0">
            <a:off x="2553980" y="866775"/>
            <a:ext cx="13180039"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a:ea typeface="Alatsi"/>
                <a:cs typeface="Alatsi"/>
                <a:sym typeface="Alatsi"/>
              </a:rPr>
              <a:t>DATASET</a:t>
            </a:r>
          </a:p>
        </p:txBody>
      </p:sp>
      <p:sp>
        <p:nvSpPr>
          <p:cNvPr name="Freeform 11" id="11"/>
          <p:cNvSpPr/>
          <p:nvPr/>
        </p:nvSpPr>
        <p:spPr>
          <a:xfrm flipH="false" flipV="false" rot="0">
            <a:off x="14982801" y="6379649"/>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648907" y="-402279"/>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9392678" y="2739718"/>
            <a:ext cx="7247783" cy="3497055"/>
          </a:xfrm>
          <a:custGeom>
            <a:avLst/>
            <a:gdLst/>
            <a:ahLst/>
            <a:cxnLst/>
            <a:rect r="r" b="b" t="t" l="l"/>
            <a:pathLst>
              <a:path h="3497055" w="7247783">
                <a:moveTo>
                  <a:pt x="0" y="0"/>
                </a:moveTo>
                <a:lnTo>
                  <a:pt x="7247783" y="0"/>
                </a:lnTo>
                <a:lnTo>
                  <a:pt x="7247783" y="3497056"/>
                </a:lnTo>
                <a:lnTo>
                  <a:pt x="0" y="3497056"/>
                </a:lnTo>
                <a:lnTo>
                  <a:pt x="0" y="0"/>
                </a:lnTo>
                <a:close/>
              </a:path>
            </a:pathLst>
          </a:custGeom>
          <a:blipFill>
            <a:blip r:embed="rId4"/>
            <a:stretch>
              <a:fillRect l="0" t="0" r="0" b="0"/>
            </a:stretch>
          </a:blipFill>
        </p:spPr>
      </p:sp>
      <p:sp>
        <p:nvSpPr>
          <p:cNvPr name="TextBox 14" id="14"/>
          <p:cNvSpPr txBox="true"/>
          <p:nvPr/>
        </p:nvSpPr>
        <p:spPr>
          <a:xfrm rot="0">
            <a:off x="1347751" y="3168701"/>
            <a:ext cx="7589496" cy="4780630"/>
          </a:xfrm>
          <a:prstGeom prst="rect">
            <a:avLst/>
          </a:prstGeom>
        </p:spPr>
        <p:txBody>
          <a:bodyPr anchor="t" rtlCol="false" tIns="0" lIns="0" bIns="0" rIns="0">
            <a:spAutoFit/>
          </a:bodyPr>
          <a:lstStyle/>
          <a:p>
            <a:pPr algn="just">
              <a:lnSpc>
                <a:spcPts val="4250"/>
              </a:lnSpc>
            </a:pPr>
            <a:r>
              <a:rPr lang="en-US" sz="3036">
                <a:solidFill>
                  <a:srgbClr val="000000"/>
                </a:solidFill>
                <a:latin typeface="Alatsi"/>
                <a:ea typeface="Alatsi"/>
                <a:cs typeface="Alatsi"/>
                <a:sym typeface="Alatsi"/>
              </a:rPr>
              <a:t>1. Spectacle Problem: Issues like occlusion, glare, and reflections from spectacles hinder accurate eye/face detection and recognition.</a:t>
            </a:r>
          </a:p>
          <a:p>
            <a:pPr algn="just">
              <a:lnSpc>
                <a:spcPts val="4250"/>
              </a:lnSpc>
            </a:pPr>
            <a:r>
              <a:rPr lang="en-US" sz="3036">
                <a:solidFill>
                  <a:srgbClr val="000000"/>
                </a:solidFill>
                <a:latin typeface="Alatsi"/>
                <a:ea typeface="Alatsi"/>
                <a:cs typeface="Alatsi"/>
                <a:sym typeface="Alatsi"/>
              </a:rPr>
              <a:t>  </a:t>
            </a:r>
          </a:p>
          <a:p>
            <a:pPr algn="just">
              <a:lnSpc>
                <a:spcPts val="4250"/>
              </a:lnSpc>
            </a:pPr>
            <a:r>
              <a:rPr lang="en-US" sz="3036">
                <a:solidFill>
                  <a:srgbClr val="000000"/>
                </a:solidFill>
                <a:latin typeface="Alatsi"/>
                <a:ea typeface="Alatsi"/>
                <a:cs typeface="Alatsi"/>
                <a:sym typeface="Alatsi"/>
              </a:rPr>
              <a:t>2. Indian Facial Image Database: A new database was created to address these issues, with Version 1 containing 271 images and Version 2 expanding to 1,23,213 images from 58 subjects.</a:t>
            </a:r>
          </a:p>
        </p:txBody>
      </p:sp>
      <p:sp>
        <p:nvSpPr>
          <p:cNvPr name="TextBox 15" id="15"/>
          <p:cNvSpPr txBox="true"/>
          <p:nvPr/>
        </p:nvSpPr>
        <p:spPr>
          <a:xfrm rot="0">
            <a:off x="9541685" y="6886559"/>
            <a:ext cx="6949769" cy="832190"/>
          </a:xfrm>
          <a:prstGeom prst="rect">
            <a:avLst/>
          </a:prstGeom>
        </p:spPr>
        <p:txBody>
          <a:bodyPr anchor="t" rtlCol="false" tIns="0" lIns="0" bIns="0" rIns="0">
            <a:spAutoFit/>
          </a:bodyPr>
          <a:lstStyle/>
          <a:p>
            <a:pPr algn="l">
              <a:lnSpc>
                <a:spcPts val="3325"/>
              </a:lnSpc>
            </a:pPr>
            <a:r>
              <a:rPr lang="en-US" sz="2375" u="sng">
                <a:solidFill>
                  <a:srgbClr val="000000"/>
                </a:solidFill>
                <a:latin typeface="Arimo"/>
                <a:ea typeface="Arimo"/>
                <a:cs typeface="Arimo"/>
                <a:sym typeface="Arimo"/>
                <a:hlinkClick r:id="rId5" tooltip="https://ieee-dataport.org/documents/indian-facial-database-highlighting-spectacle-problems#files"/>
              </a:rPr>
              <a:t>https://ieee-dataport.org/documents/indian-facial-database-highlighting-spectacle-problems#files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5702946" y="8800282"/>
            <a:ext cx="6882108" cy="464820"/>
          </a:xfrm>
          <a:prstGeom prst="rect">
            <a:avLst/>
          </a:prstGeom>
        </p:spPr>
        <p:txBody>
          <a:bodyPr anchor="t" rtlCol="false" tIns="0" lIns="0" bIns="0" rIns="0">
            <a:spAutoFit/>
          </a:bodyPr>
          <a:lstStyle/>
          <a:p>
            <a:pPr algn="ctr">
              <a:lnSpc>
                <a:spcPts val="3779"/>
              </a:lnSpc>
            </a:pPr>
            <a:r>
              <a:rPr lang="en-US" sz="2700">
                <a:solidFill>
                  <a:srgbClr val="000000"/>
                </a:solidFill>
                <a:latin typeface="Alatsi"/>
                <a:ea typeface="Alatsi"/>
                <a:cs typeface="Alatsi"/>
                <a:sym typeface="Alatsi"/>
              </a:rPr>
              <a:t>CBIT/IT/2024-25/IT1/106 </a:t>
            </a:r>
          </a:p>
        </p:txBody>
      </p:sp>
      <p:sp>
        <p:nvSpPr>
          <p:cNvPr name="AutoShape 3" id="3"/>
          <p:cNvSpPr/>
          <p:nvPr/>
        </p:nvSpPr>
        <p:spPr>
          <a:xfrm>
            <a:off x="-260599" y="9061267"/>
            <a:ext cx="7105264" cy="19050"/>
          </a:xfrm>
          <a:prstGeom prst="line">
            <a:avLst/>
          </a:prstGeom>
          <a:ln cap="flat" w="114300">
            <a:solidFill>
              <a:srgbClr val="727D3D"/>
            </a:solidFill>
            <a:prstDash val="solid"/>
            <a:headEnd type="none" len="sm" w="sm"/>
            <a:tailEnd type="none" len="sm" w="sm"/>
          </a:ln>
        </p:spPr>
      </p:sp>
      <p:sp>
        <p:nvSpPr>
          <p:cNvPr name="AutoShape 4" id="4"/>
          <p:cNvSpPr/>
          <p:nvPr/>
        </p:nvSpPr>
        <p:spPr>
          <a:xfrm>
            <a:off x="11430169" y="9061267"/>
            <a:ext cx="7105264" cy="19050"/>
          </a:xfrm>
          <a:prstGeom prst="line">
            <a:avLst/>
          </a:prstGeom>
          <a:ln cap="flat" w="114300">
            <a:solidFill>
              <a:srgbClr val="727D3D"/>
            </a:solidFill>
            <a:prstDash val="solid"/>
            <a:headEnd type="none" len="sm" w="sm"/>
            <a:tailEnd type="none" len="sm" w="sm"/>
          </a:ln>
        </p:spPr>
      </p:sp>
      <p:grpSp>
        <p:nvGrpSpPr>
          <p:cNvPr name="Group 5" id="5"/>
          <p:cNvGrpSpPr/>
          <p:nvPr/>
        </p:nvGrpSpPr>
        <p:grpSpPr>
          <a:xfrm rot="0">
            <a:off x="15859155" y="0"/>
            <a:ext cx="1562612" cy="1673225"/>
            <a:chOff x="0" y="0"/>
            <a:chExt cx="2083482" cy="2230967"/>
          </a:xfrm>
        </p:grpSpPr>
        <p:grpSp>
          <p:nvGrpSpPr>
            <p:cNvPr name="Group 6" id="6"/>
            <p:cNvGrpSpPr/>
            <p:nvPr/>
          </p:nvGrpSpPr>
          <p:grpSpPr>
            <a:xfrm rot="0">
              <a:off x="75599" y="0"/>
              <a:ext cx="1932284" cy="2230967"/>
              <a:chOff x="0" y="0"/>
              <a:chExt cx="703982" cy="812800"/>
            </a:xfrm>
          </p:grpSpPr>
          <p:sp>
            <p:nvSpPr>
              <p:cNvPr name="Freeform 7" id="7"/>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727D3D"/>
              </a:solidFill>
            </p:spPr>
          </p:sp>
          <p:sp>
            <p:nvSpPr>
              <p:cNvPr name="TextBox 8" id="8"/>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b="true">
                  <a:solidFill>
                    <a:srgbClr val="000000"/>
                  </a:solidFill>
                  <a:latin typeface="Open Sans Bold"/>
                  <a:ea typeface="Open Sans Bold"/>
                  <a:cs typeface="Open Sans Bold"/>
                  <a:sym typeface="Open Sans Bold"/>
                </a:rPr>
                <a:t>13</a:t>
              </a:r>
            </a:p>
          </p:txBody>
        </p:sp>
      </p:grpSp>
      <p:sp>
        <p:nvSpPr>
          <p:cNvPr name="TextBox 10" id="10"/>
          <p:cNvSpPr txBox="true"/>
          <p:nvPr/>
        </p:nvSpPr>
        <p:spPr>
          <a:xfrm rot="0">
            <a:off x="4350266" y="976080"/>
            <a:ext cx="12290195" cy="1344896"/>
          </a:xfrm>
          <a:prstGeom prst="rect">
            <a:avLst/>
          </a:prstGeom>
        </p:spPr>
        <p:txBody>
          <a:bodyPr anchor="t" rtlCol="false" tIns="0" lIns="0" bIns="0" rIns="0">
            <a:spAutoFit/>
          </a:bodyPr>
          <a:lstStyle/>
          <a:p>
            <a:pPr algn="ctr">
              <a:lnSpc>
                <a:spcPts val="11096"/>
              </a:lnSpc>
            </a:pPr>
            <a:r>
              <a:rPr lang="en-US" sz="7926">
                <a:solidFill>
                  <a:srgbClr val="000000"/>
                </a:solidFill>
                <a:latin typeface="Alatsi"/>
                <a:ea typeface="Alatsi"/>
                <a:cs typeface="Alatsi"/>
                <a:sym typeface="Alatsi"/>
              </a:rPr>
              <a:t>TETROLET TRANSFORMS</a:t>
            </a:r>
          </a:p>
        </p:txBody>
      </p:sp>
      <p:sp>
        <p:nvSpPr>
          <p:cNvPr name="Freeform 11" id="11"/>
          <p:cNvSpPr/>
          <p:nvPr/>
        </p:nvSpPr>
        <p:spPr>
          <a:xfrm flipH="false" flipV="false" rot="0">
            <a:off x="14982801" y="6379649"/>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648907" y="-402279"/>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1583304" y="5550287"/>
            <a:ext cx="3002998" cy="2332924"/>
          </a:xfrm>
          <a:custGeom>
            <a:avLst/>
            <a:gdLst/>
            <a:ahLst/>
            <a:cxnLst/>
            <a:rect r="r" b="b" t="t" l="l"/>
            <a:pathLst>
              <a:path h="2332924" w="3002998">
                <a:moveTo>
                  <a:pt x="0" y="0"/>
                </a:moveTo>
                <a:lnTo>
                  <a:pt x="3002998" y="0"/>
                </a:lnTo>
                <a:lnTo>
                  <a:pt x="3002998" y="2332924"/>
                </a:lnTo>
                <a:lnTo>
                  <a:pt x="0" y="2332924"/>
                </a:lnTo>
                <a:lnTo>
                  <a:pt x="0" y="0"/>
                </a:lnTo>
                <a:close/>
              </a:path>
            </a:pathLst>
          </a:custGeom>
          <a:blipFill>
            <a:blip r:embed="rId4"/>
            <a:stretch>
              <a:fillRect l="-267543" t="-54826" r="-257282" b="0"/>
            </a:stretch>
          </a:blipFill>
        </p:spPr>
      </p:sp>
      <p:sp>
        <p:nvSpPr>
          <p:cNvPr name="Freeform 14" id="14"/>
          <p:cNvSpPr/>
          <p:nvPr/>
        </p:nvSpPr>
        <p:spPr>
          <a:xfrm flipH="false" flipV="false" rot="0">
            <a:off x="11605846" y="3351544"/>
            <a:ext cx="5983454" cy="2198742"/>
          </a:xfrm>
          <a:custGeom>
            <a:avLst/>
            <a:gdLst/>
            <a:ahLst/>
            <a:cxnLst/>
            <a:rect r="r" b="b" t="t" l="l"/>
            <a:pathLst>
              <a:path h="2198742" w="5983454">
                <a:moveTo>
                  <a:pt x="0" y="0"/>
                </a:moveTo>
                <a:lnTo>
                  <a:pt x="5983454" y="0"/>
                </a:lnTo>
                <a:lnTo>
                  <a:pt x="5983454" y="2198743"/>
                </a:lnTo>
                <a:lnTo>
                  <a:pt x="0" y="2198743"/>
                </a:lnTo>
                <a:lnTo>
                  <a:pt x="0" y="0"/>
                </a:lnTo>
                <a:close/>
              </a:path>
            </a:pathLst>
          </a:custGeom>
          <a:blipFill>
            <a:blip r:embed="rId4"/>
            <a:stretch>
              <a:fillRect l="-6236" t="-50381" r="-180832" b="0"/>
            </a:stretch>
          </a:blipFill>
        </p:spPr>
      </p:sp>
      <p:sp>
        <p:nvSpPr>
          <p:cNvPr name="TextBox 15" id="15"/>
          <p:cNvSpPr txBox="true"/>
          <p:nvPr/>
        </p:nvSpPr>
        <p:spPr>
          <a:xfrm rot="0">
            <a:off x="1028700" y="2902001"/>
            <a:ext cx="10082417" cy="5314030"/>
          </a:xfrm>
          <a:prstGeom prst="rect">
            <a:avLst/>
          </a:prstGeom>
        </p:spPr>
        <p:txBody>
          <a:bodyPr anchor="t" rtlCol="false" tIns="0" lIns="0" bIns="0" rIns="0">
            <a:spAutoFit/>
          </a:bodyPr>
          <a:lstStyle/>
          <a:p>
            <a:pPr algn="just">
              <a:lnSpc>
                <a:spcPts val="4250"/>
              </a:lnSpc>
            </a:pPr>
            <a:r>
              <a:rPr lang="en-US" sz="3036">
                <a:solidFill>
                  <a:srgbClr val="000000"/>
                </a:solidFill>
                <a:latin typeface="Alatsi"/>
                <a:ea typeface="Alatsi"/>
                <a:cs typeface="Alatsi"/>
                <a:sym typeface="Alatsi"/>
              </a:rPr>
              <a:t>Wavelet transformation is independently applied to the rows and columns of an image </a:t>
            </a:r>
          </a:p>
          <a:p>
            <a:pPr algn="just" marL="655516" indent="-327758" lvl="1">
              <a:lnSpc>
                <a:spcPts val="4250"/>
              </a:lnSpc>
              <a:buFont typeface="Arial"/>
              <a:buChar char="•"/>
            </a:pPr>
            <a:r>
              <a:rPr lang="en-US" sz="3036">
                <a:solidFill>
                  <a:srgbClr val="000000"/>
                </a:solidFill>
                <a:latin typeface="Alatsi"/>
                <a:ea typeface="Alatsi"/>
                <a:cs typeface="Alatsi"/>
                <a:sym typeface="Alatsi"/>
              </a:rPr>
              <a:t>DWT fails to achieve optimal results with images that contain geometric structures in other directions. </a:t>
            </a:r>
          </a:p>
          <a:p>
            <a:pPr algn="just" marL="655516" indent="-327758" lvl="1">
              <a:lnSpc>
                <a:spcPts val="4250"/>
              </a:lnSpc>
              <a:buFont typeface="Arial"/>
              <a:buChar char="•"/>
            </a:pPr>
            <a:r>
              <a:rPr lang="en-US" sz="3036">
                <a:solidFill>
                  <a:srgbClr val="000000"/>
                </a:solidFill>
                <a:latin typeface="Alatsi"/>
                <a:ea typeface="Alatsi"/>
                <a:cs typeface="Alatsi"/>
                <a:sym typeface="Alatsi"/>
              </a:rPr>
              <a:t>Instead of choosing a priori a basis or a frame one may try to adapt the function system depending on the local image structures. </a:t>
            </a:r>
          </a:p>
          <a:p>
            <a:pPr algn="just">
              <a:lnSpc>
                <a:spcPts val="4250"/>
              </a:lnSpc>
            </a:pPr>
            <a:r>
              <a:rPr lang="en-US" sz="3036">
                <a:solidFill>
                  <a:srgbClr val="000000"/>
                </a:solidFill>
                <a:latin typeface="Alatsi"/>
                <a:ea typeface="Alatsi"/>
                <a:cs typeface="Alatsi"/>
                <a:sym typeface="Alatsi"/>
              </a:rPr>
              <a:t>We divide the image into 4x4 blocks, then we determine in each block a tetromino partition which is adapted to the image geometry in this block </a:t>
            </a:r>
          </a:p>
        </p:txBody>
      </p:sp>
      <p:sp>
        <p:nvSpPr>
          <p:cNvPr name="Freeform 16" id="16"/>
          <p:cNvSpPr/>
          <p:nvPr/>
        </p:nvSpPr>
        <p:spPr>
          <a:xfrm flipH="false" flipV="false" rot="0">
            <a:off x="14586302" y="5550287"/>
            <a:ext cx="3002998" cy="2332924"/>
          </a:xfrm>
          <a:custGeom>
            <a:avLst/>
            <a:gdLst/>
            <a:ahLst/>
            <a:cxnLst/>
            <a:rect r="r" b="b" t="t" l="l"/>
            <a:pathLst>
              <a:path h="2332924" w="3002998">
                <a:moveTo>
                  <a:pt x="0" y="0"/>
                </a:moveTo>
                <a:lnTo>
                  <a:pt x="3002998" y="0"/>
                </a:lnTo>
                <a:lnTo>
                  <a:pt x="3002998" y="2332924"/>
                </a:lnTo>
                <a:lnTo>
                  <a:pt x="0" y="2332924"/>
                </a:lnTo>
                <a:lnTo>
                  <a:pt x="0" y="0"/>
                </a:lnTo>
                <a:close/>
              </a:path>
            </a:pathLst>
          </a:custGeom>
          <a:blipFill>
            <a:blip r:embed="rId4"/>
            <a:stretch>
              <a:fillRect l="-522048" t="-54826" r="-2777"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5702946" y="8800282"/>
            <a:ext cx="6882108" cy="464820"/>
          </a:xfrm>
          <a:prstGeom prst="rect">
            <a:avLst/>
          </a:prstGeom>
        </p:spPr>
        <p:txBody>
          <a:bodyPr anchor="t" rtlCol="false" tIns="0" lIns="0" bIns="0" rIns="0">
            <a:spAutoFit/>
          </a:bodyPr>
          <a:lstStyle/>
          <a:p>
            <a:pPr algn="ctr">
              <a:lnSpc>
                <a:spcPts val="3779"/>
              </a:lnSpc>
            </a:pPr>
            <a:r>
              <a:rPr lang="en-US" sz="2700">
                <a:solidFill>
                  <a:srgbClr val="000000"/>
                </a:solidFill>
                <a:latin typeface="Alatsi"/>
                <a:ea typeface="Alatsi"/>
                <a:cs typeface="Alatsi"/>
                <a:sym typeface="Alatsi"/>
              </a:rPr>
              <a:t>CBIT/IT/2024-25/IT1/106 </a:t>
            </a:r>
          </a:p>
        </p:txBody>
      </p:sp>
      <p:sp>
        <p:nvSpPr>
          <p:cNvPr name="AutoShape 3" id="3"/>
          <p:cNvSpPr/>
          <p:nvPr/>
        </p:nvSpPr>
        <p:spPr>
          <a:xfrm>
            <a:off x="-260599" y="9061267"/>
            <a:ext cx="7105264" cy="19050"/>
          </a:xfrm>
          <a:prstGeom prst="line">
            <a:avLst/>
          </a:prstGeom>
          <a:ln cap="flat" w="114300">
            <a:solidFill>
              <a:srgbClr val="727D3D"/>
            </a:solidFill>
            <a:prstDash val="solid"/>
            <a:headEnd type="none" len="sm" w="sm"/>
            <a:tailEnd type="none" len="sm" w="sm"/>
          </a:ln>
        </p:spPr>
      </p:sp>
      <p:sp>
        <p:nvSpPr>
          <p:cNvPr name="AutoShape 4" id="4"/>
          <p:cNvSpPr/>
          <p:nvPr/>
        </p:nvSpPr>
        <p:spPr>
          <a:xfrm>
            <a:off x="11430169" y="9061267"/>
            <a:ext cx="7105264" cy="19050"/>
          </a:xfrm>
          <a:prstGeom prst="line">
            <a:avLst/>
          </a:prstGeom>
          <a:ln cap="flat" w="114300">
            <a:solidFill>
              <a:srgbClr val="727D3D"/>
            </a:solidFill>
            <a:prstDash val="solid"/>
            <a:headEnd type="none" len="sm" w="sm"/>
            <a:tailEnd type="none" len="sm" w="sm"/>
          </a:ln>
        </p:spPr>
      </p:sp>
      <p:grpSp>
        <p:nvGrpSpPr>
          <p:cNvPr name="Group 5" id="5"/>
          <p:cNvGrpSpPr/>
          <p:nvPr/>
        </p:nvGrpSpPr>
        <p:grpSpPr>
          <a:xfrm rot="0">
            <a:off x="15859155" y="0"/>
            <a:ext cx="1562612" cy="1673225"/>
            <a:chOff x="0" y="0"/>
            <a:chExt cx="2083482" cy="2230967"/>
          </a:xfrm>
        </p:grpSpPr>
        <p:grpSp>
          <p:nvGrpSpPr>
            <p:cNvPr name="Group 6" id="6"/>
            <p:cNvGrpSpPr/>
            <p:nvPr/>
          </p:nvGrpSpPr>
          <p:grpSpPr>
            <a:xfrm rot="0">
              <a:off x="75599" y="0"/>
              <a:ext cx="1932284" cy="2230967"/>
              <a:chOff x="0" y="0"/>
              <a:chExt cx="703982" cy="812800"/>
            </a:xfrm>
          </p:grpSpPr>
          <p:sp>
            <p:nvSpPr>
              <p:cNvPr name="Freeform 7" id="7"/>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727D3D"/>
              </a:solidFill>
            </p:spPr>
          </p:sp>
          <p:sp>
            <p:nvSpPr>
              <p:cNvPr name="TextBox 8" id="8"/>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b="true">
                  <a:solidFill>
                    <a:srgbClr val="000000"/>
                  </a:solidFill>
                  <a:latin typeface="Open Sans Bold"/>
                  <a:ea typeface="Open Sans Bold"/>
                  <a:cs typeface="Open Sans Bold"/>
                  <a:sym typeface="Open Sans Bold"/>
                </a:rPr>
                <a:t>14</a:t>
              </a:r>
            </a:p>
          </p:txBody>
        </p:sp>
      </p:grpSp>
      <p:sp>
        <p:nvSpPr>
          <p:cNvPr name="TextBox 10" id="10"/>
          <p:cNvSpPr txBox="true"/>
          <p:nvPr/>
        </p:nvSpPr>
        <p:spPr>
          <a:xfrm rot="0">
            <a:off x="4350266" y="976080"/>
            <a:ext cx="12290195" cy="1344896"/>
          </a:xfrm>
          <a:prstGeom prst="rect">
            <a:avLst/>
          </a:prstGeom>
        </p:spPr>
        <p:txBody>
          <a:bodyPr anchor="t" rtlCol="false" tIns="0" lIns="0" bIns="0" rIns="0">
            <a:spAutoFit/>
          </a:bodyPr>
          <a:lstStyle/>
          <a:p>
            <a:pPr algn="ctr">
              <a:lnSpc>
                <a:spcPts val="11096"/>
              </a:lnSpc>
            </a:pPr>
            <a:r>
              <a:rPr lang="en-US" sz="7926">
                <a:solidFill>
                  <a:srgbClr val="000000"/>
                </a:solidFill>
                <a:latin typeface="Alatsi"/>
                <a:ea typeface="Alatsi"/>
                <a:cs typeface="Alatsi"/>
                <a:sym typeface="Alatsi"/>
              </a:rPr>
              <a:t>TETROLET TRANSFORMS</a:t>
            </a:r>
          </a:p>
        </p:txBody>
      </p:sp>
      <p:sp>
        <p:nvSpPr>
          <p:cNvPr name="Freeform 11" id="11"/>
          <p:cNvSpPr/>
          <p:nvPr/>
        </p:nvSpPr>
        <p:spPr>
          <a:xfrm flipH="false" flipV="false" rot="0">
            <a:off x="14982801" y="6379649"/>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648907" y="-402279"/>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7458987" y="5418516"/>
            <a:ext cx="6673898" cy="3099181"/>
          </a:xfrm>
          <a:custGeom>
            <a:avLst/>
            <a:gdLst/>
            <a:ahLst/>
            <a:cxnLst/>
            <a:rect r="r" b="b" t="t" l="l"/>
            <a:pathLst>
              <a:path h="3099181" w="6673898">
                <a:moveTo>
                  <a:pt x="0" y="0"/>
                </a:moveTo>
                <a:lnTo>
                  <a:pt x="6673898" y="0"/>
                </a:lnTo>
                <a:lnTo>
                  <a:pt x="6673898" y="3099181"/>
                </a:lnTo>
                <a:lnTo>
                  <a:pt x="0" y="3099181"/>
                </a:lnTo>
                <a:lnTo>
                  <a:pt x="0" y="0"/>
                </a:lnTo>
                <a:close/>
              </a:path>
            </a:pathLst>
          </a:custGeom>
          <a:blipFill>
            <a:blip r:embed="rId4"/>
            <a:stretch>
              <a:fillRect l="0" t="0" r="0" b="0"/>
            </a:stretch>
          </a:blipFill>
        </p:spPr>
      </p:sp>
      <p:sp>
        <p:nvSpPr>
          <p:cNvPr name="Freeform 14" id="14"/>
          <p:cNvSpPr/>
          <p:nvPr/>
        </p:nvSpPr>
        <p:spPr>
          <a:xfrm flipH="false" flipV="false" rot="0">
            <a:off x="11018692" y="2320976"/>
            <a:ext cx="3114193" cy="3097540"/>
          </a:xfrm>
          <a:custGeom>
            <a:avLst/>
            <a:gdLst/>
            <a:ahLst/>
            <a:cxnLst/>
            <a:rect r="r" b="b" t="t" l="l"/>
            <a:pathLst>
              <a:path h="3097540" w="3114193">
                <a:moveTo>
                  <a:pt x="0" y="0"/>
                </a:moveTo>
                <a:lnTo>
                  <a:pt x="3114193" y="0"/>
                </a:lnTo>
                <a:lnTo>
                  <a:pt x="3114193" y="3097540"/>
                </a:lnTo>
                <a:lnTo>
                  <a:pt x="0" y="3097540"/>
                </a:lnTo>
                <a:lnTo>
                  <a:pt x="0" y="0"/>
                </a:lnTo>
                <a:close/>
              </a:path>
            </a:pathLst>
          </a:custGeom>
          <a:blipFill>
            <a:blip r:embed="rId5"/>
            <a:stretch>
              <a:fillRect l="0" t="0" r="0" b="0"/>
            </a:stretch>
          </a:blipFill>
        </p:spPr>
      </p:sp>
      <p:sp>
        <p:nvSpPr>
          <p:cNvPr name="Freeform 15" id="15"/>
          <p:cNvSpPr/>
          <p:nvPr/>
        </p:nvSpPr>
        <p:spPr>
          <a:xfrm flipH="false" flipV="false" rot="0">
            <a:off x="942020" y="2435227"/>
            <a:ext cx="6221692" cy="6104301"/>
          </a:xfrm>
          <a:custGeom>
            <a:avLst/>
            <a:gdLst/>
            <a:ahLst/>
            <a:cxnLst/>
            <a:rect r="r" b="b" t="t" l="l"/>
            <a:pathLst>
              <a:path h="6104301" w="6221692">
                <a:moveTo>
                  <a:pt x="0" y="0"/>
                </a:moveTo>
                <a:lnTo>
                  <a:pt x="6221692" y="0"/>
                </a:lnTo>
                <a:lnTo>
                  <a:pt x="6221692" y="6104302"/>
                </a:lnTo>
                <a:lnTo>
                  <a:pt x="0" y="6104302"/>
                </a:lnTo>
                <a:lnTo>
                  <a:pt x="0" y="0"/>
                </a:lnTo>
                <a:close/>
              </a:path>
            </a:pathLst>
          </a:custGeom>
          <a:blipFill>
            <a:blip r:embed="rId6"/>
            <a:stretch>
              <a:fillRect l="-5149" t="-3088" r="-1794" b="-121546"/>
            </a:stretch>
          </a:blipFill>
        </p:spPr>
      </p:sp>
      <p:sp>
        <p:nvSpPr>
          <p:cNvPr name="Freeform 16" id="16"/>
          <p:cNvSpPr/>
          <p:nvPr/>
        </p:nvSpPr>
        <p:spPr>
          <a:xfrm flipH="true" flipV="false" rot="0">
            <a:off x="7556085" y="2320976"/>
            <a:ext cx="3170178" cy="3097540"/>
          </a:xfrm>
          <a:custGeom>
            <a:avLst/>
            <a:gdLst/>
            <a:ahLst/>
            <a:cxnLst/>
            <a:rect r="r" b="b" t="t" l="l"/>
            <a:pathLst>
              <a:path h="3097540" w="3170178">
                <a:moveTo>
                  <a:pt x="3170178" y="0"/>
                </a:moveTo>
                <a:lnTo>
                  <a:pt x="0" y="0"/>
                </a:lnTo>
                <a:lnTo>
                  <a:pt x="0" y="3097540"/>
                </a:lnTo>
                <a:lnTo>
                  <a:pt x="3170178" y="3097540"/>
                </a:lnTo>
                <a:lnTo>
                  <a:pt x="3170178" y="0"/>
                </a:lnTo>
                <a:close/>
              </a:path>
            </a:pathLst>
          </a:custGeom>
          <a:blipFill>
            <a:blip r:embed="rId4"/>
            <a:stretch>
              <a:fillRect l="0" t="0" r="-110409" b="0"/>
            </a:stretch>
          </a:blipFill>
        </p:spPr>
      </p:sp>
      <p:sp>
        <p:nvSpPr>
          <p:cNvPr name="Freeform 17" id="17"/>
          <p:cNvSpPr/>
          <p:nvPr/>
        </p:nvSpPr>
        <p:spPr>
          <a:xfrm flipH="false" flipV="false" rot="0">
            <a:off x="14132885" y="2331723"/>
            <a:ext cx="3144881" cy="3155655"/>
          </a:xfrm>
          <a:custGeom>
            <a:avLst/>
            <a:gdLst/>
            <a:ahLst/>
            <a:cxnLst/>
            <a:rect r="r" b="b" t="t" l="l"/>
            <a:pathLst>
              <a:path h="3155655" w="3144881">
                <a:moveTo>
                  <a:pt x="0" y="0"/>
                </a:moveTo>
                <a:lnTo>
                  <a:pt x="3144881" y="0"/>
                </a:lnTo>
                <a:lnTo>
                  <a:pt x="3144881" y="3155655"/>
                </a:lnTo>
                <a:lnTo>
                  <a:pt x="0" y="3155655"/>
                </a:lnTo>
                <a:lnTo>
                  <a:pt x="0" y="0"/>
                </a:lnTo>
                <a:close/>
              </a:path>
            </a:pathLst>
          </a:custGeom>
          <a:blipFill>
            <a:blip r:embed="rId6"/>
            <a:stretch>
              <a:fillRect l="-3850" t="-113290" r="0" b="0"/>
            </a:stretch>
          </a:blipFill>
        </p:spPr>
      </p:sp>
      <p:sp>
        <p:nvSpPr>
          <p:cNvPr name="Freeform 18" id="18"/>
          <p:cNvSpPr/>
          <p:nvPr/>
        </p:nvSpPr>
        <p:spPr>
          <a:xfrm flipH="false" flipV="false" rot="-5400000">
            <a:off x="14152908" y="5392242"/>
            <a:ext cx="3104835" cy="3144881"/>
          </a:xfrm>
          <a:custGeom>
            <a:avLst/>
            <a:gdLst/>
            <a:ahLst/>
            <a:cxnLst/>
            <a:rect r="r" b="b" t="t" l="l"/>
            <a:pathLst>
              <a:path h="3144881" w="3104835">
                <a:moveTo>
                  <a:pt x="0" y="0"/>
                </a:moveTo>
                <a:lnTo>
                  <a:pt x="3104835" y="0"/>
                </a:lnTo>
                <a:lnTo>
                  <a:pt x="3104835" y="3144881"/>
                </a:lnTo>
                <a:lnTo>
                  <a:pt x="0" y="3144881"/>
                </a:lnTo>
                <a:lnTo>
                  <a:pt x="0" y="0"/>
                </a:lnTo>
                <a:close/>
              </a:path>
            </a:pathLst>
          </a:custGeom>
          <a:blipFill>
            <a:blip r:embed="rId6"/>
            <a:stretch>
              <a:fillRect l="-4575" t="-112771"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grpSp>
        <p:nvGrpSpPr>
          <p:cNvPr name="Group 2" id="2"/>
          <p:cNvGrpSpPr/>
          <p:nvPr/>
        </p:nvGrpSpPr>
        <p:grpSpPr>
          <a:xfrm rot="0">
            <a:off x="12016155" y="3122643"/>
            <a:ext cx="5348913" cy="6520158"/>
            <a:chOff x="0" y="0"/>
            <a:chExt cx="1148245" cy="1399675"/>
          </a:xfrm>
        </p:grpSpPr>
        <p:sp>
          <p:nvSpPr>
            <p:cNvPr name="Freeform 3" id="3"/>
            <p:cNvSpPr/>
            <p:nvPr/>
          </p:nvSpPr>
          <p:spPr>
            <a:xfrm flipH="false" flipV="false" rot="0">
              <a:off x="0" y="0"/>
              <a:ext cx="1148245" cy="1399675"/>
            </a:xfrm>
            <a:custGeom>
              <a:avLst/>
              <a:gdLst/>
              <a:ahLst/>
              <a:cxnLst/>
              <a:rect r="r" b="b" t="t" l="l"/>
              <a:pathLst>
                <a:path h="1399675" w="1148245">
                  <a:moveTo>
                    <a:pt x="73816" y="0"/>
                  </a:moveTo>
                  <a:lnTo>
                    <a:pt x="1074428" y="0"/>
                  </a:lnTo>
                  <a:cubicBezTo>
                    <a:pt x="1094006" y="0"/>
                    <a:pt x="1112781" y="7777"/>
                    <a:pt x="1126624" y="21620"/>
                  </a:cubicBezTo>
                  <a:cubicBezTo>
                    <a:pt x="1140468" y="35464"/>
                    <a:pt x="1148245" y="54239"/>
                    <a:pt x="1148245" y="73816"/>
                  </a:cubicBezTo>
                  <a:lnTo>
                    <a:pt x="1148245" y="1325858"/>
                  </a:lnTo>
                  <a:cubicBezTo>
                    <a:pt x="1148245" y="1345436"/>
                    <a:pt x="1140468" y="1364211"/>
                    <a:pt x="1126624" y="1378054"/>
                  </a:cubicBezTo>
                  <a:cubicBezTo>
                    <a:pt x="1112781" y="1391898"/>
                    <a:pt x="1094006" y="1399675"/>
                    <a:pt x="1074428" y="1399675"/>
                  </a:cubicBezTo>
                  <a:lnTo>
                    <a:pt x="73816" y="1399675"/>
                  </a:lnTo>
                  <a:cubicBezTo>
                    <a:pt x="54239" y="1399675"/>
                    <a:pt x="35464" y="1391898"/>
                    <a:pt x="21620" y="1378054"/>
                  </a:cubicBezTo>
                  <a:cubicBezTo>
                    <a:pt x="7777" y="1364211"/>
                    <a:pt x="0" y="1345436"/>
                    <a:pt x="0" y="1325858"/>
                  </a:cubicBezTo>
                  <a:lnTo>
                    <a:pt x="0" y="73816"/>
                  </a:lnTo>
                  <a:cubicBezTo>
                    <a:pt x="0" y="54239"/>
                    <a:pt x="7777" y="35464"/>
                    <a:pt x="21620" y="21620"/>
                  </a:cubicBezTo>
                  <a:cubicBezTo>
                    <a:pt x="35464" y="7777"/>
                    <a:pt x="54239" y="0"/>
                    <a:pt x="73816" y="0"/>
                  </a:cubicBezTo>
                  <a:close/>
                </a:path>
              </a:pathLst>
            </a:custGeom>
            <a:solidFill>
              <a:srgbClr val="972121"/>
            </a:solidFill>
          </p:spPr>
        </p:sp>
        <p:sp>
          <p:nvSpPr>
            <p:cNvPr name="TextBox 4" id="4"/>
            <p:cNvSpPr txBox="true"/>
            <p:nvPr/>
          </p:nvSpPr>
          <p:spPr>
            <a:xfrm>
              <a:off x="0" y="-38100"/>
              <a:ext cx="1148245" cy="1437775"/>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5400000">
            <a:off x="-2373736" y="4911090"/>
            <a:ext cx="6882108" cy="464820"/>
          </a:xfrm>
          <a:prstGeom prst="rect">
            <a:avLst/>
          </a:prstGeom>
        </p:spPr>
        <p:txBody>
          <a:bodyPr anchor="t" rtlCol="false" tIns="0" lIns="0" bIns="0" rIns="0">
            <a:spAutoFit/>
          </a:bodyPr>
          <a:lstStyle/>
          <a:p>
            <a:pPr algn="ctr">
              <a:lnSpc>
                <a:spcPts val="3779"/>
              </a:lnSpc>
            </a:pPr>
            <a:r>
              <a:rPr lang="en-US" sz="2700">
                <a:solidFill>
                  <a:srgbClr val="000000"/>
                </a:solidFill>
                <a:latin typeface="Alatsi"/>
                <a:ea typeface="Alatsi"/>
                <a:cs typeface="Alatsi"/>
                <a:sym typeface="Alatsi"/>
              </a:rPr>
              <a:t>CBIT/IT/2024-25/IT1/106 </a:t>
            </a:r>
          </a:p>
        </p:txBody>
      </p:sp>
      <p:sp>
        <p:nvSpPr>
          <p:cNvPr name="AutoShape 6" id="6"/>
          <p:cNvSpPr/>
          <p:nvPr/>
        </p:nvSpPr>
        <p:spPr>
          <a:xfrm flipH="true" flipV="true">
            <a:off x="1090490" y="-104525"/>
            <a:ext cx="5403" cy="2997456"/>
          </a:xfrm>
          <a:prstGeom prst="line">
            <a:avLst/>
          </a:prstGeom>
          <a:ln cap="flat" w="114300">
            <a:solidFill>
              <a:srgbClr val="727D3D"/>
            </a:solidFill>
            <a:prstDash val="solid"/>
            <a:headEnd type="none" len="sm" w="sm"/>
            <a:tailEnd type="none" len="sm" w="sm"/>
          </a:ln>
        </p:spPr>
      </p:sp>
      <p:sp>
        <p:nvSpPr>
          <p:cNvPr name="AutoShape 7" id="7"/>
          <p:cNvSpPr/>
          <p:nvPr/>
        </p:nvSpPr>
        <p:spPr>
          <a:xfrm flipH="true" flipV="true">
            <a:off x="1085850" y="7289441"/>
            <a:ext cx="5403" cy="2997456"/>
          </a:xfrm>
          <a:prstGeom prst="line">
            <a:avLst/>
          </a:prstGeom>
          <a:ln cap="flat" w="114300">
            <a:solidFill>
              <a:srgbClr val="727D3D"/>
            </a:solidFill>
            <a:prstDash val="solid"/>
            <a:headEnd type="none" len="sm" w="sm"/>
            <a:tailEnd type="none" len="sm" w="sm"/>
          </a:ln>
        </p:spPr>
      </p:sp>
      <p:grpSp>
        <p:nvGrpSpPr>
          <p:cNvPr name="Group 8" id="8"/>
          <p:cNvGrpSpPr/>
          <p:nvPr/>
        </p:nvGrpSpPr>
        <p:grpSpPr>
          <a:xfrm rot="0">
            <a:off x="15915855" y="0"/>
            <a:ext cx="1449213" cy="1673225"/>
            <a:chOff x="0" y="0"/>
            <a:chExt cx="703982" cy="812800"/>
          </a:xfrm>
        </p:grpSpPr>
        <p:sp>
          <p:nvSpPr>
            <p:cNvPr name="Freeform 9" id="9"/>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727D3D"/>
            </a:solidFill>
          </p:spPr>
        </p:sp>
        <p:sp>
          <p:nvSpPr>
            <p:cNvPr name="TextBox 10" id="10"/>
            <p:cNvSpPr txBox="true"/>
            <p:nvPr/>
          </p:nvSpPr>
          <p:spPr>
            <a:xfrm>
              <a:off x="0" y="-104775"/>
              <a:ext cx="703982" cy="790575"/>
            </a:xfrm>
            <a:prstGeom prst="rect">
              <a:avLst/>
            </a:prstGeom>
          </p:spPr>
          <p:txBody>
            <a:bodyPr anchor="ctr" rtlCol="false" tIns="50800" lIns="50800" bIns="50800" rIns="50800"/>
            <a:lstStyle/>
            <a:p>
              <a:pPr algn="ctr">
                <a:lnSpc>
                  <a:spcPts val="6719"/>
                </a:lnSpc>
              </a:pPr>
              <a:r>
                <a:rPr lang="en-US" sz="4799">
                  <a:solidFill>
                    <a:srgbClr val="000000"/>
                  </a:solidFill>
                  <a:latin typeface="Abhaya Libre"/>
                  <a:ea typeface="Abhaya Libre"/>
                  <a:cs typeface="Abhaya Libre"/>
                  <a:sym typeface="Abhaya Libre"/>
                </a:rPr>
                <a:t>9</a:t>
              </a:r>
            </a:p>
          </p:txBody>
        </p:sp>
      </p:grpSp>
      <p:sp>
        <p:nvSpPr>
          <p:cNvPr name="Freeform 11" id="11"/>
          <p:cNvSpPr/>
          <p:nvPr/>
        </p:nvSpPr>
        <p:spPr>
          <a:xfrm flipH="false" flipV="false" rot="0">
            <a:off x="7512165" y="-1553858"/>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892058" y="9048108"/>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0">
            <a:off x="15859155" y="0"/>
            <a:ext cx="1562612" cy="1673225"/>
            <a:chOff x="0" y="0"/>
            <a:chExt cx="2083482" cy="2230967"/>
          </a:xfrm>
        </p:grpSpPr>
        <p:grpSp>
          <p:nvGrpSpPr>
            <p:cNvPr name="Group 14" id="14"/>
            <p:cNvGrpSpPr/>
            <p:nvPr/>
          </p:nvGrpSpPr>
          <p:grpSpPr>
            <a:xfrm rot="0">
              <a:off x="75599" y="0"/>
              <a:ext cx="1932284" cy="2230967"/>
              <a:chOff x="0" y="0"/>
              <a:chExt cx="703982" cy="812800"/>
            </a:xfrm>
          </p:grpSpPr>
          <p:sp>
            <p:nvSpPr>
              <p:cNvPr name="Freeform 15" id="15"/>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727D3D"/>
              </a:solidFill>
            </p:spPr>
          </p:sp>
          <p:sp>
            <p:nvSpPr>
              <p:cNvPr name="TextBox 16" id="16"/>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b="true">
                  <a:solidFill>
                    <a:srgbClr val="000000"/>
                  </a:solidFill>
                  <a:latin typeface="Open Sans Bold"/>
                  <a:ea typeface="Open Sans Bold"/>
                  <a:cs typeface="Open Sans Bold"/>
                  <a:sym typeface="Open Sans Bold"/>
                </a:rPr>
                <a:t>15</a:t>
              </a:r>
            </a:p>
          </p:txBody>
        </p:sp>
      </p:grpSp>
      <p:sp>
        <p:nvSpPr>
          <p:cNvPr name="Freeform 18" id="18"/>
          <p:cNvSpPr/>
          <p:nvPr/>
        </p:nvSpPr>
        <p:spPr>
          <a:xfrm flipH="false" flipV="false" rot="0">
            <a:off x="12373450" y="3297587"/>
            <a:ext cx="4634323" cy="6170270"/>
          </a:xfrm>
          <a:custGeom>
            <a:avLst/>
            <a:gdLst/>
            <a:ahLst/>
            <a:cxnLst/>
            <a:rect r="r" b="b" t="t" l="l"/>
            <a:pathLst>
              <a:path h="6170270" w="4634323">
                <a:moveTo>
                  <a:pt x="0" y="0"/>
                </a:moveTo>
                <a:lnTo>
                  <a:pt x="4634323" y="0"/>
                </a:lnTo>
                <a:lnTo>
                  <a:pt x="4634323" y="6170271"/>
                </a:lnTo>
                <a:lnTo>
                  <a:pt x="0" y="6170271"/>
                </a:lnTo>
                <a:lnTo>
                  <a:pt x="0" y="0"/>
                </a:lnTo>
                <a:close/>
              </a:path>
            </a:pathLst>
          </a:custGeom>
          <a:blipFill>
            <a:blip r:embed="rId4"/>
            <a:stretch>
              <a:fillRect l="0" t="0" r="0" b="0"/>
            </a:stretch>
          </a:blipFill>
        </p:spPr>
      </p:sp>
      <p:sp>
        <p:nvSpPr>
          <p:cNvPr name="TextBox 19" id="19"/>
          <p:cNvSpPr txBox="true"/>
          <p:nvPr/>
        </p:nvSpPr>
        <p:spPr>
          <a:xfrm rot="0">
            <a:off x="12016155" y="2392459"/>
            <a:ext cx="4444019" cy="695127"/>
          </a:xfrm>
          <a:prstGeom prst="rect">
            <a:avLst/>
          </a:prstGeom>
        </p:spPr>
        <p:txBody>
          <a:bodyPr anchor="t" rtlCol="false" tIns="0" lIns="0" bIns="0" rIns="0">
            <a:spAutoFit/>
          </a:bodyPr>
          <a:lstStyle/>
          <a:p>
            <a:pPr algn="l">
              <a:lnSpc>
                <a:spcPts val="5702"/>
              </a:lnSpc>
            </a:pPr>
            <a:r>
              <a:rPr lang="en-US" sz="4072">
                <a:solidFill>
                  <a:srgbClr val="E9E0D9"/>
                </a:solidFill>
                <a:latin typeface="Alatsi"/>
                <a:ea typeface="Alatsi"/>
                <a:cs typeface="Alatsi"/>
                <a:sym typeface="Alatsi"/>
              </a:rPr>
              <a:t>Computation</a:t>
            </a:r>
          </a:p>
        </p:txBody>
      </p:sp>
      <p:sp>
        <p:nvSpPr>
          <p:cNvPr name="TextBox 20" id="20"/>
          <p:cNvSpPr txBox="true"/>
          <p:nvPr/>
        </p:nvSpPr>
        <p:spPr>
          <a:xfrm rot="0">
            <a:off x="2808516" y="3246816"/>
            <a:ext cx="8361249" cy="6011484"/>
          </a:xfrm>
          <a:prstGeom prst="rect">
            <a:avLst/>
          </a:prstGeom>
        </p:spPr>
        <p:txBody>
          <a:bodyPr anchor="t" rtlCol="false" tIns="0" lIns="0" bIns="0" rIns="0">
            <a:spAutoFit/>
          </a:bodyPr>
          <a:lstStyle/>
          <a:p>
            <a:pPr algn="just">
              <a:lnSpc>
                <a:spcPts val="3700"/>
              </a:lnSpc>
            </a:pPr>
            <a:r>
              <a:rPr lang="en-US" sz="2642">
                <a:solidFill>
                  <a:srgbClr val="000000"/>
                </a:solidFill>
                <a:latin typeface="Alatsi"/>
                <a:ea typeface="Alatsi"/>
                <a:cs typeface="Alatsi"/>
                <a:sym typeface="Alatsi"/>
              </a:rPr>
              <a:t>Tetrolet wavelet transform, an extension of Haar transformation, is used for efficient image feature ext</a:t>
            </a:r>
            <a:r>
              <a:rPr lang="en-US" sz="2642">
                <a:solidFill>
                  <a:srgbClr val="000000"/>
                </a:solidFill>
                <a:latin typeface="Alatsi"/>
                <a:ea typeface="Alatsi"/>
                <a:cs typeface="Alatsi"/>
                <a:sym typeface="Alatsi"/>
              </a:rPr>
              <a:t>r</a:t>
            </a:r>
            <a:r>
              <a:rPr lang="en-US" sz="2642">
                <a:solidFill>
                  <a:srgbClr val="000000"/>
                </a:solidFill>
                <a:latin typeface="Alatsi"/>
                <a:ea typeface="Alatsi"/>
                <a:cs typeface="Alatsi"/>
                <a:sym typeface="Alatsi"/>
              </a:rPr>
              <a:t>action. It decomposes an image into four components:</a:t>
            </a:r>
          </a:p>
          <a:p>
            <a:pPr algn="just">
              <a:lnSpc>
                <a:spcPts val="3700"/>
              </a:lnSpc>
            </a:pPr>
          </a:p>
          <a:p>
            <a:pPr algn="just" marL="570599" indent="-285299" lvl="1">
              <a:lnSpc>
                <a:spcPts val="3700"/>
              </a:lnSpc>
              <a:buFont typeface="Arial"/>
              <a:buChar char="•"/>
            </a:pPr>
            <a:r>
              <a:rPr lang="en-US" sz="2642">
                <a:solidFill>
                  <a:srgbClr val="000000"/>
                </a:solidFill>
                <a:latin typeface="Alatsi"/>
                <a:ea typeface="Alatsi"/>
                <a:cs typeface="Alatsi"/>
                <a:sym typeface="Alatsi"/>
              </a:rPr>
              <a:t>LL (Approximation) – Captures the main structure.</a:t>
            </a:r>
          </a:p>
          <a:p>
            <a:pPr algn="just" marL="570599" indent="-285299" lvl="1">
              <a:lnSpc>
                <a:spcPts val="3700"/>
              </a:lnSpc>
              <a:buFont typeface="Arial"/>
              <a:buChar char="•"/>
            </a:pPr>
            <a:r>
              <a:rPr lang="en-US" sz="2642">
                <a:solidFill>
                  <a:srgbClr val="000000"/>
                </a:solidFill>
                <a:latin typeface="Alatsi"/>
                <a:ea typeface="Alatsi"/>
                <a:cs typeface="Alatsi"/>
                <a:sym typeface="Alatsi"/>
              </a:rPr>
              <a:t>LH (</a:t>
            </a:r>
            <a:r>
              <a:rPr lang="en-US" sz="2642">
                <a:solidFill>
                  <a:srgbClr val="000000"/>
                </a:solidFill>
                <a:latin typeface="Alatsi"/>
                <a:ea typeface="Alatsi"/>
                <a:cs typeface="Alatsi"/>
                <a:sym typeface="Alatsi"/>
              </a:rPr>
              <a:t>Horizontal) – Captures horizontal edges.</a:t>
            </a:r>
          </a:p>
          <a:p>
            <a:pPr algn="just" marL="570599" indent="-285299" lvl="1">
              <a:lnSpc>
                <a:spcPts val="3700"/>
              </a:lnSpc>
              <a:buFont typeface="Arial"/>
              <a:buChar char="•"/>
            </a:pPr>
            <a:r>
              <a:rPr lang="en-US" sz="2642">
                <a:solidFill>
                  <a:srgbClr val="000000"/>
                </a:solidFill>
                <a:latin typeface="Alatsi"/>
                <a:ea typeface="Alatsi"/>
                <a:cs typeface="Alatsi"/>
                <a:sym typeface="Alatsi"/>
              </a:rPr>
              <a:t>HL (</a:t>
            </a:r>
            <a:r>
              <a:rPr lang="en-US" sz="2642">
                <a:solidFill>
                  <a:srgbClr val="000000"/>
                </a:solidFill>
                <a:latin typeface="Alatsi"/>
                <a:ea typeface="Alatsi"/>
                <a:cs typeface="Alatsi"/>
                <a:sym typeface="Alatsi"/>
              </a:rPr>
              <a:t>Vertical) – Captures vertical edges.</a:t>
            </a:r>
          </a:p>
          <a:p>
            <a:pPr algn="just" marL="570599" indent="-285299" lvl="1">
              <a:lnSpc>
                <a:spcPts val="3700"/>
              </a:lnSpc>
              <a:buFont typeface="Arial"/>
              <a:buChar char="•"/>
            </a:pPr>
            <a:r>
              <a:rPr lang="en-US" sz="2642">
                <a:solidFill>
                  <a:srgbClr val="000000"/>
                </a:solidFill>
                <a:latin typeface="Alatsi"/>
                <a:ea typeface="Alatsi"/>
                <a:cs typeface="Alatsi"/>
                <a:sym typeface="Alatsi"/>
              </a:rPr>
              <a:t>HH (</a:t>
            </a:r>
            <a:r>
              <a:rPr lang="en-US" sz="2642">
                <a:solidFill>
                  <a:srgbClr val="000000"/>
                </a:solidFill>
                <a:latin typeface="Alatsi"/>
                <a:ea typeface="Alatsi"/>
                <a:cs typeface="Alatsi"/>
                <a:sym typeface="Alatsi"/>
              </a:rPr>
              <a:t>Diagonal) – Captures diagonal edges.</a:t>
            </a:r>
          </a:p>
          <a:p>
            <a:pPr algn="just">
              <a:lnSpc>
                <a:spcPts val="3700"/>
              </a:lnSpc>
            </a:pPr>
          </a:p>
          <a:p>
            <a:pPr algn="just">
              <a:lnSpc>
                <a:spcPts val="3700"/>
              </a:lnSpc>
            </a:pPr>
            <a:r>
              <a:rPr lang="en-US" sz="2642">
                <a:solidFill>
                  <a:srgbClr val="000000"/>
                </a:solidFill>
                <a:latin typeface="Alatsi"/>
                <a:ea typeface="Alatsi"/>
                <a:cs typeface="Alatsi"/>
                <a:sym typeface="Alatsi"/>
              </a:rPr>
              <a:t>For a 2×2 image block, Haar wavelet feature extraction is computed as:</a:t>
            </a:r>
          </a:p>
          <a:p>
            <a:pPr algn="just">
              <a:lnSpc>
                <a:spcPts val="3700"/>
              </a:lnSpc>
            </a:pPr>
          </a:p>
        </p:txBody>
      </p:sp>
      <p:sp>
        <p:nvSpPr>
          <p:cNvPr name="TextBox 21" id="21"/>
          <p:cNvSpPr txBox="true"/>
          <p:nvPr/>
        </p:nvSpPr>
        <p:spPr>
          <a:xfrm rot="0">
            <a:off x="2808516" y="964342"/>
            <a:ext cx="12204808" cy="1274892"/>
          </a:xfrm>
          <a:prstGeom prst="rect">
            <a:avLst/>
          </a:prstGeom>
        </p:spPr>
        <p:txBody>
          <a:bodyPr anchor="t" rtlCol="false" tIns="0" lIns="0" bIns="0" rIns="0">
            <a:spAutoFit/>
          </a:bodyPr>
          <a:lstStyle/>
          <a:p>
            <a:pPr algn="l">
              <a:lnSpc>
                <a:spcPts val="10450"/>
              </a:lnSpc>
            </a:pPr>
            <a:r>
              <a:rPr lang="en-US" sz="7464">
                <a:solidFill>
                  <a:srgbClr val="000000"/>
                </a:solidFill>
                <a:latin typeface="Alatsi"/>
                <a:ea typeface="Alatsi"/>
                <a:cs typeface="Alatsi"/>
                <a:sym typeface="Alatsi"/>
              </a:rPr>
              <a:t>TETROLET TRANSFORMATIONS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grpSp>
        <p:nvGrpSpPr>
          <p:cNvPr name="Group 2" id="2"/>
          <p:cNvGrpSpPr/>
          <p:nvPr/>
        </p:nvGrpSpPr>
        <p:grpSpPr>
          <a:xfrm rot="0">
            <a:off x="1800835" y="568387"/>
            <a:ext cx="15620932" cy="9285423"/>
            <a:chOff x="0" y="0"/>
            <a:chExt cx="3662795" cy="2177245"/>
          </a:xfrm>
        </p:grpSpPr>
        <p:sp>
          <p:nvSpPr>
            <p:cNvPr name="Freeform 3" id="3"/>
            <p:cNvSpPr/>
            <p:nvPr/>
          </p:nvSpPr>
          <p:spPr>
            <a:xfrm flipH="false" flipV="false" rot="0">
              <a:off x="0" y="0"/>
              <a:ext cx="3662795" cy="2177245"/>
            </a:xfrm>
            <a:custGeom>
              <a:avLst/>
              <a:gdLst/>
              <a:ahLst/>
              <a:cxnLst/>
              <a:rect r="r" b="b" t="t" l="l"/>
              <a:pathLst>
                <a:path h="2177245" w="3662795">
                  <a:moveTo>
                    <a:pt x="25276" y="0"/>
                  </a:moveTo>
                  <a:lnTo>
                    <a:pt x="3637519" y="0"/>
                  </a:lnTo>
                  <a:cubicBezTo>
                    <a:pt x="3651479" y="0"/>
                    <a:pt x="3662795" y="11317"/>
                    <a:pt x="3662795" y="25276"/>
                  </a:cubicBezTo>
                  <a:lnTo>
                    <a:pt x="3662795" y="2151969"/>
                  </a:lnTo>
                  <a:cubicBezTo>
                    <a:pt x="3662795" y="2165929"/>
                    <a:pt x="3651479" y="2177245"/>
                    <a:pt x="3637519" y="2177245"/>
                  </a:cubicBezTo>
                  <a:lnTo>
                    <a:pt x="25276" y="2177245"/>
                  </a:lnTo>
                  <a:cubicBezTo>
                    <a:pt x="11317" y="2177245"/>
                    <a:pt x="0" y="2165929"/>
                    <a:pt x="0" y="2151969"/>
                  </a:cubicBezTo>
                  <a:lnTo>
                    <a:pt x="0" y="25276"/>
                  </a:lnTo>
                  <a:cubicBezTo>
                    <a:pt x="0" y="11317"/>
                    <a:pt x="11317" y="0"/>
                    <a:pt x="25276" y="0"/>
                  </a:cubicBezTo>
                  <a:close/>
                </a:path>
              </a:pathLst>
            </a:custGeom>
            <a:solidFill>
              <a:srgbClr val="972121"/>
            </a:solidFill>
          </p:spPr>
        </p:sp>
        <p:sp>
          <p:nvSpPr>
            <p:cNvPr name="TextBox 4" id="4"/>
            <p:cNvSpPr txBox="true"/>
            <p:nvPr/>
          </p:nvSpPr>
          <p:spPr>
            <a:xfrm>
              <a:off x="0" y="-38100"/>
              <a:ext cx="3662795" cy="2215345"/>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5400000">
            <a:off x="-2373736" y="4911090"/>
            <a:ext cx="6882108" cy="464820"/>
          </a:xfrm>
          <a:prstGeom prst="rect">
            <a:avLst/>
          </a:prstGeom>
        </p:spPr>
        <p:txBody>
          <a:bodyPr anchor="t" rtlCol="false" tIns="0" lIns="0" bIns="0" rIns="0">
            <a:spAutoFit/>
          </a:bodyPr>
          <a:lstStyle/>
          <a:p>
            <a:pPr algn="ctr">
              <a:lnSpc>
                <a:spcPts val="3779"/>
              </a:lnSpc>
            </a:pPr>
            <a:r>
              <a:rPr lang="en-US" sz="2700">
                <a:solidFill>
                  <a:srgbClr val="000000"/>
                </a:solidFill>
                <a:latin typeface="Alatsi"/>
                <a:ea typeface="Alatsi"/>
                <a:cs typeface="Alatsi"/>
                <a:sym typeface="Alatsi"/>
              </a:rPr>
              <a:t>CBIT/IT/2024-25/IT1/106 </a:t>
            </a:r>
          </a:p>
        </p:txBody>
      </p:sp>
      <p:sp>
        <p:nvSpPr>
          <p:cNvPr name="AutoShape 6" id="6"/>
          <p:cNvSpPr/>
          <p:nvPr/>
        </p:nvSpPr>
        <p:spPr>
          <a:xfrm flipH="true" flipV="true">
            <a:off x="1090490" y="-104525"/>
            <a:ext cx="5403" cy="2997456"/>
          </a:xfrm>
          <a:prstGeom prst="line">
            <a:avLst/>
          </a:prstGeom>
          <a:ln cap="flat" w="114300">
            <a:solidFill>
              <a:srgbClr val="727D3D"/>
            </a:solidFill>
            <a:prstDash val="solid"/>
            <a:headEnd type="none" len="sm" w="sm"/>
            <a:tailEnd type="none" len="sm" w="sm"/>
          </a:ln>
        </p:spPr>
      </p:sp>
      <p:sp>
        <p:nvSpPr>
          <p:cNvPr name="AutoShape 7" id="7"/>
          <p:cNvSpPr/>
          <p:nvPr/>
        </p:nvSpPr>
        <p:spPr>
          <a:xfrm flipH="true" flipV="true">
            <a:off x="1085850" y="7289441"/>
            <a:ext cx="5403" cy="2997456"/>
          </a:xfrm>
          <a:prstGeom prst="line">
            <a:avLst/>
          </a:prstGeom>
          <a:ln cap="flat" w="114300">
            <a:solidFill>
              <a:srgbClr val="727D3D"/>
            </a:solidFill>
            <a:prstDash val="solid"/>
            <a:headEnd type="none" len="sm" w="sm"/>
            <a:tailEnd type="none" len="sm" w="sm"/>
          </a:ln>
        </p:spPr>
      </p:sp>
      <p:grpSp>
        <p:nvGrpSpPr>
          <p:cNvPr name="Group 8" id="8"/>
          <p:cNvGrpSpPr/>
          <p:nvPr/>
        </p:nvGrpSpPr>
        <p:grpSpPr>
          <a:xfrm rot="0">
            <a:off x="15859155" y="0"/>
            <a:ext cx="1562612" cy="1673225"/>
            <a:chOff x="0" y="0"/>
            <a:chExt cx="2083482" cy="2230967"/>
          </a:xfrm>
        </p:grpSpPr>
        <p:grpSp>
          <p:nvGrpSpPr>
            <p:cNvPr name="Group 9" id="9"/>
            <p:cNvGrpSpPr/>
            <p:nvPr/>
          </p:nvGrpSpPr>
          <p:grpSpPr>
            <a:xfrm rot="0">
              <a:off x="75599" y="0"/>
              <a:ext cx="1932284" cy="2230967"/>
              <a:chOff x="0" y="0"/>
              <a:chExt cx="703982" cy="812800"/>
            </a:xfrm>
          </p:grpSpPr>
          <p:sp>
            <p:nvSpPr>
              <p:cNvPr name="Freeform 10" id="10"/>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727D3D"/>
              </a:solidFill>
            </p:spPr>
          </p:sp>
          <p:sp>
            <p:nvSpPr>
              <p:cNvPr name="TextBox 11" id="11"/>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b="true">
                  <a:solidFill>
                    <a:srgbClr val="000000"/>
                  </a:solidFill>
                  <a:latin typeface="Open Sans Bold"/>
                  <a:ea typeface="Open Sans Bold"/>
                  <a:cs typeface="Open Sans Bold"/>
                  <a:sym typeface="Open Sans Bold"/>
                </a:rPr>
                <a:t>17</a:t>
              </a:r>
            </a:p>
          </p:txBody>
        </p:sp>
      </p:grpSp>
      <p:sp>
        <p:nvSpPr>
          <p:cNvPr name="Freeform 13" id="13"/>
          <p:cNvSpPr/>
          <p:nvPr/>
        </p:nvSpPr>
        <p:spPr>
          <a:xfrm flipH="false" flipV="false" rot="0">
            <a:off x="7512165" y="-1553858"/>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892058" y="9048108"/>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5" id="15"/>
          <p:cNvGrpSpPr/>
          <p:nvPr/>
        </p:nvGrpSpPr>
        <p:grpSpPr>
          <a:xfrm rot="0">
            <a:off x="9665365" y="1702446"/>
            <a:ext cx="7452064" cy="7604645"/>
            <a:chOff x="0" y="0"/>
            <a:chExt cx="9936085" cy="10139527"/>
          </a:xfrm>
        </p:grpSpPr>
        <p:sp>
          <p:nvSpPr>
            <p:cNvPr name="Freeform 16" id="16"/>
            <p:cNvSpPr/>
            <p:nvPr/>
          </p:nvSpPr>
          <p:spPr>
            <a:xfrm flipH="false" flipV="false" rot="0">
              <a:off x="0" y="0"/>
              <a:ext cx="5150001" cy="10139527"/>
            </a:xfrm>
            <a:custGeom>
              <a:avLst/>
              <a:gdLst/>
              <a:ahLst/>
              <a:cxnLst/>
              <a:rect r="r" b="b" t="t" l="l"/>
              <a:pathLst>
                <a:path h="10139527" w="5150001">
                  <a:moveTo>
                    <a:pt x="0" y="0"/>
                  </a:moveTo>
                  <a:lnTo>
                    <a:pt x="5150001" y="0"/>
                  </a:lnTo>
                  <a:lnTo>
                    <a:pt x="5150001" y="10139527"/>
                  </a:lnTo>
                  <a:lnTo>
                    <a:pt x="0" y="10139527"/>
                  </a:lnTo>
                  <a:lnTo>
                    <a:pt x="0" y="0"/>
                  </a:lnTo>
                  <a:close/>
                </a:path>
              </a:pathLst>
            </a:custGeom>
            <a:blipFill>
              <a:blip r:embed="rId4"/>
              <a:stretch>
                <a:fillRect l="0" t="0" r="-125091" b="0"/>
              </a:stretch>
            </a:blipFill>
          </p:spPr>
        </p:sp>
        <p:sp>
          <p:nvSpPr>
            <p:cNvPr name="Freeform 17" id="17"/>
            <p:cNvSpPr/>
            <p:nvPr/>
          </p:nvSpPr>
          <p:spPr>
            <a:xfrm flipH="false" flipV="false" rot="0">
              <a:off x="5150001" y="0"/>
              <a:ext cx="4786084" cy="10139527"/>
            </a:xfrm>
            <a:custGeom>
              <a:avLst/>
              <a:gdLst/>
              <a:ahLst/>
              <a:cxnLst/>
              <a:rect r="r" b="b" t="t" l="l"/>
              <a:pathLst>
                <a:path h="10139527" w="4786084">
                  <a:moveTo>
                    <a:pt x="0" y="0"/>
                  </a:moveTo>
                  <a:lnTo>
                    <a:pt x="4786084" y="0"/>
                  </a:lnTo>
                  <a:lnTo>
                    <a:pt x="4786084" y="10139527"/>
                  </a:lnTo>
                  <a:lnTo>
                    <a:pt x="0" y="10139527"/>
                  </a:lnTo>
                  <a:lnTo>
                    <a:pt x="0" y="0"/>
                  </a:lnTo>
                  <a:close/>
                </a:path>
              </a:pathLst>
            </a:custGeom>
            <a:blipFill>
              <a:blip r:embed="rId4"/>
              <a:stretch>
                <a:fillRect l="-142206" t="0" r="0" b="0"/>
              </a:stretch>
            </a:blipFill>
          </p:spPr>
        </p:sp>
      </p:grpSp>
      <p:sp>
        <p:nvSpPr>
          <p:cNvPr name="Freeform 18" id="18"/>
          <p:cNvSpPr/>
          <p:nvPr/>
        </p:nvSpPr>
        <p:spPr>
          <a:xfrm flipH="false" flipV="false" rot="0">
            <a:off x="2073953" y="2727120"/>
            <a:ext cx="7346101" cy="4832759"/>
          </a:xfrm>
          <a:custGeom>
            <a:avLst/>
            <a:gdLst/>
            <a:ahLst/>
            <a:cxnLst/>
            <a:rect r="r" b="b" t="t" l="l"/>
            <a:pathLst>
              <a:path h="4832759" w="7346101">
                <a:moveTo>
                  <a:pt x="0" y="0"/>
                </a:moveTo>
                <a:lnTo>
                  <a:pt x="7346101" y="0"/>
                </a:lnTo>
                <a:lnTo>
                  <a:pt x="7346101" y="4832760"/>
                </a:lnTo>
                <a:lnTo>
                  <a:pt x="0" y="4832760"/>
                </a:lnTo>
                <a:lnTo>
                  <a:pt x="0" y="0"/>
                </a:lnTo>
                <a:close/>
              </a:path>
            </a:pathLst>
          </a:custGeom>
          <a:blipFill>
            <a:blip r:embed="rId5"/>
            <a:stretch>
              <a:fillRect l="-14834" t="0" r="0" b="-35876"/>
            </a:stretch>
          </a:blipFill>
        </p:spPr>
      </p:sp>
      <p:sp>
        <p:nvSpPr>
          <p:cNvPr name="TextBox 19" id="19"/>
          <p:cNvSpPr txBox="true"/>
          <p:nvPr/>
        </p:nvSpPr>
        <p:spPr>
          <a:xfrm rot="0">
            <a:off x="10183723" y="847725"/>
            <a:ext cx="4549161" cy="646422"/>
          </a:xfrm>
          <a:prstGeom prst="rect">
            <a:avLst/>
          </a:prstGeom>
        </p:spPr>
        <p:txBody>
          <a:bodyPr anchor="t" rtlCol="false" tIns="0" lIns="0" bIns="0" rIns="0">
            <a:spAutoFit/>
          </a:bodyPr>
          <a:lstStyle/>
          <a:p>
            <a:pPr algn="l">
              <a:lnSpc>
                <a:spcPts val="5320"/>
              </a:lnSpc>
            </a:pPr>
            <a:r>
              <a:rPr lang="en-US" sz="3800">
                <a:solidFill>
                  <a:srgbClr val="F6F3EB"/>
                </a:solidFill>
                <a:latin typeface="Alatsi"/>
                <a:ea typeface="Alatsi"/>
                <a:cs typeface="Alatsi"/>
                <a:sym typeface="Alatsi"/>
              </a:rPr>
              <a:t>O-TRANSFORMATION</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grpSp>
        <p:nvGrpSpPr>
          <p:cNvPr name="Group 2" id="2"/>
          <p:cNvGrpSpPr/>
          <p:nvPr/>
        </p:nvGrpSpPr>
        <p:grpSpPr>
          <a:xfrm rot="0">
            <a:off x="1800835" y="568387"/>
            <a:ext cx="15620932" cy="9285423"/>
            <a:chOff x="0" y="0"/>
            <a:chExt cx="3662795" cy="2177245"/>
          </a:xfrm>
        </p:grpSpPr>
        <p:sp>
          <p:nvSpPr>
            <p:cNvPr name="Freeform 3" id="3"/>
            <p:cNvSpPr/>
            <p:nvPr/>
          </p:nvSpPr>
          <p:spPr>
            <a:xfrm flipH="false" flipV="false" rot="0">
              <a:off x="0" y="0"/>
              <a:ext cx="3662795" cy="2177245"/>
            </a:xfrm>
            <a:custGeom>
              <a:avLst/>
              <a:gdLst/>
              <a:ahLst/>
              <a:cxnLst/>
              <a:rect r="r" b="b" t="t" l="l"/>
              <a:pathLst>
                <a:path h="2177245" w="3662795">
                  <a:moveTo>
                    <a:pt x="25276" y="0"/>
                  </a:moveTo>
                  <a:lnTo>
                    <a:pt x="3637519" y="0"/>
                  </a:lnTo>
                  <a:cubicBezTo>
                    <a:pt x="3651479" y="0"/>
                    <a:pt x="3662795" y="11317"/>
                    <a:pt x="3662795" y="25276"/>
                  </a:cubicBezTo>
                  <a:lnTo>
                    <a:pt x="3662795" y="2151969"/>
                  </a:lnTo>
                  <a:cubicBezTo>
                    <a:pt x="3662795" y="2165929"/>
                    <a:pt x="3651479" y="2177245"/>
                    <a:pt x="3637519" y="2177245"/>
                  </a:cubicBezTo>
                  <a:lnTo>
                    <a:pt x="25276" y="2177245"/>
                  </a:lnTo>
                  <a:cubicBezTo>
                    <a:pt x="11317" y="2177245"/>
                    <a:pt x="0" y="2165929"/>
                    <a:pt x="0" y="2151969"/>
                  </a:cubicBezTo>
                  <a:lnTo>
                    <a:pt x="0" y="25276"/>
                  </a:lnTo>
                  <a:cubicBezTo>
                    <a:pt x="0" y="11317"/>
                    <a:pt x="11317" y="0"/>
                    <a:pt x="25276" y="0"/>
                  </a:cubicBezTo>
                  <a:close/>
                </a:path>
              </a:pathLst>
            </a:custGeom>
            <a:solidFill>
              <a:srgbClr val="972121"/>
            </a:solidFill>
          </p:spPr>
        </p:sp>
        <p:sp>
          <p:nvSpPr>
            <p:cNvPr name="TextBox 4" id="4"/>
            <p:cNvSpPr txBox="true"/>
            <p:nvPr/>
          </p:nvSpPr>
          <p:spPr>
            <a:xfrm>
              <a:off x="0" y="-38100"/>
              <a:ext cx="3662795" cy="2215345"/>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5400000">
            <a:off x="-2373736" y="4911090"/>
            <a:ext cx="6882108" cy="464820"/>
          </a:xfrm>
          <a:prstGeom prst="rect">
            <a:avLst/>
          </a:prstGeom>
        </p:spPr>
        <p:txBody>
          <a:bodyPr anchor="t" rtlCol="false" tIns="0" lIns="0" bIns="0" rIns="0">
            <a:spAutoFit/>
          </a:bodyPr>
          <a:lstStyle/>
          <a:p>
            <a:pPr algn="ctr">
              <a:lnSpc>
                <a:spcPts val="3779"/>
              </a:lnSpc>
            </a:pPr>
            <a:r>
              <a:rPr lang="en-US" sz="2700">
                <a:solidFill>
                  <a:srgbClr val="000000"/>
                </a:solidFill>
                <a:latin typeface="Alatsi"/>
                <a:ea typeface="Alatsi"/>
                <a:cs typeface="Alatsi"/>
                <a:sym typeface="Alatsi"/>
              </a:rPr>
              <a:t>CBIT/IT/2024-25/IT1/106 </a:t>
            </a:r>
          </a:p>
        </p:txBody>
      </p:sp>
      <p:sp>
        <p:nvSpPr>
          <p:cNvPr name="AutoShape 6" id="6"/>
          <p:cNvSpPr/>
          <p:nvPr/>
        </p:nvSpPr>
        <p:spPr>
          <a:xfrm flipH="true" flipV="true">
            <a:off x="1090490" y="-104525"/>
            <a:ext cx="5403" cy="2997456"/>
          </a:xfrm>
          <a:prstGeom prst="line">
            <a:avLst/>
          </a:prstGeom>
          <a:ln cap="flat" w="114300">
            <a:solidFill>
              <a:srgbClr val="727D3D"/>
            </a:solidFill>
            <a:prstDash val="solid"/>
            <a:headEnd type="none" len="sm" w="sm"/>
            <a:tailEnd type="none" len="sm" w="sm"/>
          </a:ln>
        </p:spPr>
      </p:sp>
      <p:sp>
        <p:nvSpPr>
          <p:cNvPr name="AutoShape 7" id="7"/>
          <p:cNvSpPr/>
          <p:nvPr/>
        </p:nvSpPr>
        <p:spPr>
          <a:xfrm flipH="true" flipV="true">
            <a:off x="1085850" y="7289441"/>
            <a:ext cx="5403" cy="2997456"/>
          </a:xfrm>
          <a:prstGeom prst="line">
            <a:avLst/>
          </a:prstGeom>
          <a:ln cap="flat" w="114300">
            <a:solidFill>
              <a:srgbClr val="727D3D"/>
            </a:solidFill>
            <a:prstDash val="solid"/>
            <a:headEnd type="none" len="sm" w="sm"/>
            <a:tailEnd type="none" len="sm" w="sm"/>
          </a:ln>
        </p:spPr>
      </p:sp>
      <p:grpSp>
        <p:nvGrpSpPr>
          <p:cNvPr name="Group 8" id="8"/>
          <p:cNvGrpSpPr/>
          <p:nvPr/>
        </p:nvGrpSpPr>
        <p:grpSpPr>
          <a:xfrm rot="0">
            <a:off x="15859155" y="0"/>
            <a:ext cx="1562612" cy="1673225"/>
            <a:chOff x="0" y="0"/>
            <a:chExt cx="2083482" cy="2230967"/>
          </a:xfrm>
        </p:grpSpPr>
        <p:grpSp>
          <p:nvGrpSpPr>
            <p:cNvPr name="Group 9" id="9"/>
            <p:cNvGrpSpPr/>
            <p:nvPr/>
          </p:nvGrpSpPr>
          <p:grpSpPr>
            <a:xfrm rot="0">
              <a:off x="75599" y="0"/>
              <a:ext cx="1932284" cy="2230967"/>
              <a:chOff x="0" y="0"/>
              <a:chExt cx="703982" cy="812800"/>
            </a:xfrm>
          </p:grpSpPr>
          <p:sp>
            <p:nvSpPr>
              <p:cNvPr name="Freeform 10" id="10"/>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727D3D"/>
              </a:solidFill>
            </p:spPr>
          </p:sp>
          <p:sp>
            <p:nvSpPr>
              <p:cNvPr name="TextBox 11" id="11"/>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b="true">
                  <a:solidFill>
                    <a:srgbClr val="000000"/>
                  </a:solidFill>
                  <a:latin typeface="Open Sans Bold"/>
                  <a:ea typeface="Open Sans Bold"/>
                  <a:cs typeface="Open Sans Bold"/>
                  <a:sym typeface="Open Sans Bold"/>
                </a:rPr>
                <a:t>18</a:t>
              </a:r>
            </a:p>
          </p:txBody>
        </p:sp>
      </p:grpSp>
      <p:sp>
        <p:nvSpPr>
          <p:cNvPr name="Freeform 13" id="13"/>
          <p:cNvSpPr/>
          <p:nvPr/>
        </p:nvSpPr>
        <p:spPr>
          <a:xfrm flipH="false" flipV="false" rot="0">
            <a:off x="7512165" y="-1553858"/>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892058" y="9048108"/>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1859284" y="4880724"/>
            <a:ext cx="5249841" cy="2408718"/>
          </a:xfrm>
          <a:custGeom>
            <a:avLst/>
            <a:gdLst/>
            <a:ahLst/>
            <a:cxnLst/>
            <a:rect r="r" b="b" t="t" l="l"/>
            <a:pathLst>
              <a:path h="2408718" w="5249841">
                <a:moveTo>
                  <a:pt x="0" y="0"/>
                </a:moveTo>
                <a:lnTo>
                  <a:pt x="5249841" y="0"/>
                </a:lnTo>
                <a:lnTo>
                  <a:pt x="5249841" y="2408717"/>
                </a:lnTo>
                <a:lnTo>
                  <a:pt x="0" y="2408717"/>
                </a:lnTo>
                <a:lnTo>
                  <a:pt x="0" y="0"/>
                </a:lnTo>
                <a:close/>
              </a:path>
            </a:pathLst>
          </a:custGeom>
          <a:blipFill>
            <a:blip r:embed="rId4"/>
            <a:stretch>
              <a:fillRect l="0" t="0" r="-94135" b="-289515"/>
            </a:stretch>
          </a:blipFill>
        </p:spPr>
      </p:sp>
      <p:sp>
        <p:nvSpPr>
          <p:cNvPr name="Freeform 16" id="16"/>
          <p:cNvSpPr/>
          <p:nvPr/>
        </p:nvSpPr>
        <p:spPr>
          <a:xfrm flipH="false" flipV="false" rot="0">
            <a:off x="2069865" y="1003808"/>
            <a:ext cx="9544886" cy="8424357"/>
          </a:xfrm>
          <a:custGeom>
            <a:avLst/>
            <a:gdLst/>
            <a:ahLst/>
            <a:cxnLst/>
            <a:rect r="r" b="b" t="t" l="l"/>
            <a:pathLst>
              <a:path h="8424357" w="9544886">
                <a:moveTo>
                  <a:pt x="0" y="0"/>
                </a:moveTo>
                <a:lnTo>
                  <a:pt x="9544886" y="0"/>
                </a:lnTo>
                <a:lnTo>
                  <a:pt x="9544886" y="8424357"/>
                </a:lnTo>
                <a:lnTo>
                  <a:pt x="0" y="8424357"/>
                </a:lnTo>
                <a:lnTo>
                  <a:pt x="0" y="0"/>
                </a:lnTo>
                <a:close/>
              </a:path>
            </a:pathLst>
          </a:custGeom>
          <a:blipFill>
            <a:blip r:embed="rId4"/>
            <a:stretch>
              <a:fillRect l="0" t="-33497" r="-27991" b="0"/>
            </a:stretch>
          </a:blipFill>
        </p:spPr>
      </p:sp>
      <p:sp>
        <p:nvSpPr>
          <p:cNvPr name="TextBox 17" id="17"/>
          <p:cNvSpPr txBox="true"/>
          <p:nvPr/>
        </p:nvSpPr>
        <p:spPr>
          <a:xfrm rot="0">
            <a:off x="12009459" y="927608"/>
            <a:ext cx="4549161" cy="1313172"/>
          </a:xfrm>
          <a:prstGeom prst="rect">
            <a:avLst/>
          </a:prstGeom>
        </p:spPr>
        <p:txBody>
          <a:bodyPr anchor="t" rtlCol="false" tIns="0" lIns="0" bIns="0" rIns="0">
            <a:spAutoFit/>
          </a:bodyPr>
          <a:lstStyle/>
          <a:p>
            <a:pPr algn="l">
              <a:lnSpc>
                <a:spcPts val="5320"/>
              </a:lnSpc>
            </a:pPr>
            <a:r>
              <a:rPr lang="en-US" sz="3800">
                <a:solidFill>
                  <a:srgbClr val="F6F3EB"/>
                </a:solidFill>
                <a:latin typeface="Alatsi"/>
                <a:ea typeface="Alatsi"/>
                <a:cs typeface="Alatsi"/>
                <a:sym typeface="Alatsi"/>
              </a:rPr>
              <a:t>TRANSFORMATION OPTIMIZATION</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grpSp>
        <p:nvGrpSpPr>
          <p:cNvPr name="Group 2" id="2"/>
          <p:cNvGrpSpPr/>
          <p:nvPr/>
        </p:nvGrpSpPr>
        <p:grpSpPr>
          <a:xfrm rot="0">
            <a:off x="12016155" y="3122643"/>
            <a:ext cx="5348913" cy="5209278"/>
            <a:chOff x="0" y="0"/>
            <a:chExt cx="1148245" cy="1118270"/>
          </a:xfrm>
        </p:grpSpPr>
        <p:sp>
          <p:nvSpPr>
            <p:cNvPr name="Freeform 3" id="3"/>
            <p:cNvSpPr/>
            <p:nvPr/>
          </p:nvSpPr>
          <p:spPr>
            <a:xfrm flipH="false" flipV="false" rot="0">
              <a:off x="0" y="0"/>
              <a:ext cx="1148245" cy="1118270"/>
            </a:xfrm>
            <a:custGeom>
              <a:avLst/>
              <a:gdLst/>
              <a:ahLst/>
              <a:cxnLst/>
              <a:rect r="r" b="b" t="t" l="l"/>
              <a:pathLst>
                <a:path h="1118270" w="1148245">
                  <a:moveTo>
                    <a:pt x="73816" y="0"/>
                  </a:moveTo>
                  <a:lnTo>
                    <a:pt x="1074428" y="0"/>
                  </a:lnTo>
                  <a:cubicBezTo>
                    <a:pt x="1094006" y="0"/>
                    <a:pt x="1112781" y="7777"/>
                    <a:pt x="1126624" y="21620"/>
                  </a:cubicBezTo>
                  <a:cubicBezTo>
                    <a:pt x="1140468" y="35464"/>
                    <a:pt x="1148245" y="54239"/>
                    <a:pt x="1148245" y="73816"/>
                  </a:cubicBezTo>
                  <a:lnTo>
                    <a:pt x="1148245" y="1044453"/>
                  </a:lnTo>
                  <a:cubicBezTo>
                    <a:pt x="1148245" y="1064030"/>
                    <a:pt x="1140468" y="1082806"/>
                    <a:pt x="1126624" y="1096649"/>
                  </a:cubicBezTo>
                  <a:cubicBezTo>
                    <a:pt x="1112781" y="1110492"/>
                    <a:pt x="1094006" y="1118270"/>
                    <a:pt x="1074428" y="1118270"/>
                  </a:cubicBezTo>
                  <a:lnTo>
                    <a:pt x="73816" y="1118270"/>
                  </a:lnTo>
                  <a:cubicBezTo>
                    <a:pt x="54239" y="1118270"/>
                    <a:pt x="35464" y="1110492"/>
                    <a:pt x="21620" y="1096649"/>
                  </a:cubicBezTo>
                  <a:cubicBezTo>
                    <a:pt x="7777" y="1082806"/>
                    <a:pt x="0" y="1064030"/>
                    <a:pt x="0" y="1044453"/>
                  </a:cubicBezTo>
                  <a:lnTo>
                    <a:pt x="0" y="73816"/>
                  </a:lnTo>
                  <a:cubicBezTo>
                    <a:pt x="0" y="54239"/>
                    <a:pt x="7777" y="35464"/>
                    <a:pt x="21620" y="21620"/>
                  </a:cubicBezTo>
                  <a:cubicBezTo>
                    <a:pt x="35464" y="7777"/>
                    <a:pt x="54239" y="0"/>
                    <a:pt x="73816" y="0"/>
                  </a:cubicBezTo>
                  <a:close/>
                </a:path>
              </a:pathLst>
            </a:custGeom>
            <a:solidFill>
              <a:srgbClr val="972121"/>
            </a:solidFill>
          </p:spPr>
        </p:sp>
        <p:sp>
          <p:nvSpPr>
            <p:cNvPr name="TextBox 4" id="4"/>
            <p:cNvSpPr txBox="true"/>
            <p:nvPr/>
          </p:nvSpPr>
          <p:spPr>
            <a:xfrm>
              <a:off x="0" y="-38100"/>
              <a:ext cx="1148245" cy="1156370"/>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5400000">
            <a:off x="-2373736" y="4911090"/>
            <a:ext cx="6882108" cy="464820"/>
          </a:xfrm>
          <a:prstGeom prst="rect">
            <a:avLst/>
          </a:prstGeom>
        </p:spPr>
        <p:txBody>
          <a:bodyPr anchor="t" rtlCol="false" tIns="0" lIns="0" bIns="0" rIns="0">
            <a:spAutoFit/>
          </a:bodyPr>
          <a:lstStyle/>
          <a:p>
            <a:pPr algn="ctr">
              <a:lnSpc>
                <a:spcPts val="3779"/>
              </a:lnSpc>
            </a:pPr>
            <a:r>
              <a:rPr lang="en-US" sz="2700">
                <a:solidFill>
                  <a:srgbClr val="000000"/>
                </a:solidFill>
                <a:latin typeface="Alatsi"/>
                <a:ea typeface="Alatsi"/>
                <a:cs typeface="Alatsi"/>
                <a:sym typeface="Alatsi"/>
              </a:rPr>
              <a:t>CBIT/IT/2024-25/IT1/106 </a:t>
            </a:r>
          </a:p>
        </p:txBody>
      </p:sp>
      <p:sp>
        <p:nvSpPr>
          <p:cNvPr name="AutoShape 6" id="6"/>
          <p:cNvSpPr/>
          <p:nvPr/>
        </p:nvSpPr>
        <p:spPr>
          <a:xfrm flipH="true" flipV="true">
            <a:off x="1090490" y="-104525"/>
            <a:ext cx="5403" cy="2997456"/>
          </a:xfrm>
          <a:prstGeom prst="line">
            <a:avLst/>
          </a:prstGeom>
          <a:ln cap="flat" w="114300">
            <a:solidFill>
              <a:srgbClr val="727D3D"/>
            </a:solidFill>
            <a:prstDash val="solid"/>
            <a:headEnd type="none" len="sm" w="sm"/>
            <a:tailEnd type="none" len="sm" w="sm"/>
          </a:ln>
        </p:spPr>
      </p:sp>
      <p:sp>
        <p:nvSpPr>
          <p:cNvPr name="AutoShape 7" id="7"/>
          <p:cNvSpPr/>
          <p:nvPr/>
        </p:nvSpPr>
        <p:spPr>
          <a:xfrm flipH="true" flipV="true">
            <a:off x="1085850" y="7289441"/>
            <a:ext cx="5403" cy="2997456"/>
          </a:xfrm>
          <a:prstGeom prst="line">
            <a:avLst/>
          </a:prstGeom>
          <a:ln cap="flat" w="114300">
            <a:solidFill>
              <a:srgbClr val="727D3D"/>
            </a:solidFill>
            <a:prstDash val="solid"/>
            <a:headEnd type="none" len="sm" w="sm"/>
            <a:tailEnd type="none" len="sm" w="sm"/>
          </a:ln>
        </p:spPr>
      </p:sp>
      <p:grpSp>
        <p:nvGrpSpPr>
          <p:cNvPr name="Group 8" id="8"/>
          <p:cNvGrpSpPr/>
          <p:nvPr/>
        </p:nvGrpSpPr>
        <p:grpSpPr>
          <a:xfrm rot="0">
            <a:off x="15915855" y="0"/>
            <a:ext cx="1449213" cy="1673225"/>
            <a:chOff x="0" y="0"/>
            <a:chExt cx="703982" cy="812800"/>
          </a:xfrm>
        </p:grpSpPr>
        <p:sp>
          <p:nvSpPr>
            <p:cNvPr name="Freeform 9" id="9"/>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727D3D"/>
            </a:solidFill>
          </p:spPr>
        </p:sp>
        <p:sp>
          <p:nvSpPr>
            <p:cNvPr name="TextBox 10" id="10"/>
            <p:cNvSpPr txBox="true"/>
            <p:nvPr/>
          </p:nvSpPr>
          <p:spPr>
            <a:xfrm>
              <a:off x="0" y="-104775"/>
              <a:ext cx="703982" cy="790575"/>
            </a:xfrm>
            <a:prstGeom prst="rect">
              <a:avLst/>
            </a:prstGeom>
          </p:spPr>
          <p:txBody>
            <a:bodyPr anchor="ctr" rtlCol="false" tIns="50800" lIns="50800" bIns="50800" rIns="50800"/>
            <a:lstStyle/>
            <a:p>
              <a:pPr algn="ctr">
                <a:lnSpc>
                  <a:spcPts val="6719"/>
                </a:lnSpc>
              </a:pPr>
              <a:r>
                <a:rPr lang="en-US" sz="4799">
                  <a:solidFill>
                    <a:srgbClr val="000000"/>
                  </a:solidFill>
                  <a:latin typeface="Abhaya Libre"/>
                  <a:ea typeface="Abhaya Libre"/>
                  <a:cs typeface="Abhaya Libre"/>
                  <a:sym typeface="Abhaya Libre"/>
                </a:rPr>
                <a:t>9</a:t>
              </a:r>
            </a:p>
          </p:txBody>
        </p:sp>
      </p:grpSp>
      <p:sp>
        <p:nvSpPr>
          <p:cNvPr name="Freeform 11" id="11"/>
          <p:cNvSpPr/>
          <p:nvPr/>
        </p:nvSpPr>
        <p:spPr>
          <a:xfrm flipH="false" flipV="false" rot="0">
            <a:off x="7512165" y="-1553858"/>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892058" y="9048108"/>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0">
            <a:off x="15859155" y="0"/>
            <a:ext cx="1562612" cy="1673225"/>
            <a:chOff x="0" y="0"/>
            <a:chExt cx="2083482" cy="2230967"/>
          </a:xfrm>
        </p:grpSpPr>
        <p:grpSp>
          <p:nvGrpSpPr>
            <p:cNvPr name="Group 14" id="14"/>
            <p:cNvGrpSpPr/>
            <p:nvPr/>
          </p:nvGrpSpPr>
          <p:grpSpPr>
            <a:xfrm rot="0">
              <a:off x="75599" y="0"/>
              <a:ext cx="1932284" cy="2230967"/>
              <a:chOff x="0" y="0"/>
              <a:chExt cx="703982" cy="812800"/>
            </a:xfrm>
          </p:grpSpPr>
          <p:sp>
            <p:nvSpPr>
              <p:cNvPr name="Freeform 15" id="15"/>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727D3D"/>
              </a:solidFill>
            </p:spPr>
          </p:sp>
          <p:sp>
            <p:nvSpPr>
              <p:cNvPr name="TextBox 16" id="16"/>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b="true">
                  <a:solidFill>
                    <a:srgbClr val="000000"/>
                  </a:solidFill>
                  <a:latin typeface="Open Sans Bold"/>
                  <a:ea typeface="Open Sans Bold"/>
                  <a:cs typeface="Open Sans Bold"/>
                  <a:sym typeface="Open Sans Bold"/>
                </a:rPr>
                <a:t>19</a:t>
              </a:r>
            </a:p>
          </p:txBody>
        </p:sp>
      </p:grpSp>
      <p:sp>
        <p:nvSpPr>
          <p:cNvPr name="Freeform 18" id="18"/>
          <p:cNvSpPr/>
          <p:nvPr/>
        </p:nvSpPr>
        <p:spPr>
          <a:xfrm flipH="false" flipV="false" rot="0">
            <a:off x="12492153" y="4394560"/>
            <a:ext cx="3867795" cy="1304996"/>
          </a:xfrm>
          <a:custGeom>
            <a:avLst/>
            <a:gdLst/>
            <a:ahLst/>
            <a:cxnLst/>
            <a:rect r="r" b="b" t="t" l="l"/>
            <a:pathLst>
              <a:path h="1304996" w="3867795">
                <a:moveTo>
                  <a:pt x="0" y="0"/>
                </a:moveTo>
                <a:lnTo>
                  <a:pt x="3867794" y="0"/>
                </a:lnTo>
                <a:lnTo>
                  <a:pt x="3867794" y="1304997"/>
                </a:lnTo>
                <a:lnTo>
                  <a:pt x="0" y="1304997"/>
                </a:lnTo>
                <a:lnTo>
                  <a:pt x="0" y="0"/>
                </a:lnTo>
                <a:close/>
              </a:path>
            </a:pathLst>
          </a:custGeom>
          <a:blipFill>
            <a:blip r:embed="rId4"/>
            <a:stretch>
              <a:fillRect l="-94553" t="-101607" r="-21011" b="-242547"/>
            </a:stretch>
          </a:blipFill>
        </p:spPr>
      </p:sp>
      <p:sp>
        <p:nvSpPr>
          <p:cNvPr name="TextBox 19" id="19"/>
          <p:cNvSpPr txBox="true"/>
          <p:nvPr/>
        </p:nvSpPr>
        <p:spPr>
          <a:xfrm rot="0">
            <a:off x="12016155" y="2392459"/>
            <a:ext cx="4444019" cy="695127"/>
          </a:xfrm>
          <a:prstGeom prst="rect">
            <a:avLst/>
          </a:prstGeom>
        </p:spPr>
        <p:txBody>
          <a:bodyPr anchor="t" rtlCol="false" tIns="0" lIns="0" bIns="0" rIns="0">
            <a:spAutoFit/>
          </a:bodyPr>
          <a:lstStyle/>
          <a:p>
            <a:pPr algn="l">
              <a:lnSpc>
                <a:spcPts val="5702"/>
              </a:lnSpc>
            </a:pPr>
            <a:r>
              <a:rPr lang="en-US" sz="4072">
                <a:solidFill>
                  <a:srgbClr val="E9E0D9"/>
                </a:solidFill>
                <a:latin typeface="Alatsi"/>
                <a:ea typeface="Alatsi"/>
                <a:cs typeface="Alatsi"/>
                <a:sym typeface="Alatsi"/>
              </a:rPr>
              <a:t>Formula</a:t>
            </a:r>
          </a:p>
        </p:txBody>
      </p:sp>
      <p:sp>
        <p:nvSpPr>
          <p:cNvPr name="TextBox 20" id="20"/>
          <p:cNvSpPr txBox="true"/>
          <p:nvPr/>
        </p:nvSpPr>
        <p:spPr>
          <a:xfrm rot="0">
            <a:off x="2808516" y="3246816"/>
            <a:ext cx="8361249" cy="5085105"/>
          </a:xfrm>
          <a:prstGeom prst="rect">
            <a:avLst/>
          </a:prstGeom>
        </p:spPr>
        <p:txBody>
          <a:bodyPr anchor="t" rtlCol="false" tIns="0" lIns="0" bIns="0" rIns="0">
            <a:spAutoFit/>
          </a:bodyPr>
          <a:lstStyle/>
          <a:p>
            <a:pPr algn="just">
              <a:lnSpc>
                <a:spcPts val="3700"/>
              </a:lnSpc>
            </a:pPr>
            <a:r>
              <a:rPr lang="en-US" sz="2642">
                <a:solidFill>
                  <a:srgbClr val="000000"/>
                </a:solidFill>
                <a:latin typeface="Alatsi"/>
                <a:ea typeface="Alatsi"/>
                <a:cs typeface="Alatsi"/>
                <a:sym typeface="Alatsi"/>
              </a:rPr>
              <a:t>LBPH (Local Binary Patterns Histogram)</a:t>
            </a:r>
          </a:p>
          <a:p>
            <a:pPr algn="just" marL="570599" indent="-285299" lvl="1">
              <a:lnSpc>
                <a:spcPts val="3700"/>
              </a:lnSpc>
              <a:buFont typeface="Arial"/>
              <a:buChar char="•"/>
            </a:pPr>
            <a:r>
              <a:rPr lang="en-US" sz="2642">
                <a:solidFill>
                  <a:srgbClr val="000000"/>
                </a:solidFill>
                <a:latin typeface="Alatsi"/>
                <a:ea typeface="Alatsi"/>
                <a:cs typeface="Alatsi"/>
                <a:sym typeface="Alatsi"/>
              </a:rPr>
              <a:t>LBPH extracts texture features for face </a:t>
            </a:r>
            <a:r>
              <a:rPr lang="en-US" sz="2642">
                <a:solidFill>
                  <a:srgbClr val="000000"/>
                </a:solidFill>
                <a:latin typeface="Alatsi"/>
                <a:ea typeface="Alatsi"/>
                <a:cs typeface="Alatsi"/>
                <a:sym typeface="Alatsi"/>
              </a:rPr>
              <a:t>re</a:t>
            </a:r>
            <a:r>
              <a:rPr lang="en-US" sz="2642">
                <a:solidFill>
                  <a:srgbClr val="000000"/>
                </a:solidFill>
                <a:latin typeface="Alatsi"/>
                <a:ea typeface="Alatsi"/>
                <a:cs typeface="Alatsi"/>
                <a:sym typeface="Alatsi"/>
              </a:rPr>
              <a:t>cognition.</a:t>
            </a:r>
          </a:p>
          <a:p>
            <a:pPr algn="just" marL="570599" indent="-285299" lvl="1">
              <a:lnSpc>
                <a:spcPts val="3700"/>
              </a:lnSpc>
              <a:buFont typeface="Arial"/>
              <a:buChar char="•"/>
            </a:pPr>
            <a:r>
              <a:rPr lang="en-US" sz="2642">
                <a:solidFill>
                  <a:srgbClr val="000000"/>
                </a:solidFill>
                <a:latin typeface="Alatsi"/>
                <a:ea typeface="Alatsi"/>
                <a:cs typeface="Alatsi"/>
                <a:sym typeface="Alatsi"/>
              </a:rPr>
              <a:t>It compares local patterns (edges/textures) between images.</a:t>
            </a:r>
          </a:p>
          <a:p>
            <a:pPr algn="just">
              <a:lnSpc>
                <a:spcPts val="3700"/>
              </a:lnSpc>
            </a:pPr>
          </a:p>
          <a:p>
            <a:pPr algn="just">
              <a:lnSpc>
                <a:spcPts val="3700"/>
              </a:lnSpc>
            </a:pPr>
          </a:p>
          <a:p>
            <a:pPr algn="just">
              <a:lnSpc>
                <a:spcPts val="3700"/>
              </a:lnSpc>
            </a:pPr>
            <a:r>
              <a:rPr lang="en-US" sz="2642">
                <a:solidFill>
                  <a:srgbClr val="000000"/>
                </a:solidFill>
                <a:latin typeface="Alatsi"/>
                <a:ea typeface="Alatsi"/>
                <a:cs typeface="Alatsi"/>
                <a:sym typeface="Alatsi"/>
              </a:rPr>
              <a:t>SSIM (Structural</a:t>
            </a:r>
            <a:r>
              <a:rPr lang="en-US" sz="2642">
                <a:solidFill>
                  <a:srgbClr val="000000"/>
                </a:solidFill>
                <a:latin typeface="Alatsi"/>
                <a:ea typeface="Alatsi"/>
                <a:cs typeface="Alatsi"/>
                <a:sym typeface="Alatsi"/>
              </a:rPr>
              <a:t> Simila</a:t>
            </a:r>
            <a:r>
              <a:rPr lang="en-US" sz="2642">
                <a:solidFill>
                  <a:srgbClr val="000000"/>
                </a:solidFill>
                <a:latin typeface="Alatsi"/>
                <a:ea typeface="Alatsi"/>
                <a:cs typeface="Alatsi"/>
                <a:sym typeface="Alatsi"/>
              </a:rPr>
              <a:t>rity Index Measure)</a:t>
            </a:r>
          </a:p>
          <a:p>
            <a:pPr algn="just" marL="570599" indent="-285299" lvl="1">
              <a:lnSpc>
                <a:spcPts val="3700"/>
              </a:lnSpc>
              <a:buFont typeface="Arial"/>
              <a:buChar char="•"/>
            </a:pPr>
            <a:r>
              <a:rPr lang="en-US" sz="2642">
                <a:solidFill>
                  <a:srgbClr val="000000"/>
                </a:solidFill>
                <a:latin typeface="Alatsi"/>
                <a:ea typeface="Alatsi"/>
                <a:cs typeface="Alatsi"/>
                <a:sym typeface="Alatsi"/>
              </a:rPr>
              <a:t>SSIM measures image similarity based on luminance, contrast, and structure.</a:t>
            </a:r>
          </a:p>
          <a:p>
            <a:pPr algn="just" marL="570599" indent="-285299" lvl="1">
              <a:lnSpc>
                <a:spcPts val="3700"/>
              </a:lnSpc>
              <a:buFont typeface="Arial"/>
              <a:buChar char="•"/>
            </a:pPr>
            <a:r>
              <a:rPr lang="en-US" sz="2642">
                <a:solidFill>
                  <a:srgbClr val="000000"/>
                </a:solidFill>
                <a:latin typeface="Alatsi"/>
                <a:ea typeface="Alatsi"/>
                <a:cs typeface="Alatsi"/>
                <a:sym typeface="Alatsi"/>
              </a:rPr>
              <a:t>It ranges from -1 to 1, with 1 indicating identical images.</a:t>
            </a:r>
          </a:p>
        </p:txBody>
      </p:sp>
      <p:sp>
        <p:nvSpPr>
          <p:cNvPr name="TextBox 21" id="21"/>
          <p:cNvSpPr txBox="true"/>
          <p:nvPr/>
        </p:nvSpPr>
        <p:spPr>
          <a:xfrm rot="0">
            <a:off x="2808516" y="964342"/>
            <a:ext cx="12204808" cy="1274892"/>
          </a:xfrm>
          <a:prstGeom prst="rect">
            <a:avLst/>
          </a:prstGeom>
        </p:spPr>
        <p:txBody>
          <a:bodyPr anchor="t" rtlCol="false" tIns="0" lIns="0" bIns="0" rIns="0">
            <a:spAutoFit/>
          </a:bodyPr>
          <a:lstStyle/>
          <a:p>
            <a:pPr algn="l">
              <a:lnSpc>
                <a:spcPts val="10450"/>
              </a:lnSpc>
            </a:pPr>
            <a:r>
              <a:rPr lang="en-US" sz="7464">
                <a:solidFill>
                  <a:srgbClr val="000000"/>
                </a:solidFill>
                <a:latin typeface="Alatsi"/>
                <a:ea typeface="Alatsi"/>
                <a:cs typeface="Alatsi"/>
                <a:sym typeface="Alatsi"/>
              </a:rPr>
              <a:t>EVALUATION</a:t>
            </a:r>
          </a:p>
        </p:txBody>
      </p:sp>
      <p:sp>
        <p:nvSpPr>
          <p:cNvPr name="Freeform 22" id="22"/>
          <p:cNvSpPr/>
          <p:nvPr/>
        </p:nvSpPr>
        <p:spPr>
          <a:xfrm flipH="false" flipV="false" rot="0">
            <a:off x="12492153" y="6750540"/>
            <a:ext cx="4670424" cy="1021917"/>
          </a:xfrm>
          <a:custGeom>
            <a:avLst/>
            <a:gdLst/>
            <a:ahLst/>
            <a:cxnLst/>
            <a:rect r="r" b="b" t="t" l="l"/>
            <a:pathLst>
              <a:path h="1021917" w="4670424">
                <a:moveTo>
                  <a:pt x="0" y="0"/>
                </a:moveTo>
                <a:lnTo>
                  <a:pt x="4670423" y="0"/>
                </a:lnTo>
                <a:lnTo>
                  <a:pt x="4670423" y="1021917"/>
                </a:lnTo>
                <a:lnTo>
                  <a:pt x="0" y="1021917"/>
                </a:lnTo>
                <a:lnTo>
                  <a:pt x="0" y="0"/>
                </a:lnTo>
                <a:close/>
              </a:path>
            </a:pathLst>
          </a:custGeom>
          <a:blipFill>
            <a:blip r:embed="rId4"/>
            <a:stretch>
              <a:fillRect l="-51781" t="-348751" r="0" b="-33484"/>
            </a:stretch>
          </a:blipFill>
        </p:spPr>
      </p:sp>
      <p:sp>
        <p:nvSpPr>
          <p:cNvPr name="TextBox 23" id="23"/>
          <p:cNvSpPr txBox="true"/>
          <p:nvPr/>
        </p:nvSpPr>
        <p:spPr>
          <a:xfrm rot="0">
            <a:off x="12492153" y="3590360"/>
            <a:ext cx="4185077" cy="623225"/>
          </a:xfrm>
          <a:prstGeom prst="rect">
            <a:avLst/>
          </a:prstGeom>
        </p:spPr>
        <p:txBody>
          <a:bodyPr anchor="t" rtlCol="false" tIns="0" lIns="0" bIns="0" rIns="0">
            <a:spAutoFit/>
          </a:bodyPr>
          <a:lstStyle/>
          <a:p>
            <a:pPr algn="l">
              <a:lnSpc>
                <a:spcPts val="2494"/>
              </a:lnSpc>
            </a:pPr>
            <a:r>
              <a:rPr lang="en-US" sz="1781">
                <a:solidFill>
                  <a:srgbClr val="E9E0D9"/>
                </a:solidFill>
                <a:latin typeface="Alatsi"/>
                <a:ea typeface="Alatsi"/>
                <a:cs typeface="Alatsi"/>
                <a:sym typeface="Alatsi"/>
              </a:rPr>
              <a:t>LBPH (Local Binary Patterns Histogram)</a:t>
            </a:r>
          </a:p>
          <a:p>
            <a:pPr algn="l">
              <a:lnSpc>
                <a:spcPts val="2494"/>
              </a:lnSpc>
            </a:pPr>
            <a:r>
              <a:rPr lang="en-US" sz="1781">
                <a:solidFill>
                  <a:srgbClr val="E9E0D9"/>
                </a:solidFill>
                <a:latin typeface="Alatsi"/>
                <a:ea typeface="Alatsi"/>
                <a:cs typeface="Alatsi"/>
                <a:sym typeface="Alatsi"/>
              </a:rPr>
              <a:t>(Euclidean distance between histograms)</a:t>
            </a:r>
          </a:p>
        </p:txBody>
      </p:sp>
      <p:sp>
        <p:nvSpPr>
          <p:cNvPr name="TextBox 24" id="24"/>
          <p:cNvSpPr txBox="true"/>
          <p:nvPr/>
        </p:nvSpPr>
        <p:spPr>
          <a:xfrm rot="0">
            <a:off x="12492153" y="6204382"/>
            <a:ext cx="4185077" cy="308034"/>
          </a:xfrm>
          <a:prstGeom prst="rect">
            <a:avLst/>
          </a:prstGeom>
        </p:spPr>
        <p:txBody>
          <a:bodyPr anchor="t" rtlCol="false" tIns="0" lIns="0" bIns="0" rIns="0">
            <a:spAutoFit/>
          </a:bodyPr>
          <a:lstStyle/>
          <a:p>
            <a:pPr algn="l">
              <a:lnSpc>
                <a:spcPts val="2494"/>
              </a:lnSpc>
            </a:pPr>
            <a:r>
              <a:rPr lang="en-US" sz="1781">
                <a:solidFill>
                  <a:srgbClr val="E9E0D9"/>
                </a:solidFill>
                <a:latin typeface="Alatsi"/>
                <a:ea typeface="Alatsi"/>
                <a:cs typeface="Alatsi"/>
                <a:sym typeface="Alatsi"/>
              </a:rPr>
              <a:t>SSIM (Structural Similarity Index Measure)</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grpSp>
        <p:nvGrpSpPr>
          <p:cNvPr name="Group 2" id="2"/>
          <p:cNvGrpSpPr/>
          <p:nvPr/>
        </p:nvGrpSpPr>
        <p:grpSpPr>
          <a:xfrm rot="0">
            <a:off x="1800835" y="568387"/>
            <a:ext cx="15620932" cy="9285423"/>
            <a:chOff x="0" y="0"/>
            <a:chExt cx="3662795" cy="2177245"/>
          </a:xfrm>
        </p:grpSpPr>
        <p:sp>
          <p:nvSpPr>
            <p:cNvPr name="Freeform 3" id="3"/>
            <p:cNvSpPr/>
            <p:nvPr/>
          </p:nvSpPr>
          <p:spPr>
            <a:xfrm flipH="false" flipV="false" rot="0">
              <a:off x="0" y="0"/>
              <a:ext cx="3662795" cy="2177245"/>
            </a:xfrm>
            <a:custGeom>
              <a:avLst/>
              <a:gdLst/>
              <a:ahLst/>
              <a:cxnLst/>
              <a:rect r="r" b="b" t="t" l="l"/>
              <a:pathLst>
                <a:path h="2177245" w="3662795">
                  <a:moveTo>
                    <a:pt x="25276" y="0"/>
                  </a:moveTo>
                  <a:lnTo>
                    <a:pt x="3637519" y="0"/>
                  </a:lnTo>
                  <a:cubicBezTo>
                    <a:pt x="3651479" y="0"/>
                    <a:pt x="3662795" y="11317"/>
                    <a:pt x="3662795" y="25276"/>
                  </a:cubicBezTo>
                  <a:lnTo>
                    <a:pt x="3662795" y="2151969"/>
                  </a:lnTo>
                  <a:cubicBezTo>
                    <a:pt x="3662795" y="2165929"/>
                    <a:pt x="3651479" y="2177245"/>
                    <a:pt x="3637519" y="2177245"/>
                  </a:cubicBezTo>
                  <a:lnTo>
                    <a:pt x="25276" y="2177245"/>
                  </a:lnTo>
                  <a:cubicBezTo>
                    <a:pt x="11317" y="2177245"/>
                    <a:pt x="0" y="2165929"/>
                    <a:pt x="0" y="2151969"/>
                  </a:cubicBezTo>
                  <a:lnTo>
                    <a:pt x="0" y="25276"/>
                  </a:lnTo>
                  <a:cubicBezTo>
                    <a:pt x="0" y="11317"/>
                    <a:pt x="11317" y="0"/>
                    <a:pt x="25276" y="0"/>
                  </a:cubicBezTo>
                  <a:close/>
                </a:path>
              </a:pathLst>
            </a:custGeom>
            <a:solidFill>
              <a:srgbClr val="972121"/>
            </a:solidFill>
          </p:spPr>
        </p:sp>
        <p:sp>
          <p:nvSpPr>
            <p:cNvPr name="TextBox 4" id="4"/>
            <p:cNvSpPr txBox="true"/>
            <p:nvPr/>
          </p:nvSpPr>
          <p:spPr>
            <a:xfrm>
              <a:off x="0" y="-38100"/>
              <a:ext cx="3662795" cy="2215345"/>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5400000">
            <a:off x="-2373736" y="4911090"/>
            <a:ext cx="6882108" cy="464820"/>
          </a:xfrm>
          <a:prstGeom prst="rect">
            <a:avLst/>
          </a:prstGeom>
        </p:spPr>
        <p:txBody>
          <a:bodyPr anchor="t" rtlCol="false" tIns="0" lIns="0" bIns="0" rIns="0">
            <a:spAutoFit/>
          </a:bodyPr>
          <a:lstStyle/>
          <a:p>
            <a:pPr algn="ctr">
              <a:lnSpc>
                <a:spcPts val="3779"/>
              </a:lnSpc>
            </a:pPr>
            <a:r>
              <a:rPr lang="en-US" sz="2700">
                <a:solidFill>
                  <a:srgbClr val="000000"/>
                </a:solidFill>
                <a:latin typeface="Alatsi"/>
                <a:ea typeface="Alatsi"/>
                <a:cs typeface="Alatsi"/>
                <a:sym typeface="Alatsi"/>
              </a:rPr>
              <a:t>CBIT/IT/2024-25/IT1/106 </a:t>
            </a:r>
          </a:p>
        </p:txBody>
      </p:sp>
      <p:sp>
        <p:nvSpPr>
          <p:cNvPr name="AutoShape 6" id="6"/>
          <p:cNvSpPr/>
          <p:nvPr/>
        </p:nvSpPr>
        <p:spPr>
          <a:xfrm flipH="true" flipV="true">
            <a:off x="1090490" y="-104525"/>
            <a:ext cx="5403" cy="2997456"/>
          </a:xfrm>
          <a:prstGeom prst="line">
            <a:avLst/>
          </a:prstGeom>
          <a:ln cap="flat" w="114300">
            <a:solidFill>
              <a:srgbClr val="727D3D"/>
            </a:solidFill>
            <a:prstDash val="solid"/>
            <a:headEnd type="none" len="sm" w="sm"/>
            <a:tailEnd type="none" len="sm" w="sm"/>
          </a:ln>
        </p:spPr>
      </p:sp>
      <p:sp>
        <p:nvSpPr>
          <p:cNvPr name="AutoShape 7" id="7"/>
          <p:cNvSpPr/>
          <p:nvPr/>
        </p:nvSpPr>
        <p:spPr>
          <a:xfrm flipH="true" flipV="true">
            <a:off x="1085850" y="7289441"/>
            <a:ext cx="5403" cy="2997456"/>
          </a:xfrm>
          <a:prstGeom prst="line">
            <a:avLst/>
          </a:prstGeom>
          <a:ln cap="flat" w="114300">
            <a:solidFill>
              <a:srgbClr val="727D3D"/>
            </a:solidFill>
            <a:prstDash val="solid"/>
            <a:headEnd type="none" len="sm" w="sm"/>
            <a:tailEnd type="none" len="sm" w="sm"/>
          </a:ln>
        </p:spPr>
      </p:sp>
      <p:grpSp>
        <p:nvGrpSpPr>
          <p:cNvPr name="Group 8" id="8"/>
          <p:cNvGrpSpPr/>
          <p:nvPr/>
        </p:nvGrpSpPr>
        <p:grpSpPr>
          <a:xfrm rot="0">
            <a:off x="15859155" y="0"/>
            <a:ext cx="1562612" cy="1673225"/>
            <a:chOff x="0" y="0"/>
            <a:chExt cx="2083482" cy="2230967"/>
          </a:xfrm>
        </p:grpSpPr>
        <p:grpSp>
          <p:nvGrpSpPr>
            <p:cNvPr name="Group 9" id="9"/>
            <p:cNvGrpSpPr/>
            <p:nvPr/>
          </p:nvGrpSpPr>
          <p:grpSpPr>
            <a:xfrm rot="0">
              <a:off x="75599" y="0"/>
              <a:ext cx="1932284" cy="2230967"/>
              <a:chOff x="0" y="0"/>
              <a:chExt cx="703982" cy="812800"/>
            </a:xfrm>
          </p:grpSpPr>
          <p:sp>
            <p:nvSpPr>
              <p:cNvPr name="Freeform 10" id="10"/>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727D3D"/>
              </a:solidFill>
            </p:spPr>
          </p:sp>
          <p:sp>
            <p:nvSpPr>
              <p:cNvPr name="TextBox 11" id="11"/>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b="true">
                  <a:solidFill>
                    <a:srgbClr val="000000"/>
                  </a:solidFill>
                  <a:latin typeface="Open Sans Bold"/>
                  <a:ea typeface="Open Sans Bold"/>
                  <a:cs typeface="Open Sans Bold"/>
                  <a:sym typeface="Open Sans Bold"/>
                </a:rPr>
                <a:t>20</a:t>
              </a:r>
            </a:p>
          </p:txBody>
        </p:sp>
      </p:grpSp>
      <p:sp>
        <p:nvSpPr>
          <p:cNvPr name="Freeform 13" id="13"/>
          <p:cNvSpPr/>
          <p:nvPr/>
        </p:nvSpPr>
        <p:spPr>
          <a:xfrm flipH="false" flipV="false" rot="0">
            <a:off x="7512165" y="-1553858"/>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892058" y="9048108"/>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2057390" y="2119854"/>
            <a:ext cx="15107822" cy="7138446"/>
          </a:xfrm>
          <a:custGeom>
            <a:avLst/>
            <a:gdLst/>
            <a:ahLst/>
            <a:cxnLst/>
            <a:rect r="r" b="b" t="t" l="l"/>
            <a:pathLst>
              <a:path h="7138446" w="15107822">
                <a:moveTo>
                  <a:pt x="0" y="0"/>
                </a:moveTo>
                <a:lnTo>
                  <a:pt x="15107822" y="0"/>
                </a:lnTo>
                <a:lnTo>
                  <a:pt x="15107822" y="7138446"/>
                </a:lnTo>
                <a:lnTo>
                  <a:pt x="0" y="7138446"/>
                </a:lnTo>
                <a:lnTo>
                  <a:pt x="0" y="0"/>
                </a:lnTo>
                <a:close/>
              </a:path>
            </a:pathLst>
          </a:custGeom>
          <a:blipFill>
            <a:blip r:embed="rId4"/>
            <a:stretch>
              <a:fillRect l="0" t="0" r="0" b="0"/>
            </a:stretch>
          </a:blipFill>
        </p:spPr>
      </p:sp>
      <p:sp>
        <p:nvSpPr>
          <p:cNvPr name="TextBox 16" id="16"/>
          <p:cNvSpPr txBox="true"/>
          <p:nvPr/>
        </p:nvSpPr>
        <p:spPr>
          <a:xfrm rot="0">
            <a:off x="7336720" y="952500"/>
            <a:ext cx="4549161" cy="646422"/>
          </a:xfrm>
          <a:prstGeom prst="rect">
            <a:avLst/>
          </a:prstGeom>
        </p:spPr>
        <p:txBody>
          <a:bodyPr anchor="t" rtlCol="false" tIns="0" lIns="0" bIns="0" rIns="0">
            <a:spAutoFit/>
          </a:bodyPr>
          <a:lstStyle/>
          <a:p>
            <a:pPr algn="l">
              <a:lnSpc>
                <a:spcPts val="5320"/>
              </a:lnSpc>
            </a:pPr>
            <a:r>
              <a:rPr lang="en-US" sz="3800">
                <a:solidFill>
                  <a:srgbClr val="F6F3EB"/>
                </a:solidFill>
                <a:latin typeface="Alatsi"/>
                <a:ea typeface="Alatsi"/>
                <a:cs typeface="Alatsi"/>
                <a:sym typeface="Alatsi"/>
              </a:rPr>
              <a:t>EVALUATION</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grpSp>
        <p:nvGrpSpPr>
          <p:cNvPr name="Group 2" id="2"/>
          <p:cNvGrpSpPr/>
          <p:nvPr/>
        </p:nvGrpSpPr>
        <p:grpSpPr>
          <a:xfrm rot="0">
            <a:off x="1800835" y="1958522"/>
            <a:ext cx="14530211" cy="7895287"/>
            <a:chOff x="0" y="0"/>
            <a:chExt cx="3407043" cy="1851286"/>
          </a:xfrm>
        </p:grpSpPr>
        <p:sp>
          <p:nvSpPr>
            <p:cNvPr name="Freeform 3" id="3"/>
            <p:cNvSpPr/>
            <p:nvPr/>
          </p:nvSpPr>
          <p:spPr>
            <a:xfrm flipH="false" flipV="false" rot="0">
              <a:off x="0" y="0"/>
              <a:ext cx="3407043" cy="1851286"/>
            </a:xfrm>
            <a:custGeom>
              <a:avLst/>
              <a:gdLst/>
              <a:ahLst/>
              <a:cxnLst/>
              <a:rect r="r" b="b" t="t" l="l"/>
              <a:pathLst>
                <a:path h="1851286" w="3407043">
                  <a:moveTo>
                    <a:pt x="27174" y="0"/>
                  </a:moveTo>
                  <a:lnTo>
                    <a:pt x="3379869" y="0"/>
                  </a:lnTo>
                  <a:cubicBezTo>
                    <a:pt x="3387076" y="0"/>
                    <a:pt x="3393988" y="2863"/>
                    <a:pt x="3399084" y="7959"/>
                  </a:cubicBezTo>
                  <a:cubicBezTo>
                    <a:pt x="3404180" y="13055"/>
                    <a:pt x="3407043" y="19967"/>
                    <a:pt x="3407043" y="27174"/>
                  </a:cubicBezTo>
                  <a:lnTo>
                    <a:pt x="3407043" y="1824113"/>
                  </a:lnTo>
                  <a:cubicBezTo>
                    <a:pt x="3407043" y="1839120"/>
                    <a:pt x="3394877" y="1851286"/>
                    <a:pt x="3379869" y="1851286"/>
                  </a:cubicBezTo>
                  <a:lnTo>
                    <a:pt x="27174" y="1851286"/>
                  </a:lnTo>
                  <a:cubicBezTo>
                    <a:pt x="12166" y="1851286"/>
                    <a:pt x="0" y="1839120"/>
                    <a:pt x="0" y="1824113"/>
                  </a:cubicBezTo>
                  <a:lnTo>
                    <a:pt x="0" y="27174"/>
                  </a:lnTo>
                  <a:cubicBezTo>
                    <a:pt x="0" y="12166"/>
                    <a:pt x="12166" y="0"/>
                    <a:pt x="27174" y="0"/>
                  </a:cubicBezTo>
                  <a:close/>
                </a:path>
              </a:pathLst>
            </a:custGeom>
            <a:solidFill>
              <a:srgbClr val="972121"/>
            </a:solidFill>
          </p:spPr>
        </p:sp>
        <p:sp>
          <p:nvSpPr>
            <p:cNvPr name="TextBox 4" id="4"/>
            <p:cNvSpPr txBox="true"/>
            <p:nvPr/>
          </p:nvSpPr>
          <p:spPr>
            <a:xfrm>
              <a:off x="0" y="-38100"/>
              <a:ext cx="3407043" cy="1889386"/>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5400000">
            <a:off x="-2373736" y="4911090"/>
            <a:ext cx="6882108" cy="464820"/>
          </a:xfrm>
          <a:prstGeom prst="rect">
            <a:avLst/>
          </a:prstGeom>
        </p:spPr>
        <p:txBody>
          <a:bodyPr anchor="t" rtlCol="false" tIns="0" lIns="0" bIns="0" rIns="0">
            <a:spAutoFit/>
          </a:bodyPr>
          <a:lstStyle/>
          <a:p>
            <a:pPr algn="ctr">
              <a:lnSpc>
                <a:spcPts val="3779"/>
              </a:lnSpc>
            </a:pPr>
            <a:r>
              <a:rPr lang="en-US" sz="2700">
                <a:solidFill>
                  <a:srgbClr val="000000"/>
                </a:solidFill>
                <a:latin typeface="Alatsi"/>
                <a:ea typeface="Alatsi"/>
                <a:cs typeface="Alatsi"/>
                <a:sym typeface="Alatsi"/>
              </a:rPr>
              <a:t>CBIT/IT/2024-25/IT1/106 </a:t>
            </a:r>
          </a:p>
        </p:txBody>
      </p:sp>
      <p:sp>
        <p:nvSpPr>
          <p:cNvPr name="AutoShape 6" id="6"/>
          <p:cNvSpPr/>
          <p:nvPr/>
        </p:nvSpPr>
        <p:spPr>
          <a:xfrm flipH="true" flipV="true">
            <a:off x="1090490" y="-104525"/>
            <a:ext cx="5403" cy="2997456"/>
          </a:xfrm>
          <a:prstGeom prst="line">
            <a:avLst/>
          </a:prstGeom>
          <a:ln cap="flat" w="114300">
            <a:solidFill>
              <a:srgbClr val="727D3D"/>
            </a:solidFill>
            <a:prstDash val="solid"/>
            <a:headEnd type="none" len="sm" w="sm"/>
            <a:tailEnd type="none" len="sm" w="sm"/>
          </a:ln>
        </p:spPr>
      </p:sp>
      <p:sp>
        <p:nvSpPr>
          <p:cNvPr name="AutoShape 7" id="7"/>
          <p:cNvSpPr/>
          <p:nvPr/>
        </p:nvSpPr>
        <p:spPr>
          <a:xfrm flipH="true" flipV="true">
            <a:off x="1085850" y="7289441"/>
            <a:ext cx="5403" cy="2997456"/>
          </a:xfrm>
          <a:prstGeom prst="line">
            <a:avLst/>
          </a:prstGeom>
          <a:ln cap="flat" w="114300">
            <a:solidFill>
              <a:srgbClr val="727D3D"/>
            </a:solidFill>
            <a:prstDash val="solid"/>
            <a:headEnd type="none" len="sm" w="sm"/>
            <a:tailEnd type="none" len="sm" w="sm"/>
          </a:ln>
        </p:spPr>
      </p:sp>
      <p:grpSp>
        <p:nvGrpSpPr>
          <p:cNvPr name="Group 8" id="8"/>
          <p:cNvGrpSpPr/>
          <p:nvPr/>
        </p:nvGrpSpPr>
        <p:grpSpPr>
          <a:xfrm rot="0">
            <a:off x="15859155" y="0"/>
            <a:ext cx="1562612" cy="1673225"/>
            <a:chOff x="0" y="0"/>
            <a:chExt cx="2083482" cy="2230967"/>
          </a:xfrm>
        </p:grpSpPr>
        <p:grpSp>
          <p:nvGrpSpPr>
            <p:cNvPr name="Group 9" id="9"/>
            <p:cNvGrpSpPr/>
            <p:nvPr/>
          </p:nvGrpSpPr>
          <p:grpSpPr>
            <a:xfrm rot="0">
              <a:off x="75599" y="0"/>
              <a:ext cx="1932284" cy="2230967"/>
              <a:chOff x="0" y="0"/>
              <a:chExt cx="703982" cy="812800"/>
            </a:xfrm>
          </p:grpSpPr>
          <p:sp>
            <p:nvSpPr>
              <p:cNvPr name="Freeform 10" id="10"/>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727D3D"/>
              </a:solidFill>
            </p:spPr>
          </p:sp>
          <p:sp>
            <p:nvSpPr>
              <p:cNvPr name="TextBox 11" id="11"/>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b="true">
                  <a:solidFill>
                    <a:srgbClr val="000000"/>
                  </a:solidFill>
                  <a:latin typeface="Open Sans Bold"/>
                  <a:ea typeface="Open Sans Bold"/>
                  <a:cs typeface="Open Sans Bold"/>
                  <a:sym typeface="Open Sans Bold"/>
                </a:rPr>
                <a:t>21</a:t>
              </a:r>
            </a:p>
          </p:txBody>
        </p:sp>
      </p:grpSp>
      <p:sp>
        <p:nvSpPr>
          <p:cNvPr name="Freeform 13" id="13"/>
          <p:cNvSpPr/>
          <p:nvPr/>
        </p:nvSpPr>
        <p:spPr>
          <a:xfrm flipH="false" flipV="false" rot="0">
            <a:off x="7512165" y="-1553858"/>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892058" y="9048108"/>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4788499" y="2131636"/>
            <a:ext cx="8554881" cy="7549061"/>
          </a:xfrm>
          <a:custGeom>
            <a:avLst/>
            <a:gdLst/>
            <a:ahLst/>
            <a:cxnLst/>
            <a:rect r="r" b="b" t="t" l="l"/>
            <a:pathLst>
              <a:path h="7549061" w="8554881">
                <a:moveTo>
                  <a:pt x="0" y="0"/>
                </a:moveTo>
                <a:lnTo>
                  <a:pt x="8554882" y="0"/>
                </a:lnTo>
                <a:lnTo>
                  <a:pt x="8554882" y="7549061"/>
                </a:lnTo>
                <a:lnTo>
                  <a:pt x="0" y="7549061"/>
                </a:lnTo>
                <a:lnTo>
                  <a:pt x="0" y="0"/>
                </a:lnTo>
                <a:close/>
              </a:path>
            </a:pathLst>
          </a:custGeom>
          <a:blipFill>
            <a:blip r:embed="rId4"/>
            <a:stretch>
              <a:fillRect l="0" t="0" r="0" b="0"/>
            </a:stretch>
          </a:blipFill>
        </p:spPr>
      </p:sp>
      <p:sp>
        <p:nvSpPr>
          <p:cNvPr name="TextBox 16" id="16"/>
          <p:cNvSpPr txBox="true"/>
          <p:nvPr/>
        </p:nvSpPr>
        <p:spPr>
          <a:xfrm rot="0">
            <a:off x="2650745" y="519437"/>
            <a:ext cx="4549161" cy="1153789"/>
          </a:xfrm>
          <a:prstGeom prst="rect">
            <a:avLst/>
          </a:prstGeom>
        </p:spPr>
        <p:txBody>
          <a:bodyPr anchor="t" rtlCol="false" tIns="0" lIns="0" bIns="0" rIns="0">
            <a:spAutoFit/>
          </a:bodyPr>
          <a:lstStyle/>
          <a:p>
            <a:pPr algn="l">
              <a:lnSpc>
                <a:spcPts val="9380"/>
              </a:lnSpc>
            </a:pPr>
            <a:r>
              <a:rPr lang="en-US" sz="6700">
                <a:solidFill>
                  <a:srgbClr val="000000"/>
                </a:solidFill>
                <a:latin typeface="Alatsi"/>
                <a:ea typeface="Alatsi"/>
                <a:cs typeface="Alatsi"/>
                <a:sym typeface="Alatsi"/>
              </a:rPr>
              <a:t>RESULTS</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grpSp>
        <p:nvGrpSpPr>
          <p:cNvPr name="Group 2" id="2"/>
          <p:cNvGrpSpPr/>
          <p:nvPr/>
        </p:nvGrpSpPr>
        <p:grpSpPr>
          <a:xfrm rot="0">
            <a:off x="1800835" y="1702446"/>
            <a:ext cx="14530211" cy="8151364"/>
            <a:chOff x="0" y="0"/>
            <a:chExt cx="3407043" cy="1911331"/>
          </a:xfrm>
        </p:grpSpPr>
        <p:sp>
          <p:nvSpPr>
            <p:cNvPr name="Freeform 3" id="3"/>
            <p:cNvSpPr/>
            <p:nvPr/>
          </p:nvSpPr>
          <p:spPr>
            <a:xfrm flipH="false" flipV="false" rot="0">
              <a:off x="0" y="0"/>
              <a:ext cx="3407043" cy="1911331"/>
            </a:xfrm>
            <a:custGeom>
              <a:avLst/>
              <a:gdLst/>
              <a:ahLst/>
              <a:cxnLst/>
              <a:rect r="r" b="b" t="t" l="l"/>
              <a:pathLst>
                <a:path h="1911331" w="3407043">
                  <a:moveTo>
                    <a:pt x="27174" y="0"/>
                  </a:moveTo>
                  <a:lnTo>
                    <a:pt x="3379869" y="0"/>
                  </a:lnTo>
                  <a:cubicBezTo>
                    <a:pt x="3387076" y="0"/>
                    <a:pt x="3393988" y="2863"/>
                    <a:pt x="3399084" y="7959"/>
                  </a:cubicBezTo>
                  <a:cubicBezTo>
                    <a:pt x="3404180" y="13055"/>
                    <a:pt x="3407043" y="19967"/>
                    <a:pt x="3407043" y="27174"/>
                  </a:cubicBezTo>
                  <a:lnTo>
                    <a:pt x="3407043" y="1884158"/>
                  </a:lnTo>
                  <a:cubicBezTo>
                    <a:pt x="3407043" y="1899165"/>
                    <a:pt x="3394877" y="1911331"/>
                    <a:pt x="3379869" y="1911331"/>
                  </a:cubicBezTo>
                  <a:lnTo>
                    <a:pt x="27174" y="1911331"/>
                  </a:lnTo>
                  <a:cubicBezTo>
                    <a:pt x="12166" y="1911331"/>
                    <a:pt x="0" y="1899165"/>
                    <a:pt x="0" y="1884158"/>
                  </a:cubicBezTo>
                  <a:lnTo>
                    <a:pt x="0" y="27174"/>
                  </a:lnTo>
                  <a:cubicBezTo>
                    <a:pt x="0" y="12166"/>
                    <a:pt x="12166" y="0"/>
                    <a:pt x="27174" y="0"/>
                  </a:cubicBezTo>
                  <a:close/>
                </a:path>
              </a:pathLst>
            </a:custGeom>
            <a:solidFill>
              <a:srgbClr val="972121"/>
            </a:solidFill>
          </p:spPr>
        </p:sp>
        <p:sp>
          <p:nvSpPr>
            <p:cNvPr name="TextBox 4" id="4"/>
            <p:cNvSpPr txBox="true"/>
            <p:nvPr/>
          </p:nvSpPr>
          <p:spPr>
            <a:xfrm>
              <a:off x="0" y="-38100"/>
              <a:ext cx="3407043" cy="1949431"/>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5400000">
            <a:off x="-2373736" y="4911090"/>
            <a:ext cx="6882108" cy="464820"/>
          </a:xfrm>
          <a:prstGeom prst="rect">
            <a:avLst/>
          </a:prstGeom>
        </p:spPr>
        <p:txBody>
          <a:bodyPr anchor="t" rtlCol="false" tIns="0" lIns="0" bIns="0" rIns="0">
            <a:spAutoFit/>
          </a:bodyPr>
          <a:lstStyle/>
          <a:p>
            <a:pPr algn="ctr">
              <a:lnSpc>
                <a:spcPts val="3779"/>
              </a:lnSpc>
            </a:pPr>
            <a:r>
              <a:rPr lang="en-US" sz="2700">
                <a:solidFill>
                  <a:srgbClr val="000000"/>
                </a:solidFill>
                <a:latin typeface="Alatsi"/>
                <a:ea typeface="Alatsi"/>
                <a:cs typeface="Alatsi"/>
                <a:sym typeface="Alatsi"/>
              </a:rPr>
              <a:t>CBIT/IT/2024-25/IT1/106 </a:t>
            </a:r>
          </a:p>
        </p:txBody>
      </p:sp>
      <p:sp>
        <p:nvSpPr>
          <p:cNvPr name="AutoShape 6" id="6"/>
          <p:cNvSpPr/>
          <p:nvPr/>
        </p:nvSpPr>
        <p:spPr>
          <a:xfrm flipH="true" flipV="true">
            <a:off x="1090490" y="-104525"/>
            <a:ext cx="5403" cy="2997456"/>
          </a:xfrm>
          <a:prstGeom prst="line">
            <a:avLst/>
          </a:prstGeom>
          <a:ln cap="flat" w="114300">
            <a:solidFill>
              <a:srgbClr val="727D3D"/>
            </a:solidFill>
            <a:prstDash val="solid"/>
            <a:headEnd type="none" len="sm" w="sm"/>
            <a:tailEnd type="none" len="sm" w="sm"/>
          </a:ln>
        </p:spPr>
      </p:sp>
      <p:sp>
        <p:nvSpPr>
          <p:cNvPr name="AutoShape 7" id="7"/>
          <p:cNvSpPr/>
          <p:nvPr/>
        </p:nvSpPr>
        <p:spPr>
          <a:xfrm flipH="true" flipV="true">
            <a:off x="1085850" y="7289441"/>
            <a:ext cx="5403" cy="2997456"/>
          </a:xfrm>
          <a:prstGeom prst="line">
            <a:avLst/>
          </a:prstGeom>
          <a:ln cap="flat" w="114300">
            <a:solidFill>
              <a:srgbClr val="727D3D"/>
            </a:solidFill>
            <a:prstDash val="solid"/>
            <a:headEnd type="none" len="sm" w="sm"/>
            <a:tailEnd type="none" len="sm" w="sm"/>
          </a:ln>
        </p:spPr>
      </p:sp>
      <p:grpSp>
        <p:nvGrpSpPr>
          <p:cNvPr name="Group 8" id="8"/>
          <p:cNvGrpSpPr/>
          <p:nvPr/>
        </p:nvGrpSpPr>
        <p:grpSpPr>
          <a:xfrm rot="0">
            <a:off x="15859155" y="0"/>
            <a:ext cx="1562612" cy="1673225"/>
            <a:chOff x="0" y="0"/>
            <a:chExt cx="2083482" cy="2230967"/>
          </a:xfrm>
        </p:grpSpPr>
        <p:grpSp>
          <p:nvGrpSpPr>
            <p:cNvPr name="Group 9" id="9"/>
            <p:cNvGrpSpPr/>
            <p:nvPr/>
          </p:nvGrpSpPr>
          <p:grpSpPr>
            <a:xfrm rot="0">
              <a:off x="75599" y="0"/>
              <a:ext cx="1932284" cy="2230967"/>
              <a:chOff x="0" y="0"/>
              <a:chExt cx="703982" cy="812800"/>
            </a:xfrm>
          </p:grpSpPr>
          <p:sp>
            <p:nvSpPr>
              <p:cNvPr name="Freeform 10" id="10"/>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727D3D"/>
              </a:solidFill>
            </p:spPr>
          </p:sp>
          <p:sp>
            <p:nvSpPr>
              <p:cNvPr name="TextBox 11" id="11"/>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b="true">
                  <a:solidFill>
                    <a:srgbClr val="000000"/>
                  </a:solidFill>
                  <a:latin typeface="Open Sans Bold"/>
                  <a:ea typeface="Open Sans Bold"/>
                  <a:cs typeface="Open Sans Bold"/>
                  <a:sym typeface="Open Sans Bold"/>
                </a:rPr>
                <a:t>22</a:t>
              </a:r>
            </a:p>
          </p:txBody>
        </p:sp>
      </p:grpSp>
      <p:sp>
        <p:nvSpPr>
          <p:cNvPr name="Freeform 13" id="13"/>
          <p:cNvSpPr/>
          <p:nvPr/>
        </p:nvSpPr>
        <p:spPr>
          <a:xfrm flipH="false" flipV="false" rot="0">
            <a:off x="7512165" y="-1553858"/>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892058" y="9048108"/>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2528583" y="2498804"/>
            <a:ext cx="3643938" cy="3195748"/>
          </a:xfrm>
          <a:custGeom>
            <a:avLst/>
            <a:gdLst/>
            <a:ahLst/>
            <a:cxnLst/>
            <a:rect r="r" b="b" t="t" l="l"/>
            <a:pathLst>
              <a:path h="3195748" w="3643938">
                <a:moveTo>
                  <a:pt x="0" y="0"/>
                </a:moveTo>
                <a:lnTo>
                  <a:pt x="3643937" y="0"/>
                </a:lnTo>
                <a:lnTo>
                  <a:pt x="3643937" y="3195748"/>
                </a:lnTo>
                <a:lnTo>
                  <a:pt x="0" y="3195748"/>
                </a:lnTo>
                <a:lnTo>
                  <a:pt x="0" y="0"/>
                </a:lnTo>
                <a:close/>
              </a:path>
            </a:pathLst>
          </a:custGeom>
          <a:blipFill>
            <a:blip r:embed="rId4"/>
            <a:stretch>
              <a:fillRect l="-7549" t="-3620" r="-13618" b="0"/>
            </a:stretch>
          </a:blipFill>
        </p:spPr>
      </p:sp>
      <p:sp>
        <p:nvSpPr>
          <p:cNvPr name="Freeform 16" id="16"/>
          <p:cNvSpPr/>
          <p:nvPr/>
        </p:nvSpPr>
        <p:spPr>
          <a:xfrm flipH="false" flipV="false" rot="0">
            <a:off x="2417428" y="6391217"/>
            <a:ext cx="3755092" cy="3145182"/>
          </a:xfrm>
          <a:custGeom>
            <a:avLst/>
            <a:gdLst/>
            <a:ahLst/>
            <a:cxnLst/>
            <a:rect r="r" b="b" t="t" l="l"/>
            <a:pathLst>
              <a:path h="3145182" w="3755092">
                <a:moveTo>
                  <a:pt x="0" y="0"/>
                </a:moveTo>
                <a:lnTo>
                  <a:pt x="3755092" y="0"/>
                </a:lnTo>
                <a:lnTo>
                  <a:pt x="3755092" y="3145183"/>
                </a:lnTo>
                <a:lnTo>
                  <a:pt x="0" y="3145183"/>
                </a:lnTo>
                <a:lnTo>
                  <a:pt x="0" y="0"/>
                </a:lnTo>
                <a:close/>
              </a:path>
            </a:pathLst>
          </a:custGeom>
          <a:blipFill>
            <a:blip r:embed="rId5"/>
            <a:stretch>
              <a:fillRect l="-6268" t="-4896" r="-10876" b="0"/>
            </a:stretch>
          </a:blipFill>
        </p:spPr>
      </p:sp>
      <p:sp>
        <p:nvSpPr>
          <p:cNvPr name="TextBox 17" id="17"/>
          <p:cNvSpPr txBox="true"/>
          <p:nvPr/>
        </p:nvSpPr>
        <p:spPr>
          <a:xfrm rot="0">
            <a:off x="2631973" y="280356"/>
            <a:ext cx="4549161" cy="1153789"/>
          </a:xfrm>
          <a:prstGeom prst="rect">
            <a:avLst/>
          </a:prstGeom>
        </p:spPr>
        <p:txBody>
          <a:bodyPr anchor="t" rtlCol="false" tIns="0" lIns="0" bIns="0" rIns="0">
            <a:spAutoFit/>
          </a:bodyPr>
          <a:lstStyle/>
          <a:p>
            <a:pPr algn="l">
              <a:lnSpc>
                <a:spcPts val="9380"/>
              </a:lnSpc>
            </a:pPr>
            <a:r>
              <a:rPr lang="en-US" sz="6700">
                <a:solidFill>
                  <a:srgbClr val="000000"/>
                </a:solidFill>
                <a:latin typeface="Alatsi"/>
                <a:ea typeface="Alatsi"/>
                <a:cs typeface="Alatsi"/>
                <a:sym typeface="Alatsi"/>
              </a:rPr>
              <a:t>RESULTS</a:t>
            </a:r>
          </a:p>
        </p:txBody>
      </p:sp>
      <p:sp>
        <p:nvSpPr>
          <p:cNvPr name="TextBox 18" id="18"/>
          <p:cNvSpPr txBox="true"/>
          <p:nvPr/>
        </p:nvSpPr>
        <p:spPr>
          <a:xfrm rot="0">
            <a:off x="1800835" y="1962707"/>
            <a:ext cx="4017948" cy="464820"/>
          </a:xfrm>
          <a:prstGeom prst="rect">
            <a:avLst/>
          </a:prstGeom>
        </p:spPr>
        <p:txBody>
          <a:bodyPr anchor="t" rtlCol="false" tIns="0" lIns="0" bIns="0" rIns="0">
            <a:spAutoFit/>
          </a:bodyPr>
          <a:lstStyle/>
          <a:p>
            <a:pPr algn="ctr">
              <a:lnSpc>
                <a:spcPts val="3779"/>
              </a:lnSpc>
              <a:spcBef>
                <a:spcPct val="0"/>
              </a:spcBef>
            </a:pPr>
            <a:r>
              <a:rPr lang="en-US" sz="2700">
                <a:solidFill>
                  <a:srgbClr val="F6F3EB"/>
                </a:solidFill>
                <a:latin typeface="Alatsi"/>
                <a:ea typeface="Alatsi"/>
                <a:cs typeface="Alatsi"/>
                <a:sym typeface="Alatsi"/>
              </a:rPr>
              <a:t>Tetrolet with SSIM</a:t>
            </a:r>
          </a:p>
        </p:txBody>
      </p:sp>
      <p:sp>
        <p:nvSpPr>
          <p:cNvPr name="TextBox 19" id="19"/>
          <p:cNvSpPr txBox="true"/>
          <p:nvPr/>
        </p:nvSpPr>
        <p:spPr>
          <a:xfrm rot="0">
            <a:off x="2286000" y="5889815"/>
            <a:ext cx="4017948" cy="464820"/>
          </a:xfrm>
          <a:prstGeom prst="rect">
            <a:avLst/>
          </a:prstGeom>
        </p:spPr>
        <p:txBody>
          <a:bodyPr anchor="t" rtlCol="false" tIns="0" lIns="0" bIns="0" rIns="0">
            <a:spAutoFit/>
          </a:bodyPr>
          <a:lstStyle/>
          <a:p>
            <a:pPr algn="ctr">
              <a:lnSpc>
                <a:spcPts val="3779"/>
              </a:lnSpc>
              <a:spcBef>
                <a:spcPct val="0"/>
              </a:spcBef>
            </a:pPr>
            <a:r>
              <a:rPr lang="en-US" sz="2700">
                <a:solidFill>
                  <a:srgbClr val="F6F3EB"/>
                </a:solidFill>
                <a:latin typeface="Alatsi"/>
                <a:ea typeface="Alatsi"/>
                <a:cs typeface="Alatsi"/>
                <a:sym typeface="Alatsi"/>
              </a:rPr>
              <a:t>Haar Classifier with LBPH</a:t>
            </a:r>
          </a:p>
        </p:txBody>
      </p:sp>
      <p:sp>
        <p:nvSpPr>
          <p:cNvPr name="Freeform 20" id="20"/>
          <p:cNvSpPr/>
          <p:nvPr/>
        </p:nvSpPr>
        <p:spPr>
          <a:xfrm flipH="false" flipV="false" rot="0">
            <a:off x="6990184" y="2019857"/>
            <a:ext cx="8868971" cy="7516543"/>
          </a:xfrm>
          <a:custGeom>
            <a:avLst/>
            <a:gdLst/>
            <a:ahLst/>
            <a:cxnLst/>
            <a:rect r="r" b="b" t="t" l="l"/>
            <a:pathLst>
              <a:path h="7516543" w="8868971">
                <a:moveTo>
                  <a:pt x="0" y="0"/>
                </a:moveTo>
                <a:lnTo>
                  <a:pt x="8868971" y="0"/>
                </a:lnTo>
                <a:lnTo>
                  <a:pt x="8868971" y="7516543"/>
                </a:lnTo>
                <a:lnTo>
                  <a:pt x="0" y="7516543"/>
                </a:lnTo>
                <a:lnTo>
                  <a:pt x="0" y="0"/>
                </a:lnTo>
                <a:close/>
              </a:path>
            </a:pathLst>
          </a:custGeom>
          <a:blipFill>
            <a:blip r:embed="rId6"/>
            <a:stretch>
              <a:fillRect l="0" t="0" r="-9767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5400000">
            <a:off x="-2373736" y="4911090"/>
            <a:ext cx="6882108" cy="464820"/>
          </a:xfrm>
          <a:prstGeom prst="rect">
            <a:avLst/>
          </a:prstGeom>
        </p:spPr>
        <p:txBody>
          <a:bodyPr anchor="t" rtlCol="false" tIns="0" lIns="0" bIns="0" rIns="0">
            <a:spAutoFit/>
          </a:bodyPr>
          <a:lstStyle/>
          <a:p>
            <a:pPr algn="ctr">
              <a:lnSpc>
                <a:spcPts val="3779"/>
              </a:lnSpc>
            </a:pPr>
            <a:r>
              <a:rPr lang="en-US" sz="2700">
                <a:solidFill>
                  <a:srgbClr val="000000"/>
                </a:solidFill>
                <a:latin typeface="Alatsi"/>
                <a:ea typeface="Alatsi"/>
                <a:cs typeface="Alatsi"/>
                <a:sym typeface="Alatsi"/>
              </a:rPr>
              <a:t>CBIT/IT/2024-25/IT1/106 </a:t>
            </a:r>
          </a:p>
        </p:txBody>
      </p:sp>
      <p:sp>
        <p:nvSpPr>
          <p:cNvPr name="AutoShape 3" id="3"/>
          <p:cNvSpPr/>
          <p:nvPr/>
        </p:nvSpPr>
        <p:spPr>
          <a:xfrm flipH="true" flipV="true">
            <a:off x="1090490" y="-104525"/>
            <a:ext cx="5403" cy="2997456"/>
          </a:xfrm>
          <a:prstGeom prst="line">
            <a:avLst/>
          </a:prstGeom>
          <a:ln cap="flat" w="114300">
            <a:solidFill>
              <a:srgbClr val="727D3D"/>
            </a:solidFill>
            <a:prstDash val="solid"/>
            <a:headEnd type="none" len="sm" w="sm"/>
            <a:tailEnd type="none" len="sm" w="sm"/>
          </a:ln>
        </p:spPr>
      </p:sp>
      <p:sp>
        <p:nvSpPr>
          <p:cNvPr name="AutoShape 4" id="4"/>
          <p:cNvSpPr/>
          <p:nvPr/>
        </p:nvSpPr>
        <p:spPr>
          <a:xfrm flipH="true" flipV="true">
            <a:off x="1085850" y="7289441"/>
            <a:ext cx="5403" cy="2997456"/>
          </a:xfrm>
          <a:prstGeom prst="line">
            <a:avLst/>
          </a:prstGeom>
          <a:ln cap="flat" w="114300">
            <a:solidFill>
              <a:srgbClr val="727D3D"/>
            </a:solidFill>
            <a:prstDash val="solid"/>
            <a:headEnd type="none" len="sm" w="sm"/>
            <a:tailEnd type="none" len="sm" w="sm"/>
          </a:ln>
        </p:spPr>
      </p:sp>
      <p:grpSp>
        <p:nvGrpSpPr>
          <p:cNvPr name="Group 5" id="5"/>
          <p:cNvGrpSpPr/>
          <p:nvPr/>
        </p:nvGrpSpPr>
        <p:grpSpPr>
          <a:xfrm rot="0">
            <a:off x="1638368" y="725871"/>
            <a:ext cx="15620932" cy="9285423"/>
            <a:chOff x="0" y="0"/>
            <a:chExt cx="3662795" cy="2177245"/>
          </a:xfrm>
        </p:grpSpPr>
        <p:sp>
          <p:nvSpPr>
            <p:cNvPr name="Freeform 6" id="6"/>
            <p:cNvSpPr/>
            <p:nvPr/>
          </p:nvSpPr>
          <p:spPr>
            <a:xfrm flipH="false" flipV="false" rot="0">
              <a:off x="0" y="0"/>
              <a:ext cx="3662795" cy="2177245"/>
            </a:xfrm>
            <a:custGeom>
              <a:avLst/>
              <a:gdLst/>
              <a:ahLst/>
              <a:cxnLst/>
              <a:rect r="r" b="b" t="t" l="l"/>
              <a:pathLst>
                <a:path h="2177245" w="3662795">
                  <a:moveTo>
                    <a:pt x="25276" y="0"/>
                  </a:moveTo>
                  <a:lnTo>
                    <a:pt x="3637519" y="0"/>
                  </a:lnTo>
                  <a:cubicBezTo>
                    <a:pt x="3651479" y="0"/>
                    <a:pt x="3662795" y="11317"/>
                    <a:pt x="3662795" y="25276"/>
                  </a:cubicBezTo>
                  <a:lnTo>
                    <a:pt x="3662795" y="2151969"/>
                  </a:lnTo>
                  <a:cubicBezTo>
                    <a:pt x="3662795" y="2165929"/>
                    <a:pt x="3651479" y="2177245"/>
                    <a:pt x="3637519" y="2177245"/>
                  </a:cubicBezTo>
                  <a:lnTo>
                    <a:pt x="25276" y="2177245"/>
                  </a:lnTo>
                  <a:cubicBezTo>
                    <a:pt x="11317" y="2177245"/>
                    <a:pt x="0" y="2165929"/>
                    <a:pt x="0" y="2151969"/>
                  </a:cubicBezTo>
                  <a:lnTo>
                    <a:pt x="0" y="25276"/>
                  </a:lnTo>
                  <a:cubicBezTo>
                    <a:pt x="0" y="11317"/>
                    <a:pt x="11317" y="0"/>
                    <a:pt x="25276" y="0"/>
                  </a:cubicBezTo>
                  <a:close/>
                </a:path>
              </a:pathLst>
            </a:custGeom>
            <a:solidFill>
              <a:srgbClr val="972121"/>
            </a:solidFill>
          </p:spPr>
        </p:sp>
        <p:sp>
          <p:nvSpPr>
            <p:cNvPr name="TextBox 7" id="7"/>
            <p:cNvSpPr txBox="true"/>
            <p:nvPr/>
          </p:nvSpPr>
          <p:spPr>
            <a:xfrm>
              <a:off x="0" y="-38100"/>
              <a:ext cx="3662795" cy="221534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5753388" y="157483"/>
            <a:ext cx="1449213" cy="1673225"/>
            <a:chOff x="0" y="0"/>
            <a:chExt cx="703982" cy="812800"/>
          </a:xfrm>
        </p:grpSpPr>
        <p:sp>
          <p:nvSpPr>
            <p:cNvPr name="Freeform 9" id="9"/>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727D3D"/>
            </a:solidFill>
          </p:spPr>
        </p:sp>
        <p:sp>
          <p:nvSpPr>
            <p:cNvPr name="TextBox 10" id="10"/>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5696688" y="457094"/>
            <a:ext cx="1562612" cy="959703"/>
          </a:xfrm>
          <a:prstGeom prst="rect">
            <a:avLst/>
          </a:prstGeom>
        </p:spPr>
        <p:txBody>
          <a:bodyPr anchor="t" rtlCol="false" tIns="0" lIns="0" bIns="0" rIns="0">
            <a:spAutoFit/>
          </a:bodyPr>
          <a:lstStyle/>
          <a:p>
            <a:pPr algn="ctr">
              <a:lnSpc>
                <a:spcPts val="7805"/>
              </a:lnSpc>
            </a:pPr>
            <a:r>
              <a:rPr lang="en-US" sz="5575" b="true">
                <a:solidFill>
                  <a:srgbClr val="000000"/>
                </a:solidFill>
                <a:latin typeface="Open Sans Bold"/>
                <a:ea typeface="Open Sans Bold"/>
                <a:cs typeface="Open Sans Bold"/>
                <a:sym typeface="Open Sans Bold"/>
              </a:rPr>
              <a:t>23</a:t>
            </a:r>
          </a:p>
        </p:txBody>
      </p:sp>
      <p:sp>
        <p:nvSpPr>
          <p:cNvPr name="Freeform 12" id="12"/>
          <p:cNvSpPr/>
          <p:nvPr/>
        </p:nvSpPr>
        <p:spPr>
          <a:xfrm flipH="false" flipV="false" rot="0">
            <a:off x="7349698" y="-1396375"/>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729591" y="9205592"/>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926424" y="1028700"/>
            <a:ext cx="7331551" cy="3971367"/>
          </a:xfrm>
          <a:custGeom>
            <a:avLst/>
            <a:gdLst/>
            <a:ahLst/>
            <a:cxnLst/>
            <a:rect r="r" b="b" t="t" l="l"/>
            <a:pathLst>
              <a:path h="3971367" w="7331551">
                <a:moveTo>
                  <a:pt x="0" y="0"/>
                </a:moveTo>
                <a:lnTo>
                  <a:pt x="7331551" y="0"/>
                </a:lnTo>
                <a:lnTo>
                  <a:pt x="7331551" y="3971367"/>
                </a:lnTo>
                <a:lnTo>
                  <a:pt x="0" y="3971367"/>
                </a:lnTo>
                <a:lnTo>
                  <a:pt x="0" y="0"/>
                </a:lnTo>
                <a:close/>
              </a:path>
            </a:pathLst>
          </a:custGeom>
          <a:blipFill>
            <a:blip r:embed="rId4"/>
            <a:stretch>
              <a:fillRect l="-1728" t="0" r="-1728" b="0"/>
            </a:stretch>
          </a:blipFill>
        </p:spPr>
      </p:sp>
      <p:sp>
        <p:nvSpPr>
          <p:cNvPr name="Freeform 15" id="15"/>
          <p:cNvSpPr/>
          <p:nvPr/>
        </p:nvSpPr>
        <p:spPr>
          <a:xfrm flipH="false" flipV="false" rot="0">
            <a:off x="1889332" y="5143500"/>
            <a:ext cx="7405734" cy="4524340"/>
          </a:xfrm>
          <a:custGeom>
            <a:avLst/>
            <a:gdLst/>
            <a:ahLst/>
            <a:cxnLst/>
            <a:rect r="r" b="b" t="t" l="l"/>
            <a:pathLst>
              <a:path h="4524340" w="7405734">
                <a:moveTo>
                  <a:pt x="0" y="0"/>
                </a:moveTo>
                <a:lnTo>
                  <a:pt x="7405734" y="0"/>
                </a:lnTo>
                <a:lnTo>
                  <a:pt x="7405734" y="4524340"/>
                </a:lnTo>
                <a:lnTo>
                  <a:pt x="0" y="4524340"/>
                </a:lnTo>
                <a:lnTo>
                  <a:pt x="0" y="0"/>
                </a:lnTo>
                <a:close/>
              </a:path>
            </a:pathLst>
          </a:custGeom>
          <a:blipFill>
            <a:blip r:embed="rId5"/>
            <a:stretch>
              <a:fillRect l="0" t="-37734" r="0" b="-37734"/>
            </a:stretch>
          </a:blipFill>
        </p:spPr>
      </p:sp>
      <p:sp>
        <p:nvSpPr>
          <p:cNvPr name="Freeform 16" id="16"/>
          <p:cNvSpPr/>
          <p:nvPr/>
        </p:nvSpPr>
        <p:spPr>
          <a:xfrm flipH="false" flipV="false" rot="0">
            <a:off x="9448834" y="1906909"/>
            <a:ext cx="7518324" cy="7791430"/>
          </a:xfrm>
          <a:custGeom>
            <a:avLst/>
            <a:gdLst/>
            <a:ahLst/>
            <a:cxnLst/>
            <a:rect r="r" b="b" t="t" l="l"/>
            <a:pathLst>
              <a:path h="7791430" w="7518324">
                <a:moveTo>
                  <a:pt x="0" y="0"/>
                </a:moveTo>
                <a:lnTo>
                  <a:pt x="7518323" y="0"/>
                </a:lnTo>
                <a:lnTo>
                  <a:pt x="7518323" y="7791430"/>
                </a:lnTo>
                <a:lnTo>
                  <a:pt x="0" y="7791430"/>
                </a:lnTo>
                <a:lnTo>
                  <a:pt x="0" y="0"/>
                </a:lnTo>
                <a:close/>
              </a:path>
            </a:pathLst>
          </a:custGeom>
          <a:blipFill>
            <a:blip r:embed="rId6"/>
            <a:stretch>
              <a:fillRect l="-864" t="0" r="-15789" b="0"/>
            </a:stretch>
          </a:blipFill>
        </p:spPr>
      </p:sp>
      <p:sp>
        <p:nvSpPr>
          <p:cNvPr name="TextBox 17" id="17"/>
          <p:cNvSpPr txBox="true"/>
          <p:nvPr/>
        </p:nvSpPr>
        <p:spPr>
          <a:xfrm rot="0">
            <a:off x="11846992" y="1085091"/>
            <a:ext cx="4549161" cy="646422"/>
          </a:xfrm>
          <a:prstGeom prst="rect">
            <a:avLst/>
          </a:prstGeom>
        </p:spPr>
        <p:txBody>
          <a:bodyPr anchor="t" rtlCol="false" tIns="0" lIns="0" bIns="0" rIns="0">
            <a:spAutoFit/>
          </a:bodyPr>
          <a:lstStyle/>
          <a:p>
            <a:pPr algn="l">
              <a:lnSpc>
                <a:spcPts val="5320"/>
              </a:lnSpc>
            </a:pPr>
            <a:r>
              <a:rPr lang="en-US" sz="3800">
                <a:solidFill>
                  <a:srgbClr val="F6F3EB"/>
                </a:solidFill>
                <a:latin typeface="Alatsi"/>
                <a:ea typeface="Alatsi"/>
                <a:cs typeface="Alatsi"/>
                <a:sym typeface="Alatsi"/>
              </a:rPr>
              <a:t>RESULTS</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5400000">
            <a:off x="-2373736" y="4911090"/>
            <a:ext cx="6882108" cy="464820"/>
          </a:xfrm>
          <a:prstGeom prst="rect">
            <a:avLst/>
          </a:prstGeom>
        </p:spPr>
        <p:txBody>
          <a:bodyPr anchor="t" rtlCol="false" tIns="0" lIns="0" bIns="0" rIns="0">
            <a:spAutoFit/>
          </a:bodyPr>
          <a:lstStyle/>
          <a:p>
            <a:pPr algn="ctr">
              <a:lnSpc>
                <a:spcPts val="3779"/>
              </a:lnSpc>
            </a:pPr>
            <a:r>
              <a:rPr lang="en-US" sz="2700">
                <a:solidFill>
                  <a:srgbClr val="000000"/>
                </a:solidFill>
                <a:latin typeface="Alatsi"/>
                <a:ea typeface="Alatsi"/>
                <a:cs typeface="Alatsi"/>
                <a:sym typeface="Alatsi"/>
              </a:rPr>
              <a:t>CBIT/IT/2024-25/IT1/106 </a:t>
            </a:r>
          </a:p>
        </p:txBody>
      </p:sp>
      <p:sp>
        <p:nvSpPr>
          <p:cNvPr name="AutoShape 3" id="3"/>
          <p:cNvSpPr/>
          <p:nvPr/>
        </p:nvSpPr>
        <p:spPr>
          <a:xfrm flipH="true" flipV="true">
            <a:off x="1090490" y="-104525"/>
            <a:ext cx="5403" cy="2997456"/>
          </a:xfrm>
          <a:prstGeom prst="line">
            <a:avLst/>
          </a:prstGeom>
          <a:ln cap="flat" w="114300">
            <a:solidFill>
              <a:srgbClr val="727D3D"/>
            </a:solidFill>
            <a:prstDash val="solid"/>
            <a:headEnd type="none" len="sm" w="sm"/>
            <a:tailEnd type="none" len="sm" w="sm"/>
          </a:ln>
        </p:spPr>
      </p:sp>
      <p:sp>
        <p:nvSpPr>
          <p:cNvPr name="AutoShape 4" id="4"/>
          <p:cNvSpPr/>
          <p:nvPr/>
        </p:nvSpPr>
        <p:spPr>
          <a:xfrm flipH="true" flipV="true">
            <a:off x="1085850" y="7289441"/>
            <a:ext cx="5403" cy="2997456"/>
          </a:xfrm>
          <a:prstGeom prst="line">
            <a:avLst/>
          </a:prstGeom>
          <a:ln cap="flat" w="114300">
            <a:solidFill>
              <a:srgbClr val="727D3D"/>
            </a:solidFill>
            <a:prstDash val="solid"/>
            <a:headEnd type="none" len="sm" w="sm"/>
            <a:tailEnd type="none" len="sm" w="sm"/>
          </a:ln>
        </p:spPr>
      </p:sp>
      <p:grpSp>
        <p:nvGrpSpPr>
          <p:cNvPr name="Group 5" id="5"/>
          <p:cNvGrpSpPr/>
          <p:nvPr/>
        </p:nvGrpSpPr>
        <p:grpSpPr>
          <a:xfrm rot="0">
            <a:off x="15859155" y="0"/>
            <a:ext cx="1562612" cy="1673225"/>
            <a:chOff x="0" y="0"/>
            <a:chExt cx="2083482" cy="2230967"/>
          </a:xfrm>
        </p:grpSpPr>
        <p:grpSp>
          <p:nvGrpSpPr>
            <p:cNvPr name="Group 6" id="6"/>
            <p:cNvGrpSpPr/>
            <p:nvPr/>
          </p:nvGrpSpPr>
          <p:grpSpPr>
            <a:xfrm rot="0">
              <a:off x="75599" y="0"/>
              <a:ext cx="1932284" cy="2230967"/>
              <a:chOff x="0" y="0"/>
              <a:chExt cx="703982" cy="812800"/>
            </a:xfrm>
          </p:grpSpPr>
          <p:sp>
            <p:nvSpPr>
              <p:cNvPr name="Freeform 7" id="7"/>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727D3D"/>
              </a:solidFill>
            </p:spPr>
          </p:sp>
          <p:sp>
            <p:nvSpPr>
              <p:cNvPr name="TextBox 8" id="8"/>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b="true">
                  <a:solidFill>
                    <a:srgbClr val="000000"/>
                  </a:solidFill>
                  <a:latin typeface="Open Sans Bold"/>
                  <a:ea typeface="Open Sans Bold"/>
                  <a:cs typeface="Open Sans Bold"/>
                  <a:sym typeface="Open Sans Bold"/>
                </a:rPr>
                <a:t>24</a:t>
              </a:r>
            </a:p>
          </p:txBody>
        </p:sp>
      </p:grpSp>
      <p:sp>
        <p:nvSpPr>
          <p:cNvPr name="Freeform 10" id="10"/>
          <p:cNvSpPr/>
          <p:nvPr/>
        </p:nvSpPr>
        <p:spPr>
          <a:xfrm flipH="false" flipV="false" rot="0">
            <a:off x="7512165" y="-1553858"/>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892058" y="9048108"/>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1550878" y="2094418"/>
            <a:ext cx="16114924" cy="7163882"/>
            <a:chOff x="0" y="0"/>
            <a:chExt cx="3778626" cy="1679786"/>
          </a:xfrm>
        </p:grpSpPr>
        <p:sp>
          <p:nvSpPr>
            <p:cNvPr name="Freeform 13" id="13"/>
            <p:cNvSpPr/>
            <p:nvPr/>
          </p:nvSpPr>
          <p:spPr>
            <a:xfrm flipH="false" flipV="false" rot="0">
              <a:off x="0" y="0"/>
              <a:ext cx="3778626" cy="1679786"/>
            </a:xfrm>
            <a:custGeom>
              <a:avLst/>
              <a:gdLst/>
              <a:ahLst/>
              <a:cxnLst/>
              <a:rect r="r" b="b" t="t" l="l"/>
              <a:pathLst>
                <a:path h="1679786" w="3778626">
                  <a:moveTo>
                    <a:pt x="24501" y="0"/>
                  </a:moveTo>
                  <a:lnTo>
                    <a:pt x="3754125" y="0"/>
                  </a:lnTo>
                  <a:cubicBezTo>
                    <a:pt x="3760623" y="0"/>
                    <a:pt x="3766855" y="2581"/>
                    <a:pt x="3771450" y="7176"/>
                  </a:cubicBezTo>
                  <a:cubicBezTo>
                    <a:pt x="3776045" y="11771"/>
                    <a:pt x="3778626" y="18003"/>
                    <a:pt x="3778626" y="24501"/>
                  </a:cubicBezTo>
                  <a:lnTo>
                    <a:pt x="3778626" y="1655285"/>
                  </a:lnTo>
                  <a:cubicBezTo>
                    <a:pt x="3778626" y="1668817"/>
                    <a:pt x="3767657" y="1679786"/>
                    <a:pt x="3754125" y="1679786"/>
                  </a:cubicBezTo>
                  <a:lnTo>
                    <a:pt x="24501" y="1679786"/>
                  </a:lnTo>
                  <a:cubicBezTo>
                    <a:pt x="10970" y="1679786"/>
                    <a:pt x="0" y="1668817"/>
                    <a:pt x="0" y="1655285"/>
                  </a:cubicBezTo>
                  <a:lnTo>
                    <a:pt x="0" y="24501"/>
                  </a:lnTo>
                  <a:cubicBezTo>
                    <a:pt x="0" y="10970"/>
                    <a:pt x="10970" y="0"/>
                    <a:pt x="24501" y="0"/>
                  </a:cubicBezTo>
                  <a:close/>
                </a:path>
              </a:pathLst>
            </a:custGeom>
            <a:solidFill>
              <a:srgbClr val="972121"/>
            </a:solidFill>
          </p:spPr>
        </p:sp>
        <p:sp>
          <p:nvSpPr>
            <p:cNvPr name="TextBox 14" id="14"/>
            <p:cNvSpPr txBox="true"/>
            <p:nvPr/>
          </p:nvSpPr>
          <p:spPr>
            <a:xfrm>
              <a:off x="0" y="-38100"/>
              <a:ext cx="3778626" cy="1717886"/>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9991147" y="2508754"/>
            <a:ext cx="7457411" cy="6328774"/>
          </a:xfrm>
          <a:custGeom>
            <a:avLst/>
            <a:gdLst/>
            <a:ahLst/>
            <a:cxnLst/>
            <a:rect r="r" b="b" t="t" l="l"/>
            <a:pathLst>
              <a:path h="6328774" w="7457411">
                <a:moveTo>
                  <a:pt x="0" y="0"/>
                </a:moveTo>
                <a:lnTo>
                  <a:pt x="7457411" y="0"/>
                </a:lnTo>
                <a:lnTo>
                  <a:pt x="7457411" y="6328774"/>
                </a:lnTo>
                <a:lnTo>
                  <a:pt x="0" y="6328774"/>
                </a:lnTo>
                <a:lnTo>
                  <a:pt x="0" y="0"/>
                </a:lnTo>
                <a:close/>
              </a:path>
            </a:pathLst>
          </a:custGeom>
          <a:blipFill>
            <a:blip r:embed="rId4"/>
            <a:stretch>
              <a:fillRect l="-2868" t="0" r="-7593" b="0"/>
            </a:stretch>
          </a:blipFill>
        </p:spPr>
      </p:sp>
      <p:sp>
        <p:nvSpPr>
          <p:cNvPr name="Freeform 16" id="16"/>
          <p:cNvSpPr/>
          <p:nvPr/>
        </p:nvSpPr>
        <p:spPr>
          <a:xfrm flipH="false" flipV="false" rot="0">
            <a:off x="1871407" y="2511972"/>
            <a:ext cx="7836819" cy="6328774"/>
          </a:xfrm>
          <a:custGeom>
            <a:avLst/>
            <a:gdLst/>
            <a:ahLst/>
            <a:cxnLst/>
            <a:rect r="r" b="b" t="t" l="l"/>
            <a:pathLst>
              <a:path h="6328774" w="7836819">
                <a:moveTo>
                  <a:pt x="0" y="0"/>
                </a:moveTo>
                <a:lnTo>
                  <a:pt x="7836819" y="0"/>
                </a:lnTo>
                <a:lnTo>
                  <a:pt x="7836819" y="6328774"/>
                </a:lnTo>
                <a:lnTo>
                  <a:pt x="0" y="6328774"/>
                </a:lnTo>
                <a:lnTo>
                  <a:pt x="0" y="0"/>
                </a:lnTo>
                <a:close/>
              </a:path>
            </a:pathLst>
          </a:custGeom>
          <a:blipFill>
            <a:blip r:embed="rId5"/>
            <a:stretch>
              <a:fillRect l="-16" t="-2166" r="-8099" b="0"/>
            </a:stretch>
          </a:blipFill>
        </p:spPr>
      </p:sp>
      <p:sp>
        <p:nvSpPr>
          <p:cNvPr name="TextBox 17" id="17"/>
          <p:cNvSpPr txBox="true"/>
          <p:nvPr/>
        </p:nvSpPr>
        <p:spPr>
          <a:xfrm rot="0">
            <a:off x="3515236" y="619764"/>
            <a:ext cx="4549161" cy="1094734"/>
          </a:xfrm>
          <a:prstGeom prst="rect">
            <a:avLst/>
          </a:prstGeom>
        </p:spPr>
        <p:txBody>
          <a:bodyPr anchor="t" rtlCol="false" tIns="0" lIns="0" bIns="0" rIns="0">
            <a:spAutoFit/>
          </a:bodyPr>
          <a:lstStyle/>
          <a:p>
            <a:pPr algn="l">
              <a:lnSpc>
                <a:spcPts val="8960"/>
              </a:lnSpc>
            </a:pPr>
            <a:r>
              <a:rPr lang="en-US" sz="6400">
                <a:solidFill>
                  <a:srgbClr val="000000"/>
                </a:solidFill>
                <a:latin typeface="Alatsi"/>
                <a:ea typeface="Alatsi"/>
                <a:cs typeface="Alatsi"/>
                <a:sym typeface="Alatsi"/>
              </a:rPr>
              <a:t>RESULTS</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5702946" y="8800282"/>
            <a:ext cx="6882108" cy="464820"/>
          </a:xfrm>
          <a:prstGeom prst="rect">
            <a:avLst/>
          </a:prstGeom>
        </p:spPr>
        <p:txBody>
          <a:bodyPr anchor="t" rtlCol="false" tIns="0" lIns="0" bIns="0" rIns="0">
            <a:spAutoFit/>
          </a:bodyPr>
          <a:lstStyle/>
          <a:p>
            <a:pPr algn="ctr">
              <a:lnSpc>
                <a:spcPts val="3779"/>
              </a:lnSpc>
            </a:pPr>
            <a:r>
              <a:rPr lang="en-US" sz="2700">
                <a:solidFill>
                  <a:srgbClr val="000000"/>
                </a:solidFill>
                <a:latin typeface="Alatsi"/>
                <a:ea typeface="Alatsi"/>
                <a:cs typeface="Alatsi"/>
                <a:sym typeface="Alatsi"/>
              </a:rPr>
              <a:t>CBIT/IT/2024-25/IT1/106 </a:t>
            </a:r>
          </a:p>
        </p:txBody>
      </p:sp>
      <p:sp>
        <p:nvSpPr>
          <p:cNvPr name="AutoShape 3" id="3"/>
          <p:cNvSpPr/>
          <p:nvPr/>
        </p:nvSpPr>
        <p:spPr>
          <a:xfrm>
            <a:off x="-260599" y="9061267"/>
            <a:ext cx="7105264" cy="19050"/>
          </a:xfrm>
          <a:prstGeom prst="line">
            <a:avLst/>
          </a:prstGeom>
          <a:ln cap="flat" w="114300">
            <a:solidFill>
              <a:srgbClr val="727D3D"/>
            </a:solidFill>
            <a:prstDash val="solid"/>
            <a:headEnd type="none" len="sm" w="sm"/>
            <a:tailEnd type="none" len="sm" w="sm"/>
          </a:ln>
        </p:spPr>
      </p:sp>
      <p:sp>
        <p:nvSpPr>
          <p:cNvPr name="AutoShape 4" id="4"/>
          <p:cNvSpPr/>
          <p:nvPr/>
        </p:nvSpPr>
        <p:spPr>
          <a:xfrm>
            <a:off x="11430169" y="9061267"/>
            <a:ext cx="7105264" cy="19050"/>
          </a:xfrm>
          <a:prstGeom prst="line">
            <a:avLst/>
          </a:prstGeom>
          <a:ln cap="flat" w="114300">
            <a:solidFill>
              <a:srgbClr val="727D3D"/>
            </a:solidFill>
            <a:prstDash val="solid"/>
            <a:headEnd type="none" len="sm" w="sm"/>
            <a:tailEnd type="none" len="sm" w="sm"/>
          </a:ln>
        </p:spPr>
      </p:sp>
      <p:sp>
        <p:nvSpPr>
          <p:cNvPr name="Freeform 5" id="5"/>
          <p:cNvSpPr/>
          <p:nvPr/>
        </p:nvSpPr>
        <p:spPr>
          <a:xfrm flipH="false" flipV="false" rot="0">
            <a:off x="12982861" y="5945563"/>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5859155" y="0"/>
            <a:ext cx="1562612" cy="1673225"/>
            <a:chOff x="0" y="0"/>
            <a:chExt cx="2083482" cy="2230967"/>
          </a:xfrm>
        </p:grpSpPr>
        <p:grpSp>
          <p:nvGrpSpPr>
            <p:cNvPr name="Group 7" id="7"/>
            <p:cNvGrpSpPr/>
            <p:nvPr/>
          </p:nvGrpSpPr>
          <p:grpSpPr>
            <a:xfrm rot="0">
              <a:off x="75599" y="0"/>
              <a:ext cx="1932284" cy="2230967"/>
              <a:chOff x="0" y="0"/>
              <a:chExt cx="703982" cy="812800"/>
            </a:xfrm>
          </p:grpSpPr>
          <p:sp>
            <p:nvSpPr>
              <p:cNvPr name="Freeform 8" id="8"/>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727D3D"/>
              </a:solidFill>
            </p:spPr>
          </p:sp>
          <p:sp>
            <p:nvSpPr>
              <p:cNvPr name="TextBox 9" id="9"/>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b="true">
                  <a:solidFill>
                    <a:srgbClr val="000000"/>
                  </a:solidFill>
                  <a:latin typeface="Open Sans Bold"/>
                  <a:ea typeface="Open Sans Bold"/>
                  <a:cs typeface="Open Sans Bold"/>
                  <a:sym typeface="Open Sans Bold"/>
                </a:rPr>
                <a:t>25</a:t>
              </a:r>
            </a:p>
          </p:txBody>
        </p:sp>
      </p:grpSp>
      <p:sp>
        <p:nvSpPr>
          <p:cNvPr name="TextBox 11" id="11"/>
          <p:cNvSpPr txBox="true"/>
          <p:nvPr/>
        </p:nvSpPr>
        <p:spPr>
          <a:xfrm rot="0">
            <a:off x="3679044" y="866775"/>
            <a:ext cx="10929913"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a:ea typeface="Alatsi"/>
                <a:cs typeface="Alatsi"/>
                <a:sym typeface="Alatsi"/>
              </a:rPr>
              <a:t>CONCLUSION</a:t>
            </a:r>
          </a:p>
        </p:txBody>
      </p:sp>
      <p:sp>
        <p:nvSpPr>
          <p:cNvPr name="Freeform 12" id="12"/>
          <p:cNvSpPr/>
          <p:nvPr/>
        </p:nvSpPr>
        <p:spPr>
          <a:xfrm flipH="false" flipV="false" rot="0">
            <a:off x="-3009325" y="-402279"/>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2455150" y="3375524"/>
            <a:ext cx="14185311" cy="3459752"/>
          </a:xfrm>
          <a:prstGeom prst="rect">
            <a:avLst/>
          </a:prstGeom>
        </p:spPr>
        <p:txBody>
          <a:bodyPr anchor="t" rtlCol="false" tIns="0" lIns="0" bIns="0" rIns="0">
            <a:spAutoFit/>
          </a:bodyPr>
          <a:lstStyle/>
          <a:p>
            <a:pPr algn="just">
              <a:lnSpc>
                <a:spcPts val="5487"/>
              </a:lnSpc>
            </a:pPr>
            <a:r>
              <a:rPr lang="en-US" sz="3919">
                <a:solidFill>
                  <a:srgbClr val="000000"/>
                </a:solidFill>
                <a:latin typeface="Alatsi"/>
                <a:ea typeface="Alatsi"/>
                <a:cs typeface="Alatsi"/>
                <a:sym typeface="Alatsi"/>
              </a:rPr>
              <a:t>We conclude that Tetrolet Transforms enhance facial recognition accuracy and robustness compared to Haar Cascade and LBPH, improving feature extraction and reducing false identification rates, thereby strengthening the surveillance system's reliability and effectiveness.</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5702946" y="8800282"/>
            <a:ext cx="6882108" cy="464820"/>
          </a:xfrm>
          <a:prstGeom prst="rect">
            <a:avLst/>
          </a:prstGeom>
        </p:spPr>
        <p:txBody>
          <a:bodyPr anchor="t" rtlCol="false" tIns="0" lIns="0" bIns="0" rIns="0">
            <a:spAutoFit/>
          </a:bodyPr>
          <a:lstStyle/>
          <a:p>
            <a:pPr algn="ctr">
              <a:lnSpc>
                <a:spcPts val="3779"/>
              </a:lnSpc>
            </a:pPr>
            <a:r>
              <a:rPr lang="en-US" sz="2700">
                <a:solidFill>
                  <a:srgbClr val="000000"/>
                </a:solidFill>
                <a:latin typeface="Alatsi"/>
                <a:ea typeface="Alatsi"/>
                <a:cs typeface="Alatsi"/>
                <a:sym typeface="Alatsi"/>
              </a:rPr>
              <a:t>CBIT/IT/2024-25/IT1/106 </a:t>
            </a:r>
          </a:p>
        </p:txBody>
      </p:sp>
      <p:sp>
        <p:nvSpPr>
          <p:cNvPr name="AutoShape 3" id="3"/>
          <p:cNvSpPr/>
          <p:nvPr/>
        </p:nvSpPr>
        <p:spPr>
          <a:xfrm>
            <a:off x="-260599" y="9061267"/>
            <a:ext cx="7105264" cy="19050"/>
          </a:xfrm>
          <a:prstGeom prst="line">
            <a:avLst/>
          </a:prstGeom>
          <a:ln cap="flat" w="114300">
            <a:solidFill>
              <a:srgbClr val="727D3D"/>
            </a:solidFill>
            <a:prstDash val="solid"/>
            <a:headEnd type="none" len="sm" w="sm"/>
            <a:tailEnd type="none" len="sm" w="sm"/>
          </a:ln>
        </p:spPr>
      </p:sp>
      <p:sp>
        <p:nvSpPr>
          <p:cNvPr name="AutoShape 4" id="4"/>
          <p:cNvSpPr/>
          <p:nvPr/>
        </p:nvSpPr>
        <p:spPr>
          <a:xfrm>
            <a:off x="11430169" y="9061267"/>
            <a:ext cx="7105264" cy="19050"/>
          </a:xfrm>
          <a:prstGeom prst="line">
            <a:avLst/>
          </a:prstGeom>
          <a:ln cap="flat" w="114300">
            <a:solidFill>
              <a:srgbClr val="727D3D"/>
            </a:solidFill>
            <a:prstDash val="solid"/>
            <a:headEnd type="none" len="sm" w="sm"/>
            <a:tailEnd type="none" len="sm" w="sm"/>
          </a:ln>
        </p:spPr>
      </p:sp>
      <p:sp>
        <p:nvSpPr>
          <p:cNvPr name="Freeform 5" id="5"/>
          <p:cNvSpPr/>
          <p:nvPr/>
        </p:nvSpPr>
        <p:spPr>
          <a:xfrm flipH="false" flipV="false" rot="0">
            <a:off x="12982861" y="5945563"/>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5859155" y="0"/>
            <a:ext cx="1562612" cy="1673225"/>
            <a:chOff x="0" y="0"/>
            <a:chExt cx="2083482" cy="2230967"/>
          </a:xfrm>
        </p:grpSpPr>
        <p:grpSp>
          <p:nvGrpSpPr>
            <p:cNvPr name="Group 7" id="7"/>
            <p:cNvGrpSpPr/>
            <p:nvPr/>
          </p:nvGrpSpPr>
          <p:grpSpPr>
            <a:xfrm rot="0">
              <a:off x="75599" y="0"/>
              <a:ext cx="1932284" cy="2230967"/>
              <a:chOff x="0" y="0"/>
              <a:chExt cx="703982" cy="812800"/>
            </a:xfrm>
          </p:grpSpPr>
          <p:sp>
            <p:nvSpPr>
              <p:cNvPr name="Freeform 8" id="8"/>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727D3D"/>
              </a:solidFill>
            </p:spPr>
          </p:sp>
          <p:sp>
            <p:nvSpPr>
              <p:cNvPr name="TextBox 9" id="9"/>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b="true">
                  <a:solidFill>
                    <a:srgbClr val="000000"/>
                  </a:solidFill>
                  <a:latin typeface="Open Sans Bold"/>
                  <a:ea typeface="Open Sans Bold"/>
                  <a:cs typeface="Open Sans Bold"/>
                  <a:sym typeface="Open Sans Bold"/>
                </a:rPr>
                <a:t>26</a:t>
              </a:r>
            </a:p>
          </p:txBody>
        </p:sp>
      </p:grpSp>
      <p:sp>
        <p:nvSpPr>
          <p:cNvPr name="TextBox 11" id="11"/>
          <p:cNvSpPr txBox="true"/>
          <p:nvPr/>
        </p:nvSpPr>
        <p:spPr>
          <a:xfrm rot="0">
            <a:off x="3679044" y="866775"/>
            <a:ext cx="10929913"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a:ea typeface="Alatsi"/>
                <a:cs typeface="Alatsi"/>
                <a:sym typeface="Alatsi"/>
              </a:rPr>
              <a:t>REFERENCES</a:t>
            </a:r>
          </a:p>
        </p:txBody>
      </p:sp>
      <p:sp>
        <p:nvSpPr>
          <p:cNvPr name="Freeform 12" id="12"/>
          <p:cNvSpPr/>
          <p:nvPr/>
        </p:nvSpPr>
        <p:spPr>
          <a:xfrm flipH="false" flipV="false" rot="0">
            <a:off x="-3009325" y="-402279"/>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1948316" y="3321231"/>
            <a:ext cx="14391368" cy="1535127"/>
          </a:xfrm>
          <a:prstGeom prst="rect">
            <a:avLst/>
          </a:prstGeom>
        </p:spPr>
        <p:txBody>
          <a:bodyPr anchor="t" rtlCol="false" tIns="0" lIns="0" bIns="0" rIns="0">
            <a:spAutoFit/>
          </a:bodyPr>
          <a:lstStyle/>
          <a:p>
            <a:pPr algn="ctr">
              <a:lnSpc>
                <a:spcPts val="6211"/>
              </a:lnSpc>
            </a:pPr>
            <a:r>
              <a:rPr lang="en-US" sz="4436">
                <a:solidFill>
                  <a:srgbClr val="000000"/>
                </a:solidFill>
                <a:latin typeface="Alatsi"/>
                <a:ea typeface="Alatsi"/>
                <a:cs typeface="Alatsi"/>
                <a:sym typeface="Alatsi"/>
              </a:rPr>
              <a:t>Dataset </a:t>
            </a:r>
            <a:r>
              <a:rPr lang="en-US" sz="4436" u="sng">
                <a:solidFill>
                  <a:srgbClr val="000000"/>
                </a:solidFill>
                <a:latin typeface="Alatsi"/>
                <a:ea typeface="Alatsi"/>
                <a:cs typeface="Alatsi"/>
                <a:sym typeface="Alatsi"/>
                <a:hlinkClick r:id="rId4" tooltip="https://ieee-dataport.org/documents/indian-facial-database-highlighting-spectacle-problems#files"/>
              </a:rPr>
              <a:t>https://ieee-dataport.org/documents/indian-facial-database-highlighting-spectacle-problems#files</a:t>
            </a:r>
          </a:p>
        </p:txBody>
      </p:sp>
      <p:sp>
        <p:nvSpPr>
          <p:cNvPr name="TextBox 14" id="14"/>
          <p:cNvSpPr txBox="true"/>
          <p:nvPr/>
        </p:nvSpPr>
        <p:spPr>
          <a:xfrm rot="0">
            <a:off x="1368359" y="6050281"/>
            <a:ext cx="15551282" cy="807085"/>
          </a:xfrm>
          <a:prstGeom prst="rect">
            <a:avLst/>
          </a:prstGeom>
        </p:spPr>
        <p:txBody>
          <a:bodyPr anchor="t" rtlCol="false" tIns="0" lIns="0" bIns="0" rIns="0">
            <a:spAutoFit/>
          </a:bodyPr>
          <a:lstStyle/>
          <a:p>
            <a:pPr algn="l">
              <a:lnSpc>
                <a:spcPts val="6439"/>
              </a:lnSpc>
            </a:pPr>
            <a:r>
              <a:rPr lang="en-US" sz="4599" b="true">
                <a:solidFill>
                  <a:srgbClr val="000000"/>
                </a:solidFill>
                <a:latin typeface="Arimo Bold"/>
                <a:ea typeface="Arimo Bold"/>
                <a:cs typeface="Arimo Bold"/>
                <a:sym typeface="Arimo Bold"/>
              </a:rPr>
              <a:t>Base Paper</a:t>
            </a:r>
            <a:r>
              <a:rPr lang="en-US" sz="4599" u="sng" b="true">
                <a:solidFill>
                  <a:srgbClr val="000000"/>
                </a:solidFill>
                <a:latin typeface="Arimo Bold"/>
                <a:ea typeface="Arimo Bold"/>
                <a:cs typeface="Arimo Bold"/>
                <a:sym typeface="Arimo Bold"/>
              </a:rPr>
              <a:t> </a:t>
            </a:r>
            <a:r>
              <a:rPr lang="en-US" b="true" sz="4599" u="sng">
                <a:solidFill>
                  <a:srgbClr val="000000"/>
                </a:solidFill>
                <a:latin typeface="Arimo Bold"/>
                <a:ea typeface="Arimo Bold"/>
                <a:cs typeface="Arimo Bold"/>
                <a:sym typeface="Arimo Bold"/>
                <a:hlinkClick r:id="rId5" tooltip="https://doi.org/10.1016/j.micpro.2022.104728"/>
              </a:rPr>
              <a:t>https://doi.org/10.1016/j.micpro.2022.104728</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4554977" y="3748035"/>
            <a:ext cx="11627497" cy="2514704"/>
          </a:xfrm>
          <a:prstGeom prst="rect">
            <a:avLst/>
          </a:prstGeom>
        </p:spPr>
        <p:txBody>
          <a:bodyPr anchor="t" rtlCol="false" tIns="0" lIns="0" bIns="0" rIns="0">
            <a:spAutoFit/>
          </a:bodyPr>
          <a:lstStyle/>
          <a:p>
            <a:pPr algn="ctr">
              <a:lnSpc>
                <a:spcPts val="20573"/>
              </a:lnSpc>
            </a:pPr>
            <a:r>
              <a:rPr lang="en-US" sz="14695">
                <a:solidFill>
                  <a:srgbClr val="000000"/>
                </a:solidFill>
                <a:latin typeface="Alatsi"/>
                <a:ea typeface="Alatsi"/>
                <a:cs typeface="Alatsi"/>
                <a:sym typeface="Alatsi"/>
              </a:rPr>
              <a:t>THANK YOU</a:t>
            </a:r>
          </a:p>
        </p:txBody>
      </p:sp>
      <p:sp>
        <p:nvSpPr>
          <p:cNvPr name="TextBox 3" id="3"/>
          <p:cNvSpPr txBox="true"/>
          <p:nvPr/>
        </p:nvSpPr>
        <p:spPr>
          <a:xfrm rot="0">
            <a:off x="5033857" y="2574491"/>
            <a:ext cx="10669737" cy="703169"/>
          </a:xfrm>
          <a:prstGeom prst="rect">
            <a:avLst/>
          </a:prstGeom>
        </p:spPr>
        <p:txBody>
          <a:bodyPr anchor="t" rtlCol="false" tIns="0" lIns="0" bIns="0" rIns="0">
            <a:spAutoFit/>
          </a:bodyPr>
          <a:lstStyle/>
          <a:p>
            <a:pPr algn="ctr">
              <a:lnSpc>
                <a:spcPts val="5763"/>
              </a:lnSpc>
            </a:pPr>
            <a:r>
              <a:rPr lang="en-US" sz="4116">
                <a:solidFill>
                  <a:srgbClr val="000000"/>
                </a:solidFill>
                <a:latin typeface="Alatsi"/>
                <a:ea typeface="Alatsi"/>
                <a:cs typeface="Alatsi"/>
                <a:sym typeface="Alatsi"/>
              </a:rPr>
              <a:t>CBIT/IT/2024-25/IT1/106</a:t>
            </a:r>
            <a:r>
              <a:rPr lang="en-US" sz="4116">
                <a:solidFill>
                  <a:srgbClr val="000000"/>
                </a:solidFill>
                <a:latin typeface="Alatsi"/>
                <a:ea typeface="Alatsi"/>
                <a:cs typeface="Alatsi"/>
                <a:sym typeface="Alatsi"/>
              </a:rPr>
              <a:t> </a:t>
            </a:r>
          </a:p>
        </p:txBody>
      </p:sp>
      <p:grpSp>
        <p:nvGrpSpPr>
          <p:cNvPr name="Group 4" id="4"/>
          <p:cNvGrpSpPr/>
          <p:nvPr/>
        </p:nvGrpSpPr>
        <p:grpSpPr>
          <a:xfrm rot="0">
            <a:off x="-31071" y="0"/>
            <a:ext cx="4239083" cy="10287000"/>
            <a:chOff x="0" y="0"/>
            <a:chExt cx="5652111" cy="13716000"/>
          </a:xfrm>
        </p:grpSpPr>
        <p:grpSp>
          <p:nvGrpSpPr>
            <p:cNvPr name="Group 5" id="5"/>
            <p:cNvGrpSpPr/>
            <p:nvPr/>
          </p:nvGrpSpPr>
          <p:grpSpPr>
            <a:xfrm rot="0">
              <a:off x="2826056" y="0"/>
              <a:ext cx="2826056" cy="13716000"/>
              <a:chOff x="0" y="0"/>
              <a:chExt cx="558233" cy="2709333"/>
            </a:xfrm>
          </p:grpSpPr>
          <p:sp>
            <p:nvSpPr>
              <p:cNvPr name="Freeform 6" id="6"/>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727D3D"/>
              </a:solidFill>
            </p:spPr>
          </p:sp>
          <p:sp>
            <p:nvSpPr>
              <p:cNvPr name="TextBox 7" id="7"/>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413028" y="0"/>
              <a:ext cx="2826056" cy="13716000"/>
              <a:chOff x="0" y="0"/>
              <a:chExt cx="558233" cy="2709333"/>
            </a:xfrm>
          </p:grpSpPr>
          <p:sp>
            <p:nvSpPr>
              <p:cNvPr name="Freeform 9" id="9"/>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A06A14"/>
              </a:solidFill>
            </p:spPr>
          </p:sp>
          <p:sp>
            <p:nvSpPr>
              <p:cNvPr name="TextBox 10" id="10"/>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0" y="0"/>
              <a:ext cx="2826056" cy="13716000"/>
              <a:chOff x="0" y="0"/>
              <a:chExt cx="558233" cy="2709333"/>
            </a:xfrm>
          </p:grpSpPr>
          <p:sp>
            <p:nvSpPr>
              <p:cNvPr name="Freeform 12" id="12"/>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972121"/>
              </a:solidFill>
            </p:spPr>
          </p:sp>
          <p:sp>
            <p:nvSpPr>
              <p:cNvPr name="TextBox 13" id="13"/>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grpSp>
      <p:sp>
        <p:nvSpPr>
          <p:cNvPr name="Freeform 14" id="14"/>
          <p:cNvSpPr/>
          <p:nvPr/>
        </p:nvSpPr>
        <p:spPr>
          <a:xfrm flipH="false" flipV="false" rot="0">
            <a:off x="12412831" y="8026211"/>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1413653" y="-573693"/>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DAGO8ep-r1w</dc:identifier>
  <dcterms:modified xsi:type="dcterms:W3CDTF">2011-08-01T06:04:30Z</dcterms:modified>
  <cp:revision>1</cp:revision>
  <dc:title>Major Project PPT</dc:title>
</cp:coreProperties>
</file>